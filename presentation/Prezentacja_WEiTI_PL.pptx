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charts/chart1.xml" ContentType="application/vnd.openxmlformats-officedocument.drawingml.chart+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4"/>
  </p:sldMasterIdLst>
  <p:sldIdLst>
    <p:sldId id="256" r:id="rId5"/>
    <p:sldId id="257" r:id="rId7"/>
    <p:sldId id="262" r:id="rId17"/>
    <p:sldId id="278" r:id="rId33"/>
    <p:sldId id="263" r:id="rId18"/>
    <p:sldId id="264" r:id="rId19"/>
    <p:sldId id="265" r:id="rId20"/>
    <p:sldId id="266" r:id="rId21"/>
    <p:sldId id="267" r:id="rId22"/>
    <p:sldId id="268" r:id="rId23"/>
    <p:sldId id="279" r:id="rId34"/>
    <p:sldId id="269" r:id="rId24"/>
    <p:sldId id="260" r:id="rId9"/>
    <p:sldId id="280" r:id="rId35"/>
    <p:sldId id="270" r:id="rId25"/>
    <p:sldId id="271" r:id="rId26"/>
    <p:sldId id="272" r:id="rId27"/>
    <p:sldId id="273" r:id="rId28"/>
    <p:sldId id="281" r:id="rId36"/>
    <p:sldId id="277" r:id="rId32"/>
    <p:sldId id="274" r:id="rId29"/>
    <p:sldId id="275" r:id="rId30"/>
    <p:sldId id="276" r:id="rId31"/>
    <p:sldId id="258" r:id="rId10"/>
  </p:sldIdLst>
  <p:sldSz cx="12192000" cy="6858000"/>
  <p:notesSz cx="6858000" cy="9144000"/>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C9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2862A10-F97E-46A9-9955-6805C92F8B9A}" v="5" dt="2023-06-19T10:43:33.3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04" autoAdjust="0"/>
    <p:restoredTop sz="94660"/>
  </p:normalViewPr>
  <p:slideViewPr>
    <p:cSldViewPr snapToGrid="0">
      <p:cViewPr varScale="1">
        <p:scale>
          <a:sx n="102" d="100"/>
          <a:sy n="102" d="100"/>
        </p:scale>
        <p:origin x="464" y="80"/>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notesMaster" Target="notesMasters/notesMaster1.xml"/><Relationship Id="rId9" Type="http://schemas.openxmlformats.org/officeDocument/2006/relationships/slide" Target="slides/slide13.xml"/><Relationship Id="rId10" Type="http://schemas.openxmlformats.org/officeDocument/2006/relationships/slide" Target="slides/slide24.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microsoft.com/office/2016/11/relationships/changesInfo" Target="changesInfos/changesInfo1.xml"/><Relationship Id="rId16" Type="http://schemas.microsoft.com/office/2015/10/relationships/revisionInfo" Target="revisionInfo.xml"/><Relationship Id="rId17" Type="http://schemas.openxmlformats.org/officeDocument/2006/relationships/slide" Target="slides/slide3.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2.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0.xml"/><Relationship Id="rId33" Type="http://schemas.openxmlformats.org/officeDocument/2006/relationships/slide" Target="slides/slide4.xml"/><Relationship Id="rId34" Type="http://schemas.openxmlformats.org/officeDocument/2006/relationships/slide" Target="slides/slide11.xml"/><Relationship Id="rId35" Type="http://schemas.openxmlformats.org/officeDocument/2006/relationships/slide" Target="slides/slide14.xml"/><Relationship Id="rId36" Type="http://schemas.openxmlformats.org/officeDocument/2006/relationships/slide" Target="slides/slide1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jchrzyk Monika" userId="34c61646-1a34-48dc-80f8-3fc883bb28f7" providerId="ADAL" clId="{6214C52D-669D-48CD-950F-4C8697FB9E1B}"/>
    <pc:docChg chg="modSld">
      <pc:chgData name="Majchrzyk Monika" userId="34c61646-1a34-48dc-80f8-3fc883bb28f7" providerId="ADAL" clId="{6214C52D-669D-48CD-950F-4C8697FB9E1B}" dt="2023-03-28T10:06:23.614" v="2" actId="1035"/>
      <pc:docMkLst>
        <pc:docMk/>
      </pc:docMkLst>
      <pc:sldChg chg="modSp mod">
        <pc:chgData name="Majchrzyk Monika" userId="34c61646-1a34-48dc-80f8-3fc883bb28f7" providerId="ADAL" clId="{6214C52D-669D-48CD-950F-4C8697FB9E1B}" dt="2023-03-28T10:06:23.614" v="2" actId="1035"/>
        <pc:sldMkLst>
          <pc:docMk/>
          <pc:sldMk cId="2978564845" sldId="257"/>
        </pc:sldMkLst>
        <pc:picChg chg="mod">
          <ac:chgData name="Majchrzyk Monika" userId="34c61646-1a34-48dc-80f8-3fc883bb28f7" providerId="ADAL" clId="{6214C52D-669D-48CD-950F-4C8697FB9E1B}" dt="2023-03-28T10:06:23.614" v="2" actId="1035"/>
          <ac:picMkLst>
            <pc:docMk/>
            <pc:sldMk cId="2978564845" sldId="257"/>
            <ac:picMk id="19" creationId="{8C3CFF1F-52DC-3490-D293-D228F8DF6A01}"/>
          </ac:picMkLst>
        </pc:picChg>
      </pc:sldChg>
    </pc:docChg>
  </pc:docChgLst>
  <pc:docChgLst>
    <pc:chgData name="Majchrzyk Monika" userId="34c61646-1a34-48dc-80f8-3fc883bb28f7" providerId="ADAL" clId="{E312D953-5149-4F01-8C48-37C5686AC97F}"/>
    <pc:docChg chg="undo custSel addSld delSld modSld sldOrd">
      <pc:chgData name="Majchrzyk Monika" userId="34c61646-1a34-48dc-80f8-3fc883bb28f7" providerId="ADAL" clId="{E312D953-5149-4F01-8C48-37C5686AC97F}" dt="2023-06-15T07:32:59.205" v="1324" actId="47"/>
      <pc:docMkLst>
        <pc:docMk/>
      </pc:docMkLst>
      <pc:sldChg chg="addSp delSp modSp mod setBg">
        <pc:chgData name="Majchrzyk Monika" userId="34c61646-1a34-48dc-80f8-3fc883bb28f7" providerId="ADAL" clId="{E312D953-5149-4F01-8C48-37C5686AC97F}" dt="2023-06-06T07:35:06.489" v="37" actId="1076"/>
        <pc:sldMkLst>
          <pc:docMk/>
          <pc:sldMk cId="1396976786" sldId="256"/>
        </pc:sldMkLst>
        <pc:spChg chg="mod">
          <ac:chgData name="Majchrzyk Monika" userId="34c61646-1a34-48dc-80f8-3fc883bb28f7" providerId="ADAL" clId="{E312D953-5149-4F01-8C48-37C5686AC97F}" dt="2023-06-06T07:32:35.185" v="25" actId="2711"/>
          <ac:spMkLst>
            <pc:docMk/>
            <pc:sldMk cId="1396976786" sldId="256"/>
            <ac:spMk id="6" creationId="{3CF06F40-6CDD-1882-5D7C-5B212074BC64}"/>
          </ac:spMkLst>
        </pc:spChg>
        <pc:graphicFrameChg chg="add del">
          <ac:chgData name="Majchrzyk Monika" userId="34c61646-1a34-48dc-80f8-3fc883bb28f7" providerId="ADAL" clId="{E312D953-5149-4F01-8C48-37C5686AC97F}" dt="2023-06-06T07:30:43.199" v="1" actId="478"/>
          <ac:graphicFrameMkLst>
            <pc:docMk/>
            <pc:sldMk cId="1396976786" sldId="256"/>
            <ac:graphicFrameMk id="2" creationId="{F6281248-0CD9-A2A0-7B61-6A5A849168EC}"/>
          </ac:graphicFrameMkLst>
        </pc:graphicFrameChg>
        <pc:picChg chg="add mod">
          <ac:chgData name="Majchrzyk Monika" userId="34c61646-1a34-48dc-80f8-3fc883bb28f7" providerId="ADAL" clId="{E312D953-5149-4F01-8C48-37C5686AC97F}" dt="2023-06-06T07:35:06.489" v="37" actId="1076"/>
          <ac:picMkLst>
            <pc:docMk/>
            <pc:sldMk cId="1396976786" sldId="256"/>
            <ac:picMk id="4" creationId="{F136669B-BC9B-F1E9-4B47-B61F9D11A8D2}"/>
          </ac:picMkLst>
        </pc:picChg>
        <pc:picChg chg="del">
          <ac:chgData name="Majchrzyk Monika" userId="34c61646-1a34-48dc-80f8-3fc883bb28f7" providerId="ADAL" clId="{E312D953-5149-4F01-8C48-37C5686AC97F}" dt="2023-06-06T07:32:44.873" v="26" actId="478"/>
          <ac:picMkLst>
            <pc:docMk/>
            <pc:sldMk cId="1396976786" sldId="256"/>
            <ac:picMk id="5" creationId="{7F664471-D8BA-0250-F7B9-558FAAEDDF8A}"/>
          </ac:picMkLst>
        </pc:picChg>
      </pc:sldChg>
      <pc:sldChg chg="addSp delSp modSp mod">
        <pc:chgData name="Majchrzyk Monika" userId="34c61646-1a34-48dc-80f8-3fc883bb28f7" providerId="ADAL" clId="{E312D953-5149-4F01-8C48-37C5686AC97F}" dt="2023-06-06T11:00:50.537" v="53" actId="207"/>
        <pc:sldMkLst>
          <pc:docMk/>
          <pc:sldMk cId="2978564845" sldId="257"/>
        </pc:sldMkLst>
        <pc:spChg chg="mod">
          <ac:chgData name="Majchrzyk Monika" userId="34c61646-1a34-48dc-80f8-3fc883bb28f7" providerId="ADAL" clId="{E312D953-5149-4F01-8C48-37C5686AC97F}" dt="2023-06-06T07:35:16.821" v="38" actId="207"/>
          <ac:spMkLst>
            <pc:docMk/>
            <pc:sldMk cId="2978564845" sldId="257"/>
            <ac:spMk id="5" creationId="{7CA99EC4-3C2E-53F3-55A5-01E21A2FCB45}"/>
          </ac:spMkLst>
        </pc:spChg>
        <pc:spChg chg="mod">
          <ac:chgData name="Majchrzyk Monika" userId="34c61646-1a34-48dc-80f8-3fc883bb28f7" providerId="ADAL" clId="{E312D953-5149-4F01-8C48-37C5686AC97F}" dt="2023-06-06T10:59:59.475" v="51" actId="207"/>
          <ac:spMkLst>
            <pc:docMk/>
            <pc:sldMk cId="2978564845" sldId="257"/>
            <ac:spMk id="9" creationId="{F147D9BB-07E8-74D9-EC4B-101464242B3B}"/>
          </ac:spMkLst>
        </pc:spChg>
        <pc:spChg chg="mod">
          <ac:chgData name="Majchrzyk Monika" userId="34c61646-1a34-48dc-80f8-3fc883bb28f7" providerId="ADAL" clId="{E312D953-5149-4F01-8C48-37C5686AC97F}" dt="2023-06-06T11:00:09.137" v="52" actId="207"/>
          <ac:spMkLst>
            <pc:docMk/>
            <pc:sldMk cId="2978564845" sldId="257"/>
            <ac:spMk id="13" creationId="{4B1B00DF-B90C-428F-38A4-14C558B0A671}"/>
          </ac:spMkLst>
        </pc:spChg>
        <pc:spChg chg="mod">
          <ac:chgData name="Majchrzyk Monika" userId="34c61646-1a34-48dc-80f8-3fc883bb28f7" providerId="ADAL" clId="{E312D953-5149-4F01-8C48-37C5686AC97F}" dt="2023-06-06T11:00:50.537" v="53" actId="207"/>
          <ac:spMkLst>
            <pc:docMk/>
            <pc:sldMk cId="2978564845" sldId="257"/>
            <ac:spMk id="15" creationId="{83120A0D-6928-2454-2456-C13C065546E7}"/>
          </ac:spMkLst>
        </pc:spChg>
        <pc:picChg chg="add mod">
          <ac:chgData name="Majchrzyk Monika" userId="34c61646-1a34-48dc-80f8-3fc883bb28f7" providerId="ADAL" clId="{E312D953-5149-4F01-8C48-37C5686AC97F}" dt="2023-06-06T07:35:55.638" v="47" actId="1076"/>
          <ac:picMkLst>
            <pc:docMk/>
            <pc:sldMk cId="2978564845" sldId="257"/>
            <ac:picMk id="3" creationId="{0C973858-235B-FD41-B6C5-9B7074919232}"/>
          </ac:picMkLst>
        </pc:picChg>
        <pc:picChg chg="del">
          <ac:chgData name="Majchrzyk Monika" userId="34c61646-1a34-48dc-80f8-3fc883bb28f7" providerId="ADAL" clId="{E312D953-5149-4F01-8C48-37C5686AC97F}" dt="2023-06-06T07:35:19.080" v="39" actId="478"/>
          <ac:picMkLst>
            <pc:docMk/>
            <pc:sldMk cId="2978564845" sldId="257"/>
            <ac:picMk id="19" creationId="{8C3CFF1F-52DC-3490-D293-D228F8DF6A01}"/>
          </ac:picMkLst>
        </pc:picChg>
      </pc:sldChg>
      <pc:sldChg chg="addSp delSp modSp mod setBg">
        <pc:chgData name="Majchrzyk Monika" userId="34c61646-1a34-48dc-80f8-3fc883bb28f7" providerId="ADAL" clId="{E312D953-5149-4F01-8C48-37C5686AC97F}" dt="2023-06-06T11:06:29.377" v="61" actId="1076"/>
        <pc:sldMkLst>
          <pc:docMk/>
          <pc:sldMk cId="646872128" sldId="258"/>
        </pc:sldMkLst>
        <pc:spChg chg="mod">
          <ac:chgData name="Majchrzyk Monika" userId="34c61646-1a34-48dc-80f8-3fc883bb28f7" providerId="ADAL" clId="{E312D953-5149-4F01-8C48-37C5686AC97F}" dt="2023-06-06T11:06:29.377" v="61" actId="1076"/>
          <ac:spMkLst>
            <pc:docMk/>
            <pc:sldMk cId="646872128" sldId="258"/>
            <ac:spMk id="7" creationId="{0CBC331D-8069-B1C8-0B2C-BC64036C1009}"/>
          </ac:spMkLst>
        </pc:spChg>
        <pc:spChg chg="mod">
          <ac:chgData name="Majchrzyk Monika" userId="34c61646-1a34-48dc-80f8-3fc883bb28f7" providerId="ADAL" clId="{E312D953-5149-4F01-8C48-37C5686AC97F}" dt="2023-06-06T11:06:29.377" v="61" actId="1076"/>
          <ac:spMkLst>
            <pc:docMk/>
            <pc:sldMk cId="646872128" sldId="258"/>
            <ac:spMk id="8" creationId="{B6F5D76B-1818-C235-38F9-3C9C21303C79}"/>
          </ac:spMkLst>
        </pc:spChg>
        <pc:picChg chg="add mod">
          <ac:chgData name="Majchrzyk Monika" userId="34c61646-1a34-48dc-80f8-3fc883bb28f7" providerId="ADAL" clId="{E312D953-5149-4F01-8C48-37C5686AC97F}" dt="2023-06-06T11:04:54.756" v="59" actId="29295"/>
          <ac:picMkLst>
            <pc:docMk/>
            <pc:sldMk cId="646872128" sldId="258"/>
            <ac:picMk id="2" creationId="{09329A86-0A8A-B356-3B48-883ADD75A011}"/>
          </ac:picMkLst>
        </pc:picChg>
        <pc:picChg chg="del">
          <ac:chgData name="Majchrzyk Monika" userId="34c61646-1a34-48dc-80f8-3fc883bb28f7" providerId="ADAL" clId="{E312D953-5149-4F01-8C48-37C5686AC97F}" dt="2023-06-06T10:59:38.279" v="49" actId="478"/>
          <ac:picMkLst>
            <pc:docMk/>
            <pc:sldMk cId="646872128" sldId="258"/>
            <ac:picMk id="5" creationId="{7F664471-D8BA-0250-F7B9-558FAAEDDF8A}"/>
          </ac:picMkLst>
        </pc:picChg>
      </pc:sldChg>
      <pc:sldChg chg="addSp delSp modSp mod">
        <pc:chgData name="Majchrzyk Monika" userId="34c61646-1a34-48dc-80f8-3fc883bb28f7" providerId="ADAL" clId="{E312D953-5149-4F01-8C48-37C5686AC97F}" dt="2023-06-06T11:04:17.339" v="55"/>
        <pc:sldMkLst>
          <pc:docMk/>
          <pc:sldMk cId="1672126401" sldId="260"/>
        </pc:sldMkLst>
        <pc:spChg chg="mod">
          <ac:chgData name="Majchrzyk Monika" userId="34c61646-1a34-48dc-80f8-3fc883bb28f7" providerId="ADAL" clId="{E312D953-5149-4F01-8C48-37C5686AC97F}" dt="2023-06-06T10:59:43.313" v="50" actId="207"/>
          <ac:spMkLst>
            <pc:docMk/>
            <pc:sldMk cId="1672126401" sldId="260"/>
            <ac:spMk id="26" creationId="{CB3D808F-1EA9-CE12-04B3-7BDCCF8F3331}"/>
          </ac:spMkLst>
        </pc:spChg>
        <pc:picChg chg="add mod">
          <ac:chgData name="Majchrzyk Monika" userId="34c61646-1a34-48dc-80f8-3fc883bb28f7" providerId="ADAL" clId="{E312D953-5149-4F01-8C48-37C5686AC97F}" dt="2023-06-06T11:04:17.339" v="55"/>
          <ac:picMkLst>
            <pc:docMk/>
            <pc:sldMk cId="1672126401" sldId="260"/>
            <ac:picMk id="5" creationId="{F8BB83B6-B260-1023-C0E7-F1E517E3827C}"/>
          </ac:picMkLst>
        </pc:picChg>
        <pc:picChg chg="del">
          <ac:chgData name="Majchrzyk Monika" userId="34c61646-1a34-48dc-80f8-3fc883bb28f7" providerId="ADAL" clId="{E312D953-5149-4F01-8C48-37C5686AC97F}" dt="2023-06-06T11:04:09.357" v="54" actId="478"/>
          <ac:picMkLst>
            <pc:docMk/>
            <pc:sldMk cId="1672126401" sldId="260"/>
            <ac:picMk id="27" creationId="{3B24B87E-DC5F-43C8-407C-8838BFEF37A4}"/>
          </ac:picMkLst>
        </pc:picChg>
      </pc:sldChg>
      <pc:sldChg chg="addSp delSp modSp mod">
        <pc:chgData name="Majchrzyk Monika" userId="34c61646-1a34-48dc-80f8-3fc883bb28f7" providerId="ADAL" clId="{E312D953-5149-4F01-8C48-37C5686AC97F}" dt="2023-06-13T07:37:43.566" v="1016" actId="478"/>
        <pc:sldMkLst>
          <pc:docMk/>
          <pc:sldMk cId="2597448124" sldId="261"/>
        </pc:sldMkLst>
        <pc:spChg chg="add del mod">
          <ac:chgData name="Majchrzyk Monika" userId="34c61646-1a34-48dc-80f8-3fc883bb28f7" providerId="ADAL" clId="{E312D953-5149-4F01-8C48-37C5686AC97F}" dt="2023-06-13T07:37:43.566" v="1016" actId="478"/>
          <ac:spMkLst>
            <pc:docMk/>
            <pc:sldMk cId="2597448124" sldId="261"/>
            <ac:spMk id="2" creationId="{39D89BFD-AD3B-F2F7-A76F-B5F9A46CB572}"/>
          </ac:spMkLst>
        </pc:spChg>
      </pc:sldChg>
      <pc:sldChg chg="addSp delSp modSp new del mod ord setBg">
        <pc:chgData name="Majchrzyk Monika" userId="34c61646-1a34-48dc-80f8-3fc883bb28f7" providerId="ADAL" clId="{E312D953-5149-4F01-8C48-37C5686AC97F}" dt="2023-06-15T07:32:59.205" v="1324" actId="47"/>
        <pc:sldMkLst>
          <pc:docMk/>
          <pc:sldMk cId="2746735189" sldId="262"/>
        </pc:sldMkLst>
        <pc:spChg chg="mod">
          <ac:chgData name="Majchrzyk Monika" userId="34c61646-1a34-48dc-80f8-3fc883bb28f7" providerId="ADAL" clId="{E312D953-5149-4F01-8C48-37C5686AC97F}" dt="2023-06-13T07:47:22.453" v="1322" actId="1076"/>
          <ac:spMkLst>
            <pc:docMk/>
            <pc:sldMk cId="2746735189" sldId="262"/>
            <ac:spMk id="2" creationId="{626A54DF-D5C2-C2D1-FC82-228D676A32DD}"/>
          </ac:spMkLst>
        </pc:spChg>
        <pc:spChg chg="mod">
          <ac:chgData name="Majchrzyk Monika" userId="34c61646-1a34-48dc-80f8-3fc883bb28f7" providerId="ADAL" clId="{E312D953-5149-4F01-8C48-37C5686AC97F}" dt="2023-06-13T07:49:38.957" v="1323" actId="207"/>
          <ac:spMkLst>
            <pc:docMk/>
            <pc:sldMk cId="2746735189" sldId="262"/>
            <ac:spMk id="3" creationId="{9AFA93EC-18BB-1A7F-6110-964C772C8583}"/>
          </ac:spMkLst>
        </pc:spChg>
        <pc:spChg chg="add mod">
          <ac:chgData name="Majchrzyk Monika" userId="34c61646-1a34-48dc-80f8-3fc883bb28f7" providerId="ADAL" clId="{E312D953-5149-4F01-8C48-37C5686AC97F}" dt="2023-06-13T07:43:54.992" v="1284" actId="2085"/>
          <ac:spMkLst>
            <pc:docMk/>
            <pc:sldMk cId="2746735189" sldId="262"/>
            <ac:spMk id="6" creationId="{943758EE-E9BD-5A18-F758-C57902173731}"/>
          </ac:spMkLst>
        </pc:spChg>
        <pc:spChg chg="add mod">
          <ac:chgData name="Majchrzyk Monika" userId="34c61646-1a34-48dc-80f8-3fc883bb28f7" providerId="ADAL" clId="{E312D953-5149-4F01-8C48-37C5686AC97F}" dt="2023-06-13T07:46:09.541" v="1308" actId="207"/>
          <ac:spMkLst>
            <pc:docMk/>
            <pc:sldMk cId="2746735189" sldId="262"/>
            <ac:spMk id="7" creationId="{2DA039B5-47E0-FEC1-8BE8-A1F191725CF3}"/>
          </ac:spMkLst>
        </pc:spChg>
        <pc:spChg chg="add del">
          <ac:chgData name="Majchrzyk Monika" userId="34c61646-1a34-48dc-80f8-3fc883bb28f7" providerId="ADAL" clId="{E312D953-5149-4F01-8C48-37C5686AC97F}" dt="2023-06-13T07:39:36.962" v="1244" actId="26606"/>
          <ac:spMkLst>
            <pc:docMk/>
            <pc:sldMk cId="2746735189" sldId="262"/>
            <ac:spMk id="10" creationId="{743AA782-23D1-4521-8CAD-47662984AA08}"/>
          </ac:spMkLst>
        </pc:spChg>
        <pc:spChg chg="add del">
          <ac:chgData name="Majchrzyk Monika" userId="34c61646-1a34-48dc-80f8-3fc883bb28f7" providerId="ADAL" clId="{E312D953-5149-4F01-8C48-37C5686AC97F}" dt="2023-06-13T07:39:36.962" v="1244" actId="26606"/>
          <ac:spMkLst>
            <pc:docMk/>
            <pc:sldMk cId="2746735189" sldId="262"/>
            <ac:spMk id="12" creationId="{71877DBC-BB60-40F0-AC93-2ACDBAAE60CE}"/>
          </ac:spMkLst>
        </pc:spChg>
        <pc:picChg chg="add del mod ord modCrop">
          <ac:chgData name="Majchrzyk Monika" userId="34c61646-1a34-48dc-80f8-3fc883bb28f7" providerId="ADAL" clId="{E312D953-5149-4F01-8C48-37C5686AC97F}" dt="2023-06-13T07:43:15.134" v="1275" actId="478"/>
          <ac:picMkLst>
            <pc:docMk/>
            <pc:sldMk cId="2746735189" sldId="262"/>
            <ac:picMk id="5" creationId="{D842F98A-95E6-CE3B-DA66-503F57748F70}"/>
          </ac:picMkLst>
        </pc:picChg>
      </pc:sldChg>
    </pc:docChg>
  </pc:docChgLst>
  <pc:docChgLst>
    <pc:chgData name="Majchrzyk Monika" userId="34c61646-1a34-48dc-80f8-3fc883bb28f7" providerId="ADAL" clId="{504CEE9F-A063-4667-A955-4C26DE6D5F39}"/>
    <pc:docChg chg="undo custSel addSld modSld sldOrd addMainMaster delMainMaster modMainMaster">
      <pc:chgData name="Majchrzyk Monika" userId="34c61646-1a34-48dc-80f8-3fc883bb28f7" providerId="ADAL" clId="{504CEE9F-A063-4667-A955-4C26DE6D5F39}" dt="2023-03-20T11:34:14.655" v="494" actId="1076"/>
      <pc:docMkLst>
        <pc:docMk/>
      </pc:docMkLst>
      <pc:sldChg chg="addSp delSp modSp mod chgLayout">
        <pc:chgData name="Majchrzyk Monika" userId="34c61646-1a34-48dc-80f8-3fc883bb28f7" providerId="ADAL" clId="{504CEE9F-A063-4667-A955-4C26DE6D5F39}" dt="2023-03-20T08:37:29.022" v="449" actId="700"/>
        <pc:sldMkLst>
          <pc:docMk/>
          <pc:sldMk cId="1396976786" sldId="256"/>
        </pc:sldMkLst>
        <pc:spChg chg="add del mod ord">
          <ac:chgData name="Majchrzyk Monika" userId="34c61646-1a34-48dc-80f8-3fc883bb28f7" providerId="ADAL" clId="{504CEE9F-A063-4667-A955-4C26DE6D5F39}" dt="2023-03-20T08:37:29.022" v="449" actId="700"/>
          <ac:spMkLst>
            <pc:docMk/>
            <pc:sldMk cId="1396976786" sldId="256"/>
            <ac:spMk id="2" creationId="{0D586A40-C000-BF9A-B21B-DD7823F6B039}"/>
          </ac:spMkLst>
        </pc:spChg>
        <pc:spChg chg="add del mod ord">
          <ac:chgData name="Majchrzyk Monika" userId="34c61646-1a34-48dc-80f8-3fc883bb28f7" providerId="ADAL" clId="{504CEE9F-A063-4667-A955-4C26DE6D5F39}" dt="2023-03-20T08:37:29.022" v="449" actId="700"/>
          <ac:spMkLst>
            <pc:docMk/>
            <pc:sldMk cId="1396976786" sldId="256"/>
            <ac:spMk id="3" creationId="{875082C9-8BF4-8A5D-FA1A-40EE82006603}"/>
          </ac:spMkLst>
        </pc:spChg>
        <pc:spChg chg="mod">
          <ac:chgData name="Majchrzyk Monika" userId="34c61646-1a34-48dc-80f8-3fc883bb28f7" providerId="ADAL" clId="{504CEE9F-A063-4667-A955-4C26DE6D5F39}" dt="2023-03-17T13:38:59.665" v="118" actId="2711"/>
          <ac:spMkLst>
            <pc:docMk/>
            <pc:sldMk cId="1396976786" sldId="256"/>
            <ac:spMk id="6" creationId="{3CF06F40-6CDD-1882-5D7C-5B212074BC64}"/>
          </ac:spMkLst>
        </pc:spChg>
        <pc:spChg chg="mod">
          <ac:chgData name="Majchrzyk Monika" userId="34c61646-1a34-48dc-80f8-3fc883bb28f7" providerId="ADAL" clId="{504CEE9F-A063-4667-A955-4C26DE6D5F39}" dt="2023-03-17T13:39:47.461" v="119" actId="1076"/>
          <ac:spMkLst>
            <pc:docMk/>
            <pc:sldMk cId="1396976786" sldId="256"/>
            <ac:spMk id="7" creationId="{0CBC331D-8069-B1C8-0B2C-BC64036C1009}"/>
          </ac:spMkLst>
        </pc:spChg>
        <pc:spChg chg="mod">
          <ac:chgData name="Majchrzyk Monika" userId="34c61646-1a34-48dc-80f8-3fc883bb28f7" providerId="ADAL" clId="{504CEE9F-A063-4667-A955-4C26DE6D5F39}" dt="2023-03-17T13:39:56.206" v="120" actId="1076"/>
          <ac:spMkLst>
            <pc:docMk/>
            <pc:sldMk cId="1396976786" sldId="256"/>
            <ac:spMk id="8" creationId="{B6F5D76B-1818-C235-38F9-3C9C21303C79}"/>
          </ac:spMkLst>
        </pc:spChg>
        <pc:picChg chg="mod">
          <ac:chgData name="Majchrzyk Monika" userId="34c61646-1a34-48dc-80f8-3fc883bb28f7" providerId="ADAL" clId="{504CEE9F-A063-4667-A955-4C26DE6D5F39}" dt="2023-03-17T13:38:44.916" v="116" actId="34135"/>
          <ac:picMkLst>
            <pc:docMk/>
            <pc:sldMk cId="1396976786" sldId="256"/>
            <ac:picMk id="5" creationId="{7F664471-D8BA-0250-F7B9-558FAAEDDF8A}"/>
          </ac:picMkLst>
        </pc:picChg>
      </pc:sldChg>
      <pc:sldChg chg="addSp modSp mod ord">
        <pc:chgData name="Majchrzyk Monika" userId="34c61646-1a34-48dc-80f8-3fc883bb28f7" providerId="ADAL" clId="{504CEE9F-A063-4667-A955-4C26DE6D5F39}" dt="2023-03-20T11:34:14.655" v="494" actId="1076"/>
        <pc:sldMkLst>
          <pc:docMk/>
          <pc:sldMk cId="2978564845" sldId="257"/>
        </pc:sldMkLst>
        <pc:spChg chg="mod ord">
          <ac:chgData name="Majchrzyk Monika" userId="34c61646-1a34-48dc-80f8-3fc883bb28f7" providerId="ADAL" clId="{504CEE9F-A063-4667-A955-4C26DE6D5F39}" dt="2023-03-17T13:58:59.828" v="354" actId="34135"/>
          <ac:spMkLst>
            <pc:docMk/>
            <pc:sldMk cId="2978564845" sldId="257"/>
            <ac:spMk id="5" creationId="{7CA99EC4-3C2E-53F3-55A5-01E21A2FCB45}"/>
          </ac:spMkLst>
        </pc:spChg>
        <pc:spChg chg="mod">
          <ac:chgData name="Majchrzyk Monika" userId="34c61646-1a34-48dc-80f8-3fc883bb28f7" providerId="ADAL" clId="{504CEE9F-A063-4667-A955-4C26DE6D5F39}" dt="2023-03-17T13:47:00.438" v="171" actId="207"/>
          <ac:spMkLst>
            <pc:docMk/>
            <pc:sldMk cId="2978564845" sldId="257"/>
            <ac:spMk id="7" creationId="{E29AE5D5-216A-8F8A-666A-883663F0294A}"/>
          </ac:spMkLst>
        </pc:spChg>
        <pc:spChg chg="mod">
          <ac:chgData name="Majchrzyk Monika" userId="34c61646-1a34-48dc-80f8-3fc883bb28f7" providerId="ADAL" clId="{504CEE9F-A063-4667-A955-4C26DE6D5F39}" dt="2023-03-17T13:47:02.560" v="172" actId="207"/>
          <ac:spMkLst>
            <pc:docMk/>
            <pc:sldMk cId="2978564845" sldId="257"/>
            <ac:spMk id="8" creationId="{29BDEFAC-B3D4-E189-6FDB-0B49145F3576}"/>
          </ac:spMkLst>
        </pc:spChg>
        <pc:spChg chg="mod">
          <ac:chgData name="Majchrzyk Monika" userId="34c61646-1a34-48dc-80f8-3fc883bb28f7" providerId="ADAL" clId="{504CEE9F-A063-4667-A955-4C26DE6D5F39}" dt="2023-03-20T11:33:20.282" v="489" actId="1076"/>
          <ac:spMkLst>
            <pc:docMk/>
            <pc:sldMk cId="2978564845" sldId="257"/>
            <ac:spMk id="9" creationId="{F147D9BB-07E8-74D9-EC4B-101464242B3B}"/>
          </ac:spMkLst>
        </pc:spChg>
        <pc:spChg chg="mod">
          <ac:chgData name="Majchrzyk Monika" userId="34c61646-1a34-48dc-80f8-3fc883bb28f7" providerId="ADAL" clId="{504CEE9F-A063-4667-A955-4C26DE6D5F39}" dt="2023-03-20T11:33:22.056" v="490" actId="1076"/>
          <ac:spMkLst>
            <pc:docMk/>
            <pc:sldMk cId="2978564845" sldId="257"/>
            <ac:spMk id="10" creationId="{8CABF2BB-8111-56B2-9E63-3ADB3FC588CB}"/>
          </ac:spMkLst>
        </pc:spChg>
        <pc:spChg chg="mod">
          <ac:chgData name="Majchrzyk Monika" userId="34c61646-1a34-48dc-80f8-3fc883bb28f7" providerId="ADAL" clId="{504CEE9F-A063-4667-A955-4C26DE6D5F39}" dt="2023-03-20T11:33:26.893" v="491" actId="1076"/>
          <ac:spMkLst>
            <pc:docMk/>
            <pc:sldMk cId="2978564845" sldId="257"/>
            <ac:spMk id="11" creationId="{BA763974-B97F-341F-5297-F3EDB09C02AA}"/>
          </ac:spMkLst>
        </pc:spChg>
        <pc:spChg chg="mod">
          <ac:chgData name="Majchrzyk Monika" userId="34c61646-1a34-48dc-80f8-3fc883bb28f7" providerId="ADAL" clId="{504CEE9F-A063-4667-A955-4C26DE6D5F39}" dt="2023-03-20T11:33:05.957" v="486" actId="1076"/>
          <ac:spMkLst>
            <pc:docMk/>
            <pc:sldMk cId="2978564845" sldId="257"/>
            <ac:spMk id="12" creationId="{54016C77-B1ED-7268-246F-A91BEB8008C9}"/>
          </ac:spMkLst>
        </pc:spChg>
        <pc:spChg chg="mod">
          <ac:chgData name="Majchrzyk Monika" userId="34c61646-1a34-48dc-80f8-3fc883bb28f7" providerId="ADAL" clId="{504CEE9F-A063-4667-A955-4C26DE6D5F39}" dt="2023-03-20T11:33:12.129" v="487" actId="1076"/>
          <ac:spMkLst>
            <pc:docMk/>
            <pc:sldMk cId="2978564845" sldId="257"/>
            <ac:spMk id="13" creationId="{4B1B00DF-B90C-428F-38A4-14C558B0A671}"/>
          </ac:spMkLst>
        </pc:spChg>
        <pc:spChg chg="mod">
          <ac:chgData name="Majchrzyk Monika" userId="34c61646-1a34-48dc-80f8-3fc883bb28f7" providerId="ADAL" clId="{504CEE9F-A063-4667-A955-4C26DE6D5F39}" dt="2023-03-20T11:33:14.877" v="488" actId="1076"/>
          <ac:spMkLst>
            <pc:docMk/>
            <pc:sldMk cId="2978564845" sldId="257"/>
            <ac:spMk id="14" creationId="{B697874E-623E-6728-266D-55971294F34C}"/>
          </ac:spMkLst>
        </pc:spChg>
        <pc:spChg chg="mod">
          <ac:chgData name="Majchrzyk Monika" userId="34c61646-1a34-48dc-80f8-3fc883bb28f7" providerId="ADAL" clId="{504CEE9F-A063-4667-A955-4C26DE6D5F39}" dt="2023-03-20T11:34:14.655" v="494" actId="1076"/>
          <ac:spMkLst>
            <pc:docMk/>
            <pc:sldMk cId="2978564845" sldId="257"/>
            <ac:spMk id="15" creationId="{83120A0D-6928-2454-2456-C13C065546E7}"/>
          </ac:spMkLst>
        </pc:spChg>
        <pc:spChg chg="mod">
          <ac:chgData name="Majchrzyk Monika" userId="34c61646-1a34-48dc-80f8-3fc883bb28f7" providerId="ADAL" clId="{504CEE9F-A063-4667-A955-4C26DE6D5F39}" dt="2023-03-20T11:34:10.560" v="493" actId="1076"/>
          <ac:spMkLst>
            <pc:docMk/>
            <pc:sldMk cId="2978564845" sldId="257"/>
            <ac:spMk id="16" creationId="{ECD72BEC-5316-C3DB-77B0-E397BCA63682}"/>
          </ac:spMkLst>
        </pc:spChg>
        <pc:spChg chg="mod">
          <ac:chgData name="Majchrzyk Monika" userId="34c61646-1a34-48dc-80f8-3fc883bb28f7" providerId="ADAL" clId="{504CEE9F-A063-4667-A955-4C26DE6D5F39}" dt="2023-03-20T11:34:05.747" v="492" actId="1076"/>
          <ac:spMkLst>
            <pc:docMk/>
            <pc:sldMk cId="2978564845" sldId="257"/>
            <ac:spMk id="17" creationId="{D9A33E22-AA32-D912-9065-9EB21BFDC1A3}"/>
          </ac:spMkLst>
        </pc:spChg>
        <pc:spChg chg="add mod">
          <ac:chgData name="Majchrzyk Monika" userId="34c61646-1a34-48dc-80f8-3fc883bb28f7" providerId="ADAL" clId="{504CEE9F-A063-4667-A955-4C26DE6D5F39}" dt="2023-03-17T14:00:25.136" v="374" actId="34135"/>
          <ac:spMkLst>
            <pc:docMk/>
            <pc:sldMk cId="2978564845" sldId="257"/>
            <ac:spMk id="20" creationId="{DA7C4B59-9B8D-C16D-1201-5FC12125EDF7}"/>
          </ac:spMkLst>
        </pc:spChg>
        <pc:picChg chg="add mod">
          <ac:chgData name="Majchrzyk Monika" userId="34c61646-1a34-48dc-80f8-3fc883bb28f7" providerId="ADAL" clId="{504CEE9F-A063-4667-A955-4C26DE6D5F39}" dt="2023-03-17T14:00:22.292" v="373" actId="34135"/>
          <ac:picMkLst>
            <pc:docMk/>
            <pc:sldMk cId="2978564845" sldId="257"/>
            <ac:picMk id="19" creationId="{8C3CFF1F-52DC-3490-D293-D228F8DF6A01}"/>
          </ac:picMkLst>
        </pc:picChg>
      </pc:sldChg>
      <pc:sldChg chg="delSp modSp add mod">
        <pc:chgData name="Majchrzyk Monika" userId="34c61646-1a34-48dc-80f8-3fc883bb28f7" providerId="ADAL" clId="{504CEE9F-A063-4667-A955-4C26DE6D5F39}" dt="2023-03-17T13:38:40.920" v="115" actId="34135"/>
        <pc:sldMkLst>
          <pc:docMk/>
          <pc:sldMk cId="646872128" sldId="258"/>
        </pc:sldMkLst>
        <pc:spChg chg="del">
          <ac:chgData name="Majchrzyk Monika" userId="34c61646-1a34-48dc-80f8-3fc883bb28f7" providerId="ADAL" clId="{504CEE9F-A063-4667-A955-4C26DE6D5F39}" dt="2023-03-17T13:37:45.347" v="31" actId="478"/>
          <ac:spMkLst>
            <pc:docMk/>
            <pc:sldMk cId="646872128" sldId="258"/>
            <ac:spMk id="6" creationId="{3CF06F40-6CDD-1882-5D7C-5B212074BC64}"/>
          </ac:spMkLst>
        </pc:spChg>
        <pc:spChg chg="mod">
          <ac:chgData name="Majchrzyk Monika" userId="34c61646-1a34-48dc-80f8-3fc883bb28f7" providerId="ADAL" clId="{504CEE9F-A063-4667-A955-4C26DE6D5F39}" dt="2023-03-17T13:38:32.370" v="112" actId="1076"/>
          <ac:spMkLst>
            <pc:docMk/>
            <pc:sldMk cId="646872128" sldId="258"/>
            <ac:spMk id="7" creationId="{0CBC331D-8069-B1C8-0B2C-BC64036C1009}"/>
          </ac:spMkLst>
        </pc:spChg>
        <pc:spChg chg="mod">
          <ac:chgData name="Majchrzyk Monika" userId="34c61646-1a34-48dc-80f8-3fc883bb28f7" providerId="ADAL" clId="{504CEE9F-A063-4667-A955-4C26DE6D5F39}" dt="2023-03-17T13:38:34.917" v="113" actId="1076"/>
          <ac:spMkLst>
            <pc:docMk/>
            <pc:sldMk cId="646872128" sldId="258"/>
            <ac:spMk id="8" creationId="{B6F5D76B-1818-C235-38F9-3C9C21303C79}"/>
          </ac:spMkLst>
        </pc:spChg>
        <pc:spChg chg="del">
          <ac:chgData name="Majchrzyk Monika" userId="34c61646-1a34-48dc-80f8-3fc883bb28f7" providerId="ADAL" clId="{504CEE9F-A063-4667-A955-4C26DE6D5F39}" dt="2023-03-17T13:37:58.335" v="43" actId="478"/>
          <ac:spMkLst>
            <pc:docMk/>
            <pc:sldMk cId="646872128" sldId="258"/>
            <ac:spMk id="10" creationId="{6C22A504-080D-AED3-DD7B-D7F4C7F66CAE}"/>
          </ac:spMkLst>
        </pc:spChg>
        <pc:picChg chg="mod">
          <ac:chgData name="Majchrzyk Monika" userId="34c61646-1a34-48dc-80f8-3fc883bb28f7" providerId="ADAL" clId="{504CEE9F-A063-4667-A955-4C26DE6D5F39}" dt="2023-03-17T13:38:40.920" v="115" actId="34135"/>
          <ac:picMkLst>
            <pc:docMk/>
            <pc:sldMk cId="646872128" sldId="258"/>
            <ac:picMk id="5" creationId="{7F664471-D8BA-0250-F7B9-558FAAEDDF8A}"/>
          </ac:picMkLst>
        </pc:picChg>
      </pc:sldChg>
      <pc:sldChg chg="addSp delSp modSp add mod ord">
        <pc:chgData name="Majchrzyk Monika" userId="34c61646-1a34-48dc-80f8-3fc883bb28f7" providerId="ADAL" clId="{504CEE9F-A063-4667-A955-4C26DE6D5F39}" dt="2023-03-20T11:31:39.173" v="470" actId="14100"/>
        <pc:sldMkLst>
          <pc:docMk/>
          <pc:sldMk cId="3385265064" sldId="259"/>
        </pc:sldMkLst>
        <pc:spChg chg="del mod">
          <ac:chgData name="Majchrzyk Monika" userId="34c61646-1a34-48dc-80f8-3fc883bb28f7" providerId="ADAL" clId="{504CEE9F-A063-4667-A955-4C26DE6D5F39}" dt="2023-03-17T13:45:23.063" v="143" actId="478"/>
          <ac:spMkLst>
            <pc:docMk/>
            <pc:sldMk cId="3385265064" sldId="259"/>
            <ac:spMk id="5" creationId="{7CA99EC4-3C2E-53F3-55A5-01E21A2FCB45}"/>
          </ac:spMkLst>
        </pc:spChg>
        <pc:spChg chg="mod">
          <ac:chgData name="Majchrzyk Monika" userId="34c61646-1a34-48dc-80f8-3fc883bb28f7" providerId="ADAL" clId="{504CEE9F-A063-4667-A955-4C26DE6D5F39}" dt="2023-03-17T13:47:19.241" v="201" actId="1038"/>
          <ac:spMkLst>
            <pc:docMk/>
            <pc:sldMk cId="3385265064" sldId="259"/>
            <ac:spMk id="7" creationId="{E29AE5D5-216A-8F8A-666A-883663F0294A}"/>
          </ac:spMkLst>
        </pc:spChg>
        <pc:spChg chg="mod">
          <ac:chgData name="Majchrzyk Monika" userId="34c61646-1a34-48dc-80f8-3fc883bb28f7" providerId="ADAL" clId="{504CEE9F-A063-4667-A955-4C26DE6D5F39}" dt="2023-03-20T11:31:39.173" v="470" actId="14100"/>
          <ac:spMkLst>
            <pc:docMk/>
            <pc:sldMk cId="3385265064" sldId="259"/>
            <ac:spMk id="8" creationId="{29BDEFAC-B3D4-E189-6FDB-0B49145F3576}"/>
          </ac:spMkLst>
        </pc:spChg>
        <pc:spChg chg="del">
          <ac:chgData name="Majchrzyk Monika" userId="34c61646-1a34-48dc-80f8-3fc883bb28f7" providerId="ADAL" clId="{504CEE9F-A063-4667-A955-4C26DE6D5F39}" dt="2023-03-17T13:46:06.352" v="151" actId="478"/>
          <ac:spMkLst>
            <pc:docMk/>
            <pc:sldMk cId="3385265064" sldId="259"/>
            <ac:spMk id="9" creationId="{F147D9BB-07E8-74D9-EC4B-101464242B3B}"/>
          </ac:spMkLst>
        </pc:spChg>
        <pc:spChg chg="del">
          <ac:chgData name="Majchrzyk Monika" userId="34c61646-1a34-48dc-80f8-3fc883bb28f7" providerId="ADAL" clId="{504CEE9F-A063-4667-A955-4C26DE6D5F39}" dt="2023-03-17T13:46:06.352" v="151" actId="478"/>
          <ac:spMkLst>
            <pc:docMk/>
            <pc:sldMk cId="3385265064" sldId="259"/>
            <ac:spMk id="10" creationId="{8CABF2BB-8111-56B2-9E63-3ADB3FC588CB}"/>
          </ac:spMkLst>
        </pc:spChg>
        <pc:spChg chg="del">
          <ac:chgData name="Majchrzyk Monika" userId="34c61646-1a34-48dc-80f8-3fc883bb28f7" providerId="ADAL" clId="{504CEE9F-A063-4667-A955-4C26DE6D5F39}" dt="2023-03-17T13:46:09.307" v="153" actId="478"/>
          <ac:spMkLst>
            <pc:docMk/>
            <pc:sldMk cId="3385265064" sldId="259"/>
            <ac:spMk id="11" creationId="{BA763974-B97F-341F-5297-F3EDB09C02AA}"/>
          </ac:spMkLst>
        </pc:spChg>
        <pc:spChg chg="del">
          <ac:chgData name="Majchrzyk Monika" userId="34c61646-1a34-48dc-80f8-3fc883bb28f7" providerId="ADAL" clId="{504CEE9F-A063-4667-A955-4C26DE6D5F39}" dt="2023-03-17T13:46:06.352" v="151" actId="478"/>
          <ac:spMkLst>
            <pc:docMk/>
            <pc:sldMk cId="3385265064" sldId="259"/>
            <ac:spMk id="12" creationId="{54016C77-B1ED-7268-246F-A91BEB8008C9}"/>
          </ac:spMkLst>
        </pc:spChg>
        <pc:spChg chg="del">
          <ac:chgData name="Majchrzyk Monika" userId="34c61646-1a34-48dc-80f8-3fc883bb28f7" providerId="ADAL" clId="{504CEE9F-A063-4667-A955-4C26DE6D5F39}" dt="2023-03-17T13:46:06.352" v="151" actId="478"/>
          <ac:spMkLst>
            <pc:docMk/>
            <pc:sldMk cId="3385265064" sldId="259"/>
            <ac:spMk id="13" creationId="{4B1B00DF-B90C-428F-38A4-14C558B0A671}"/>
          </ac:spMkLst>
        </pc:spChg>
        <pc:spChg chg="del mod">
          <ac:chgData name="Majchrzyk Monika" userId="34c61646-1a34-48dc-80f8-3fc883bb28f7" providerId="ADAL" clId="{504CEE9F-A063-4667-A955-4C26DE6D5F39}" dt="2023-03-17T13:46:10.700" v="154" actId="478"/>
          <ac:spMkLst>
            <pc:docMk/>
            <pc:sldMk cId="3385265064" sldId="259"/>
            <ac:spMk id="14" creationId="{B697874E-623E-6728-266D-55971294F34C}"/>
          </ac:spMkLst>
        </pc:spChg>
        <pc:spChg chg="del mod">
          <ac:chgData name="Majchrzyk Monika" userId="34c61646-1a34-48dc-80f8-3fc883bb28f7" providerId="ADAL" clId="{504CEE9F-A063-4667-A955-4C26DE6D5F39}" dt="2023-03-17T13:46:22.873" v="163"/>
          <ac:spMkLst>
            <pc:docMk/>
            <pc:sldMk cId="3385265064" sldId="259"/>
            <ac:spMk id="15" creationId="{83120A0D-6928-2454-2456-C13C065546E7}"/>
          </ac:spMkLst>
        </pc:spChg>
        <pc:spChg chg="del mod">
          <ac:chgData name="Majchrzyk Monika" userId="34c61646-1a34-48dc-80f8-3fc883bb28f7" providerId="ADAL" clId="{504CEE9F-A063-4667-A955-4C26DE6D5F39}" dt="2023-03-17T13:46:12.809" v="156" actId="478"/>
          <ac:spMkLst>
            <pc:docMk/>
            <pc:sldMk cId="3385265064" sldId="259"/>
            <ac:spMk id="16" creationId="{ECD72BEC-5316-C3DB-77B0-E397BCA63682}"/>
          </ac:spMkLst>
        </pc:spChg>
        <pc:spChg chg="del mod">
          <ac:chgData name="Majchrzyk Monika" userId="34c61646-1a34-48dc-80f8-3fc883bb28f7" providerId="ADAL" clId="{504CEE9F-A063-4667-A955-4C26DE6D5F39}" dt="2023-03-17T13:46:14.441" v="158" actId="478"/>
          <ac:spMkLst>
            <pc:docMk/>
            <pc:sldMk cId="3385265064" sldId="259"/>
            <ac:spMk id="17" creationId="{D9A33E22-AA32-D912-9065-9EB21BFDC1A3}"/>
          </ac:spMkLst>
        </pc:spChg>
        <pc:spChg chg="del">
          <ac:chgData name="Majchrzyk Monika" userId="34c61646-1a34-48dc-80f8-3fc883bb28f7" providerId="ADAL" clId="{504CEE9F-A063-4667-A955-4C26DE6D5F39}" dt="2023-03-17T13:45:19.481" v="141" actId="478"/>
          <ac:spMkLst>
            <pc:docMk/>
            <pc:sldMk cId="3385265064" sldId="259"/>
            <ac:spMk id="20" creationId="{DA7C4B59-9B8D-C16D-1201-5FC12125EDF7}"/>
          </ac:spMkLst>
        </pc:spChg>
        <pc:picChg chg="add mod modCrop">
          <ac:chgData name="Majchrzyk Monika" userId="34c61646-1a34-48dc-80f8-3fc883bb28f7" providerId="ADAL" clId="{504CEE9F-A063-4667-A955-4C26DE6D5F39}" dt="2023-03-20T11:31:25.707" v="465" actId="732"/>
          <ac:picMkLst>
            <pc:docMk/>
            <pc:sldMk cId="3385265064" sldId="259"/>
            <ac:picMk id="2" creationId="{A7F4A503-F1A7-9CEA-965F-616FA62A8EA9}"/>
          </ac:picMkLst>
        </pc:picChg>
        <pc:picChg chg="add del mod ord">
          <ac:chgData name="Majchrzyk Monika" userId="34c61646-1a34-48dc-80f8-3fc883bb28f7" providerId="ADAL" clId="{504CEE9F-A063-4667-A955-4C26DE6D5F39}" dt="2023-03-20T11:31:31.128" v="469"/>
          <ac:picMkLst>
            <pc:docMk/>
            <pc:sldMk cId="3385265064" sldId="259"/>
            <ac:picMk id="3" creationId="{099226F5-5222-1B0D-2F2A-4EB7970D1B3A}"/>
          </ac:picMkLst>
        </pc:picChg>
        <pc:picChg chg="del">
          <ac:chgData name="Majchrzyk Monika" userId="34c61646-1a34-48dc-80f8-3fc883bb28f7" providerId="ADAL" clId="{504CEE9F-A063-4667-A955-4C26DE6D5F39}" dt="2023-03-17T13:45:27.341" v="144" actId="478"/>
          <ac:picMkLst>
            <pc:docMk/>
            <pc:sldMk cId="3385265064" sldId="259"/>
            <ac:picMk id="19" creationId="{8C3CFF1F-52DC-3490-D293-D228F8DF6A01}"/>
          </ac:picMkLst>
        </pc:picChg>
      </pc:sldChg>
      <pc:sldChg chg="addSp delSp modSp add mod">
        <pc:chgData name="Majchrzyk Monika" userId="34c61646-1a34-48dc-80f8-3fc883bb28f7" providerId="ADAL" clId="{504CEE9F-A063-4667-A955-4C26DE6D5F39}" dt="2023-03-17T14:00:17.669" v="372" actId="34135"/>
        <pc:sldMkLst>
          <pc:docMk/>
          <pc:sldMk cId="1672126401" sldId="260"/>
        </pc:sldMkLst>
        <pc:spChg chg="add mod">
          <ac:chgData name="Majchrzyk Monika" userId="34c61646-1a34-48dc-80f8-3fc883bb28f7" providerId="ADAL" clId="{504CEE9F-A063-4667-A955-4C26DE6D5F39}" dt="2023-03-17T13:50:03.831" v="236" actId="1076"/>
          <ac:spMkLst>
            <pc:docMk/>
            <pc:sldMk cId="1672126401" sldId="260"/>
            <ac:spMk id="2" creationId="{6391DFB6-1690-7FB2-CC36-5A7329D4AD6F}"/>
          </ac:spMkLst>
        </pc:spChg>
        <pc:spChg chg="add mod">
          <ac:chgData name="Majchrzyk Monika" userId="34c61646-1a34-48dc-80f8-3fc883bb28f7" providerId="ADAL" clId="{504CEE9F-A063-4667-A955-4C26DE6D5F39}" dt="2023-03-17T13:51:35.357" v="264" actId="1076"/>
          <ac:spMkLst>
            <pc:docMk/>
            <pc:sldMk cId="1672126401" sldId="260"/>
            <ac:spMk id="3" creationId="{D6721F15-4DEA-99B9-2707-E63D463254C3}"/>
          </ac:spMkLst>
        </pc:spChg>
        <pc:spChg chg="add mod">
          <ac:chgData name="Majchrzyk Monika" userId="34c61646-1a34-48dc-80f8-3fc883bb28f7" providerId="ADAL" clId="{504CEE9F-A063-4667-A955-4C26DE6D5F39}" dt="2023-03-17T13:50:18.458" v="241" actId="17032"/>
          <ac:spMkLst>
            <pc:docMk/>
            <pc:sldMk cId="1672126401" sldId="260"/>
            <ac:spMk id="4" creationId="{9ACFE09C-32A5-843C-FE7B-82F73E952EB8}"/>
          </ac:spMkLst>
        </pc:spChg>
        <pc:spChg chg="del mod">
          <ac:chgData name="Majchrzyk Monika" userId="34c61646-1a34-48dc-80f8-3fc883bb28f7" providerId="ADAL" clId="{504CEE9F-A063-4667-A955-4C26DE6D5F39}" dt="2023-03-17T13:59:47.986" v="363" actId="478"/>
          <ac:spMkLst>
            <pc:docMk/>
            <pc:sldMk cId="1672126401" sldId="260"/>
            <ac:spMk id="5" creationId="{7CA99EC4-3C2E-53F3-55A5-01E21A2FCB45}"/>
          </ac:spMkLst>
        </pc:spChg>
        <pc:spChg chg="add mod">
          <ac:chgData name="Majchrzyk Monika" userId="34c61646-1a34-48dc-80f8-3fc883bb28f7" providerId="ADAL" clId="{504CEE9F-A063-4667-A955-4C26DE6D5F39}" dt="2023-03-17T13:50:36.712" v="245" actId="207"/>
          <ac:spMkLst>
            <pc:docMk/>
            <pc:sldMk cId="1672126401" sldId="260"/>
            <ac:spMk id="6" creationId="{86BD307D-D05F-C6AB-47DA-91F22952FCF4}"/>
          </ac:spMkLst>
        </pc:spChg>
        <pc:spChg chg="del">
          <ac:chgData name="Majchrzyk Monika" userId="34c61646-1a34-48dc-80f8-3fc883bb28f7" providerId="ADAL" clId="{504CEE9F-A063-4667-A955-4C26DE6D5F39}" dt="2023-03-17T13:48:01.904" v="205" actId="478"/>
          <ac:spMkLst>
            <pc:docMk/>
            <pc:sldMk cId="1672126401" sldId="260"/>
            <ac:spMk id="7" creationId="{E29AE5D5-216A-8F8A-666A-883663F0294A}"/>
          </ac:spMkLst>
        </pc:spChg>
        <pc:spChg chg="del">
          <ac:chgData name="Majchrzyk Monika" userId="34c61646-1a34-48dc-80f8-3fc883bb28f7" providerId="ADAL" clId="{504CEE9F-A063-4667-A955-4C26DE6D5F39}" dt="2023-03-17T13:48:02.682" v="206" actId="478"/>
          <ac:spMkLst>
            <pc:docMk/>
            <pc:sldMk cId="1672126401" sldId="260"/>
            <ac:spMk id="8" creationId="{29BDEFAC-B3D4-E189-6FDB-0B49145F3576}"/>
          </ac:spMkLst>
        </pc:spChg>
        <pc:spChg chg="del">
          <ac:chgData name="Majchrzyk Monika" userId="34c61646-1a34-48dc-80f8-3fc883bb28f7" providerId="ADAL" clId="{504CEE9F-A063-4667-A955-4C26DE6D5F39}" dt="2023-03-17T13:48:07.659" v="208" actId="478"/>
          <ac:spMkLst>
            <pc:docMk/>
            <pc:sldMk cId="1672126401" sldId="260"/>
            <ac:spMk id="9" creationId="{F147D9BB-07E8-74D9-EC4B-101464242B3B}"/>
          </ac:spMkLst>
        </pc:spChg>
        <pc:spChg chg="del">
          <ac:chgData name="Majchrzyk Monika" userId="34c61646-1a34-48dc-80f8-3fc883bb28f7" providerId="ADAL" clId="{504CEE9F-A063-4667-A955-4C26DE6D5F39}" dt="2023-03-17T13:48:16.790" v="216" actId="478"/>
          <ac:spMkLst>
            <pc:docMk/>
            <pc:sldMk cId="1672126401" sldId="260"/>
            <ac:spMk id="10" creationId="{8CABF2BB-8111-56B2-9E63-3ADB3FC588CB}"/>
          </ac:spMkLst>
        </pc:spChg>
        <pc:spChg chg="del">
          <ac:chgData name="Majchrzyk Monika" userId="34c61646-1a34-48dc-80f8-3fc883bb28f7" providerId="ADAL" clId="{504CEE9F-A063-4667-A955-4C26DE6D5F39}" dt="2023-03-17T13:48:15.580" v="215" actId="478"/>
          <ac:spMkLst>
            <pc:docMk/>
            <pc:sldMk cId="1672126401" sldId="260"/>
            <ac:spMk id="11" creationId="{BA763974-B97F-341F-5297-F3EDB09C02AA}"/>
          </ac:spMkLst>
        </pc:spChg>
        <pc:spChg chg="del">
          <ac:chgData name="Majchrzyk Monika" userId="34c61646-1a34-48dc-80f8-3fc883bb28f7" providerId="ADAL" clId="{504CEE9F-A063-4667-A955-4C26DE6D5F39}" dt="2023-03-17T13:48:14.316" v="214" actId="478"/>
          <ac:spMkLst>
            <pc:docMk/>
            <pc:sldMk cId="1672126401" sldId="260"/>
            <ac:spMk id="12" creationId="{54016C77-B1ED-7268-246F-A91BEB8008C9}"/>
          </ac:spMkLst>
        </pc:spChg>
        <pc:spChg chg="del">
          <ac:chgData name="Majchrzyk Monika" userId="34c61646-1a34-48dc-80f8-3fc883bb28f7" providerId="ADAL" clId="{504CEE9F-A063-4667-A955-4C26DE6D5F39}" dt="2023-03-17T13:48:05.852" v="207" actId="478"/>
          <ac:spMkLst>
            <pc:docMk/>
            <pc:sldMk cId="1672126401" sldId="260"/>
            <ac:spMk id="13" creationId="{4B1B00DF-B90C-428F-38A4-14C558B0A671}"/>
          </ac:spMkLst>
        </pc:spChg>
        <pc:spChg chg="del mod">
          <ac:chgData name="Majchrzyk Monika" userId="34c61646-1a34-48dc-80f8-3fc883bb28f7" providerId="ADAL" clId="{504CEE9F-A063-4667-A955-4C26DE6D5F39}" dt="2023-03-17T13:48:13.062" v="213" actId="478"/>
          <ac:spMkLst>
            <pc:docMk/>
            <pc:sldMk cId="1672126401" sldId="260"/>
            <ac:spMk id="14" creationId="{B697874E-623E-6728-266D-55971294F34C}"/>
          </ac:spMkLst>
        </pc:spChg>
        <pc:spChg chg="del">
          <ac:chgData name="Majchrzyk Monika" userId="34c61646-1a34-48dc-80f8-3fc883bb28f7" providerId="ADAL" clId="{504CEE9F-A063-4667-A955-4C26DE6D5F39}" dt="2023-03-17T13:48:08.750" v="209" actId="478"/>
          <ac:spMkLst>
            <pc:docMk/>
            <pc:sldMk cId="1672126401" sldId="260"/>
            <ac:spMk id="15" creationId="{83120A0D-6928-2454-2456-C13C065546E7}"/>
          </ac:spMkLst>
        </pc:spChg>
        <pc:spChg chg="del">
          <ac:chgData name="Majchrzyk Monika" userId="34c61646-1a34-48dc-80f8-3fc883bb28f7" providerId="ADAL" clId="{504CEE9F-A063-4667-A955-4C26DE6D5F39}" dt="2023-03-17T13:48:10.100" v="210" actId="478"/>
          <ac:spMkLst>
            <pc:docMk/>
            <pc:sldMk cId="1672126401" sldId="260"/>
            <ac:spMk id="16" creationId="{ECD72BEC-5316-C3DB-77B0-E397BCA63682}"/>
          </ac:spMkLst>
        </pc:spChg>
        <pc:spChg chg="del">
          <ac:chgData name="Majchrzyk Monika" userId="34c61646-1a34-48dc-80f8-3fc883bb28f7" providerId="ADAL" clId="{504CEE9F-A063-4667-A955-4C26DE6D5F39}" dt="2023-03-17T13:48:11.541" v="211" actId="478"/>
          <ac:spMkLst>
            <pc:docMk/>
            <pc:sldMk cId="1672126401" sldId="260"/>
            <ac:spMk id="17" creationId="{D9A33E22-AA32-D912-9065-9EB21BFDC1A3}"/>
          </ac:spMkLst>
        </pc:spChg>
        <pc:spChg chg="add mod">
          <ac:chgData name="Majchrzyk Monika" userId="34c61646-1a34-48dc-80f8-3fc883bb28f7" providerId="ADAL" clId="{504CEE9F-A063-4667-A955-4C26DE6D5F39}" dt="2023-03-17T13:50:46.308" v="247" actId="1076"/>
          <ac:spMkLst>
            <pc:docMk/>
            <pc:sldMk cId="1672126401" sldId="260"/>
            <ac:spMk id="18" creationId="{6A42DB7B-FD93-A98F-8992-B27F361C6F45}"/>
          </ac:spMkLst>
        </pc:spChg>
        <pc:spChg chg="add mod">
          <ac:chgData name="Majchrzyk Monika" userId="34c61646-1a34-48dc-80f8-3fc883bb28f7" providerId="ADAL" clId="{504CEE9F-A063-4667-A955-4C26DE6D5F39}" dt="2023-03-17T13:50:55.149" v="251" actId="1076"/>
          <ac:spMkLst>
            <pc:docMk/>
            <pc:sldMk cId="1672126401" sldId="260"/>
            <ac:spMk id="21" creationId="{E0DE6813-00B6-4DA0-EF0D-ED1A8A8DC12D}"/>
          </ac:spMkLst>
        </pc:spChg>
        <pc:spChg chg="add mod">
          <ac:chgData name="Majchrzyk Monika" userId="34c61646-1a34-48dc-80f8-3fc883bb28f7" providerId="ADAL" clId="{504CEE9F-A063-4667-A955-4C26DE6D5F39}" dt="2023-03-17T13:51:24.742" v="259" actId="1076"/>
          <ac:spMkLst>
            <pc:docMk/>
            <pc:sldMk cId="1672126401" sldId="260"/>
            <ac:spMk id="22" creationId="{029D6EE5-129A-3B00-626D-F11E47A532AC}"/>
          </ac:spMkLst>
        </pc:spChg>
        <pc:spChg chg="add mod">
          <ac:chgData name="Majchrzyk Monika" userId="34c61646-1a34-48dc-80f8-3fc883bb28f7" providerId="ADAL" clId="{504CEE9F-A063-4667-A955-4C26DE6D5F39}" dt="2023-03-17T13:51:32.181" v="261" actId="1076"/>
          <ac:spMkLst>
            <pc:docMk/>
            <pc:sldMk cId="1672126401" sldId="260"/>
            <ac:spMk id="23" creationId="{701AF46D-BFBA-B394-4E5C-5F8633651436}"/>
          </ac:spMkLst>
        </pc:spChg>
        <pc:spChg chg="add mod">
          <ac:chgData name="Majchrzyk Monika" userId="34c61646-1a34-48dc-80f8-3fc883bb28f7" providerId="ADAL" clId="{504CEE9F-A063-4667-A955-4C26DE6D5F39}" dt="2023-03-17T13:51:39.003" v="265" actId="1076"/>
          <ac:spMkLst>
            <pc:docMk/>
            <pc:sldMk cId="1672126401" sldId="260"/>
            <ac:spMk id="24" creationId="{97569D6E-A2FA-D586-B24C-D5D904E01BB0}"/>
          </ac:spMkLst>
        </pc:spChg>
        <pc:spChg chg="add del mod ord">
          <ac:chgData name="Majchrzyk Monika" userId="34c61646-1a34-48dc-80f8-3fc883bb28f7" providerId="ADAL" clId="{504CEE9F-A063-4667-A955-4C26DE6D5F39}" dt="2023-03-17T13:59:56.991" v="367"/>
          <ac:spMkLst>
            <pc:docMk/>
            <pc:sldMk cId="1672126401" sldId="260"/>
            <ac:spMk id="25" creationId="{E062C3D5-3A16-FFB8-6B80-594D23450857}"/>
          </ac:spMkLst>
        </pc:spChg>
        <pc:spChg chg="add mod">
          <ac:chgData name="Majchrzyk Monika" userId="34c61646-1a34-48dc-80f8-3fc883bb28f7" providerId="ADAL" clId="{504CEE9F-A063-4667-A955-4C26DE6D5F39}" dt="2023-03-17T14:00:15.410" v="371" actId="34135"/>
          <ac:spMkLst>
            <pc:docMk/>
            <pc:sldMk cId="1672126401" sldId="260"/>
            <ac:spMk id="26" creationId="{CB3D808F-1EA9-CE12-04B3-7BDCCF8F3331}"/>
          </ac:spMkLst>
        </pc:spChg>
        <pc:spChg chg="add mod">
          <ac:chgData name="Majchrzyk Monika" userId="34c61646-1a34-48dc-80f8-3fc883bb28f7" providerId="ADAL" clId="{504CEE9F-A063-4667-A955-4C26DE6D5F39}" dt="2023-03-17T14:00:12.855" v="370" actId="1076"/>
          <ac:spMkLst>
            <pc:docMk/>
            <pc:sldMk cId="1672126401" sldId="260"/>
            <ac:spMk id="28" creationId="{D2665E53-A6E9-63F0-F602-DA47374D9FBC}"/>
          </ac:spMkLst>
        </pc:spChg>
        <pc:picChg chg="add mod">
          <ac:chgData name="Majchrzyk Monika" userId="34c61646-1a34-48dc-80f8-3fc883bb28f7" providerId="ADAL" clId="{504CEE9F-A063-4667-A955-4C26DE6D5F39}" dt="2023-03-17T14:00:17.669" v="372" actId="34135"/>
          <ac:picMkLst>
            <pc:docMk/>
            <pc:sldMk cId="1672126401" sldId="260"/>
            <ac:picMk id="27" creationId="{3B24B87E-DC5F-43C8-407C-8838BFEF37A4}"/>
          </ac:picMkLst>
        </pc:picChg>
      </pc:sldChg>
      <pc:sldChg chg="addSp delSp modSp add mod">
        <pc:chgData name="Majchrzyk Monika" userId="34c61646-1a34-48dc-80f8-3fc883bb28f7" providerId="ADAL" clId="{504CEE9F-A063-4667-A955-4C26DE6D5F39}" dt="2023-03-17T14:08:15.630" v="442" actId="732"/>
        <pc:sldMkLst>
          <pc:docMk/>
          <pc:sldMk cId="2597448124" sldId="261"/>
        </pc:sldMkLst>
        <pc:spChg chg="del">
          <ac:chgData name="Majchrzyk Monika" userId="34c61646-1a34-48dc-80f8-3fc883bb28f7" providerId="ADAL" clId="{504CEE9F-A063-4667-A955-4C26DE6D5F39}" dt="2023-03-17T13:53:43.991" v="288" actId="478"/>
          <ac:spMkLst>
            <pc:docMk/>
            <pc:sldMk cId="2597448124" sldId="261"/>
            <ac:spMk id="5" creationId="{7CA99EC4-3C2E-53F3-55A5-01E21A2FCB45}"/>
          </ac:spMkLst>
        </pc:spChg>
        <pc:spChg chg="mod ord">
          <ac:chgData name="Majchrzyk Monika" userId="34c61646-1a34-48dc-80f8-3fc883bb28f7" providerId="ADAL" clId="{504CEE9F-A063-4667-A955-4C26DE6D5F39}" dt="2023-03-17T14:05:39.962" v="409" actId="1076"/>
          <ac:spMkLst>
            <pc:docMk/>
            <pc:sldMk cId="2597448124" sldId="261"/>
            <ac:spMk id="7" creationId="{E29AE5D5-216A-8F8A-666A-883663F0294A}"/>
          </ac:spMkLst>
        </pc:spChg>
        <pc:spChg chg="add del mod ord">
          <ac:chgData name="Majchrzyk Monika" userId="34c61646-1a34-48dc-80f8-3fc883bb28f7" providerId="ADAL" clId="{504CEE9F-A063-4667-A955-4C26DE6D5F39}" dt="2023-03-17T13:55:38.445" v="328" actId="478"/>
          <ac:spMkLst>
            <pc:docMk/>
            <pc:sldMk cId="2597448124" sldId="261"/>
            <ac:spMk id="8" creationId="{29BDEFAC-B3D4-E189-6FDB-0B49145F3576}"/>
          </ac:spMkLst>
        </pc:spChg>
        <pc:spChg chg="del">
          <ac:chgData name="Majchrzyk Monika" userId="34c61646-1a34-48dc-80f8-3fc883bb28f7" providerId="ADAL" clId="{504CEE9F-A063-4667-A955-4C26DE6D5F39}" dt="2023-03-17T13:52:19.591" v="277" actId="478"/>
          <ac:spMkLst>
            <pc:docMk/>
            <pc:sldMk cId="2597448124" sldId="261"/>
            <ac:spMk id="9" creationId="{F147D9BB-07E8-74D9-EC4B-101464242B3B}"/>
          </ac:spMkLst>
        </pc:spChg>
        <pc:spChg chg="del">
          <ac:chgData name="Majchrzyk Monika" userId="34c61646-1a34-48dc-80f8-3fc883bb28f7" providerId="ADAL" clId="{504CEE9F-A063-4667-A955-4C26DE6D5F39}" dt="2023-03-17T13:52:17.530" v="276" actId="478"/>
          <ac:spMkLst>
            <pc:docMk/>
            <pc:sldMk cId="2597448124" sldId="261"/>
            <ac:spMk id="10" creationId="{8CABF2BB-8111-56B2-9E63-3ADB3FC588CB}"/>
          </ac:spMkLst>
        </pc:spChg>
        <pc:spChg chg="del">
          <ac:chgData name="Majchrzyk Monika" userId="34c61646-1a34-48dc-80f8-3fc883bb28f7" providerId="ADAL" clId="{504CEE9F-A063-4667-A955-4C26DE6D5F39}" dt="2023-03-17T13:52:15.857" v="275" actId="478"/>
          <ac:spMkLst>
            <pc:docMk/>
            <pc:sldMk cId="2597448124" sldId="261"/>
            <ac:spMk id="11" creationId="{BA763974-B97F-341F-5297-F3EDB09C02AA}"/>
          </ac:spMkLst>
        </pc:spChg>
        <pc:spChg chg="del">
          <ac:chgData name="Majchrzyk Monika" userId="34c61646-1a34-48dc-80f8-3fc883bb28f7" providerId="ADAL" clId="{504CEE9F-A063-4667-A955-4C26DE6D5F39}" dt="2023-03-17T13:52:10.713" v="272" actId="478"/>
          <ac:spMkLst>
            <pc:docMk/>
            <pc:sldMk cId="2597448124" sldId="261"/>
            <ac:spMk id="12" creationId="{54016C77-B1ED-7268-246F-A91BEB8008C9}"/>
          </ac:spMkLst>
        </pc:spChg>
        <pc:spChg chg="del">
          <ac:chgData name="Majchrzyk Monika" userId="34c61646-1a34-48dc-80f8-3fc883bb28f7" providerId="ADAL" clId="{504CEE9F-A063-4667-A955-4C26DE6D5F39}" dt="2023-03-17T13:52:14.615" v="274" actId="478"/>
          <ac:spMkLst>
            <pc:docMk/>
            <pc:sldMk cId="2597448124" sldId="261"/>
            <ac:spMk id="13" creationId="{4B1B00DF-B90C-428F-38A4-14C558B0A671}"/>
          </ac:spMkLst>
        </pc:spChg>
        <pc:spChg chg="del">
          <ac:chgData name="Majchrzyk Monika" userId="34c61646-1a34-48dc-80f8-3fc883bb28f7" providerId="ADAL" clId="{504CEE9F-A063-4667-A955-4C26DE6D5F39}" dt="2023-03-17T13:52:13.228" v="273" actId="478"/>
          <ac:spMkLst>
            <pc:docMk/>
            <pc:sldMk cId="2597448124" sldId="261"/>
            <ac:spMk id="14" creationId="{B697874E-623E-6728-266D-55971294F34C}"/>
          </ac:spMkLst>
        </pc:spChg>
        <pc:spChg chg="del">
          <ac:chgData name="Majchrzyk Monika" userId="34c61646-1a34-48dc-80f8-3fc883bb28f7" providerId="ADAL" clId="{504CEE9F-A063-4667-A955-4C26DE6D5F39}" dt="2023-03-17T13:52:06.756" v="269" actId="478"/>
          <ac:spMkLst>
            <pc:docMk/>
            <pc:sldMk cId="2597448124" sldId="261"/>
            <ac:spMk id="15" creationId="{83120A0D-6928-2454-2456-C13C065546E7}"/>
          </ac:spMkLst>
        </pc:spChg>
        <pc:spChg chg="del">
          <ac:chgData name="Majchrzyk Monika" userId="34c61646-1a34-48dc-80f8-3fc883bb28f7" providerId="ADAL" clId="{504CEE9F-A063-4667-A955-4C26DE6D5F39}" dt="2023-03-17T13:52:02.933" v="267" actId="478"/>
          <ac:spMkLst>
            <pc:docMk/>
            <pc:sldMk cId="2597448124" sldId="261"/>
            <ac:spMk id="16" creationId="{ECD72BEC-5316-C3DB-77B0-E397BCA63682}"/>
          </ac:spMkLst>
        </pc:spChg>
        <pc:spChg chg="del">
          <ac:chgData name="Majchrzyk Monika" userId="34c61646-1a34-48dc-80f8-3fc883bb28f7" providerId="ADAL" clId="{504CEE9F-A063-4667-A955-4C26DE6D5F39}" dt="2023-03-17T13:52:04.352" v="268" actId="478"/>
          <ac:spMkLst>
            <pc:docMk/>
            <pc:sldMk cId="2597448124" sldId="261"/>
            <ac:spMk id="17" creationId="{D9A33E22-AA32-D912-9065-9EB21BFDC1A3}"/>
          </ac:spMkLst>
        </pc:spChg>
        <pc:spChg chg="del mod">
          <ac:chgData name="Majchrzyk Monika" userId="34c61646-1a34-48dc-80f8-3fc883bb28f7" providerId="ADAL" clId="{504CEE9F-A063-4667-A955-4C26DE6D5F39}" dt="2023-03-17T13:53:46.290" v="290" actId="478"/>
          <ac:spMkLst>
            <pc:docMk/>
            <pc:sldMk cId="2597448124" sldId="261"/>
            <ac:spMk id="20" creationId="{DA7C4B59-9B8D-C16D-1201-5FC12125EDF7}"/>
          </ac:spMkLst>
        </pc:spChg>
        <pc:spChg chg="add mod">
          <ac:chgData name="Majchrzyk Monika" userId="34c61646-1a34-48dc-80f8-3fc883bb28f7" providerId="ADAL" clId="{504CEE9F-A063-4667-A955-4C26DE6D5F39}" dt="2023-03-17T14:06:29.277" v="424" actId="207"/>
          <ac:spMkLst>
            <pc:docMk/>
            <pc:sldMk cId="2597448124" sldId="261"/>
            <ac:spMk id="22" creationId="{DF7A9B18-CF36-BD2A-CFC5-ACF4B7DF6479}"/>
          </ac:spMkLst>
        </pc:spChg>
        <pc:spChg chg="add del mod">
          <ac:chgData name="Majchrzyk Monika" userId="34c61646-1a34-48dc-80f8-3fc883bb28f7" providerId="ADAL" clId="{504CEE9F-A063-4667-A955-4C26DE6D5F39}" dt="2023-03-17T14:06:31.423" v="425" actId="478"/>
          <ac:spMkLst>
            <pc:docMk/>
            <pc:sldMk cId="2597448124" sldId="261"/>
            <ac:spMk id="24" creationId="{CAAE83B1-CA20-068A-1233-F313A20B8BC7}"/>
          </ac:spMkLst>
        </pc:spChg>
        <pc:graphicFrameChg chg="add del mod modGraphic">
          <ac:chgData name="Majchrzyk Monika" userId="34c61646-1a34-48dc-80f8-3fc883bb28f7" providerId="ADAL" clId="{504CEE9F-A063-4667-A955-4C26DE6D5F39}" dt="2023-03-17T13:58:21.624" v="348" actId="478"/>
          <ac:graphicFrameMkLst>
            <pc:docMk/>
            <pc:sldMk cId="2597448124" sldId="261"/>
            <ac:graphicFrameMk id="23" creationId="{A7E65F8C-461C-4271-1B7C-1A90578F4F8B}"/>
          </ac:graphicFrameMkLst>
        </pc:graphicFrameChg>
        <pc:picChg chg="add del mod">
          <ac:chgData name="Majchrzyk Monika" userId="34c61646-1a34-48dc-80f8-3fc883bb28f7" providerId="ADAL" clId="{504CEE9F-A063-4667-A955-4C26DE6D5F39}" dt="2023-03-17T13:53:39.531" v="284" actId="478"/>
          <ac:picMkLst>
            <pc:docMk/>
            <pc:sldMk cId="2597448124" sldId="261"/>
            <ac:picMk id="3" creationId="{39E258DF-1E05-C70C-F6B5-F9E2E5AF23E9}"/>
          </ac:picMkLst>
        </pc:picChg>
        <pc:picChg chg="add del mod">
          <ac:chgData name="Majchrzyk Monika" userId="34c61646-1a34-48dc-80f8-3fc883bb28f7" providerId="ADAL" clId="{504CEE9F-A063-4667-A955-4C26DE6D5F39}" dt="2023-03-17T13:53:40.421" v="285" actId="478"/>
          <ac:picMkLst>
            <pc:docMk/>
            <pc:sldMk cId="2597448124" sldId="261"/>
            <ac:picMk id="6" creationId="{7D86F2E0-7286-E2DC-9658-5F401EE68B5C}"/>
          </ac:picMkLst>
        </pc:picChg>
        <pc:picChg chg="del mod">
          <ac:chgData name="Majchrzyk Monika" userId="34c61646-1a34-48dc-80f8-3fc883bb28f7" providerId="ADAL" clId="{504CEE9F-A063-4667-A955-4C26DE6D5F39}" dt="2023-03-17T13:53:49.844" v="292" actId="478"/>
          <ac:picMkLst>
            <pc:docMk/>
            <pc:sldMk cId="2597448124" sldId="261"/>
            <ac:picMk id="19" creationId="{8C3CFF1F-52DC-3490-D293-D228F8DF6A01}"/>
          </ac:picMkLst>
        </pc:picChg>
        <pc:picChg chg="add del mod modCrop">
          <ac:chgData name="Majchrzyk Monika" userId="34c61646-1a34-48dc-80f8-3fc883bb28f7" providerId="ADAL" clId="{504CEE9F-A063-4667-A955-4C26DE6D5F39}" dt="2023-03-17T13:55:09.404" v="320" actId="478"/>
          <ac:picMkLst>
            <pc:docMk/>
            <pc:sldMk cId="2597448124" sldId="261"/>
            <ac:picMk id="21" creationId="{08AD416B-EBAB-548F-649D-14818762E58A}"/>
          </ac:picMkLst>
        </pc:picChg>
        <pc:picChg chg="add mod modCrop">
          <ac:chgData name="Majchrzyk Monika" userId="34c61646-1a34-48dc-80f8-3fc883bb28f7" providerId="ADAL" clId="{504CEE9F-A063-4667-A955-4C26DE6D5F39}" dt="2023-03-17T14:08:15.630" v="442" actId="732"/>
          <ac:picMkLst>
            <pc:docMk/>
            <pc:sldMk cId="2597448124" sldId="261"/>
            <ac:picMk id="26" creationId="{3A5902E4-9B36-448B-FF26-EA5138E3BF89}"/>
          </ac:picMkLst>
        </pc:picChg>
      </pc:sldChg>
      <pc:sldMasterChg chg="delSp mod addSldLayout modSldLayout">
        <pc:chgData name="Majchrzyk Monika" userId="34c61646-1a34-48dc-80f8-3fc883bb28f7" providerId="ADAL" clId="{504CEE9F-A063-4667-A955-4C26DE6D5F39}" dt="2023-03-20T08:38:05.126" v="454" actId="478"/>
        <pc:sldMasterMkLst>
          <pc:docMk/>
          <pc:sldMasterMk cId="3271518119" sldId="2147483648"/>
        </pc:sldMasterMkLst>
        <pc:spChg chg="del">
          <ac:chgData name="Majchrzyk Monika" userId="34c61646-1a34-48dc-80f8-3fc883bb28f7" providerId="ADAL" clId="{504CEE9F-A063-4667-A955-4C26DE6D5F39}" dt="2023-03-20T08:37:57.134" v="450" actId="478"/>
          <ac:spMkLst>
            <pc:docMk/>
            <pc:sldMasterMk cId="3271518119" sldId="2147483648"/>
            <ac:spMk id="2" creationId="{389FE219-A92A-D1DD-9076-FBF21B1D64B5}"/>
          </ac:spMkLst>
        </pc:spChg>
        <pc:spChg chg="del">
          <ac:chgData name="Majchrzyk Monika" userId="34c61646-1a34-48dc-80f8-3fc883bb28f7" providerId="ADAL" clId="{504CEE9F-A063-4667-A955-4C26DE6D5F39}" dt="2023-03-20T08:37:58.263" v="451" actId="478"/>
          <ac:spMkLst>
            <pc:docMk/>
            <pc:sldMasterMk cId="3271518119" sldId="2147483648"/>
            <ac:spMk id="3" creationId="{59E66A74-3559-628B-75EE-E96151D79BCE}"/>
          </ac:spMkLst>
        </pc:spChg>
        <pc:spChg chg="del">
          <ac:chgData name="Majchrzyk Monika" userId="34c61646-1a34-48dc-80f8-3fc883bb28f7" providerId="ADAL" clId="{504CEE9F-A063-4667-A955-4C26DE6D5F39}" dt="2023-03-20T08:37:59.522" v="452" actId="478"/>
          <ac:spMkLst>
            <pc:docMk/>
            <pc:sldMasterMk cId="3271518119" sldId="2147483648"/>
            <ac:spMk id="4" creationId="{5A1A98AE-73A5-EE15-60CD-020F3F76B823}"/>
          </ac:spMkLst>
        </pc:spChg>
        <pc:spChg chg="del">
          <ac:chgData name="Majchrzyk Monika" userId="34c61646-1a34-48dc-80f8-3fc883bb28f7" providerId="ADAL" clId="{504CEE9F-A063-4667-A955-4C26DE6D5F39}" dt="2023-03-20T08:38:00.909" v="453" actId="478"/>
          <ac:spMkLst>
            <pc:docMk/>
            <pc:sldMasterMk cId="3271518119" sldId="2147483648"/>
            <ac:spMk id="5" creationId="{06AB3D98-D64F-782C-E352-647AA5D65B73}"/>
          </ac:spMkLst>
        </pc:spChg>
        <pc:spChg chg="del">
          <ac:chgData name="Majchrzyk Monika" userId="34c61646-1a34-48dc-80f8-3fc883bb28f7" providerId="ADAL" clId="{504CEE9F-A063-4667-A955-4C26DE6D5F39}" dt="2023-03-20T08:38:05.126" v="454" actId="478"/>
          <ac:spMkLst>
            <pc:docMk/>
            <pc:sldMasterMk cId="3271518119" sldId="2147483648"/>
            <ac:spMk id="6" creationId="{86AD50F8-DF56-FA79-23F0-93B77ABE80E9}"/>
          </ac:spMkLst>
        </pc:spChg>
        <pc:sldLayoutChg chg="new mod">
          <pc:chgData name="Majchrzyk Monika" userId="34c61646-1a34-48dc-80f8-3fc883bb28f7" providerId="ADAL" clId="{504CEE9F-A063-4667-A955-4C26DE6D5F39}" dt="2023-03-20T08:37:17.347" v="447" actId="11236"/>
          <pc:sldLayoutMkLst>
            <pc:docMk/>
            <pc:sldMasterMk cId="519625757" sldId="2147483674"/>
            <pc:sldLayoutMk cId="349100430" sldId="2147483660"/>
          </pc:sldLayoutMkLst>
        </pc:sldLayoutChg>
      </pc:sldMasterChg>
      <pc:sldMasterChg chg="new del mod addSldLayout delSldLayout">
        <pc:chgData name="Majchrzyk Monika" userId="34c61646-1a34-48dc-80f8-3fc883bb28f7" providerId="ADAL" clId="{504CEE9F-A063-4667-A955-4C26DE6D5F39}" dt="2023-03-20T08:34:26.991" v="446" actId="6938"/>
        <pc:sldMasterMkLst>
          <pc:docMk/>
          <pc:sldMasterMk cId="3048497138" sldId="2147483660"/>
        </pc:sldMasterMkLst>
        <pc:sldLayoutChg chg="new del replId">
          <pc:chgData name="Majchrzyk Monika" userId="34c61646-1a34-48dc-80f8-3fc883bb28f7" providerId="ADAL" clId="{504CEE9F-A063-4667-A955-4C26DE6D5F39}" dt="2023-03-20T08:34:26.991" v="446" actId="6938"/>
          <pc:sldLayoutMkLst>
            <pc:docMk/>
            <pc:sldMasterMk cId="3048497138" sldId="2147483660"/>
            <pc:sldLayoutMk cId="573986037" sldId="2147483661"/>
          </pc:sldLayoutMkLst>
        </pc:sldLayoutChg>
        <pc:sldLayoutChg chg="new del replId">
          <pc:chgData name="Majchrzyk Monika" userId="34c61646-1a34-48dc-80f8-3fc883bb28f7" providerId="ADAL" clId="{504CEE9F-A063-4667-A955-4C26DE6D5F39}" dt="2023-03-20T08:34:26.991" v="446" actId="6938"/>
          <pc:sldLayoutMkLst>
            <pc:docMk/>
            <pc:sldMasterMk cId="3048497138" sldId="2147483660"/>
            <pc:sldLayoutMk cId="2841131921" sldId="2147483662"/>
          </pc:sldLayoutMkLst>
        </pc:sldLayoutChg>
        <pc:sldLayoutChg chg="new del replId">
          <pc:chgData name="Majchrzyk Monika" userId="34c61646-1a34-48dc-80f8-3fc883bb28f7" providerId="ADAL" clId="{504CEE9F-A063-4667-A955-4C26DE6D5F39}" dt="2023-03-20T08:34:26.991" v="446" actId="6938"/>
          <pc:sldLayoutMkLst>
            <pc:docMk/>
            <pc:sldMasterMk cId="3048497138" sldId="2147483660"/>
            <pc:sldLayoutMk cId="3387490583" sldId="2147483663"/>
          </pc:sldLayoutMkLst>
        </pc:sldLayoutChg>
        <pc:sldLayoutChg chg="new del replId">
          <pc:chgData name="Majchrzyk Monika" userId="34c61646-1a34-48dc-80f8-3fc883bb28f7" providerId="ADAL" clId="{504CEE9F-A063-4667-A955-4C26DE6D5F39}" dt="2023-03-20T08:34:26.991" v="446" actId="6938"/>
          <pc:sldLayoutMkLst>
            <pc:docMk/>
            <pc:sldMasterMk cId="3048497138" sldId="2147483660"/>
            <pc:sldLayoutMk cId="650212107" sldId="2147483664"/>
          </pc:sldLayoutMkLst>
        </pc:sldLayoutChg>
        <pc:sldLayoutChg chg="new del replId">
          <pc:chgData name="Majchrzyk Monika" userId="34c61646-1a34-48dc-80f8-3fc883bb28f7" providerId="ADAL" clId="{504CEE9F-A063-4667-A955-4C26DE6D5F39}" dt="2023-03-20T08:34:26.991" v="446" actId="6938"/>
          <pc:sldLayoutMkLst>
            <pc:docMk/>
            <pc:sldMasterMk cId="3048497138" sldId="2147483660"/>
            <pc:sldLayoutMk cId="95807208" sldId="2147483665"/>
          </pc:sldLayoutMkLst>
        </pc:sldLayoutChg>
        <pc:sldLayoutChg chg="new del replId">
          <pc:chgData name="Majchrzyk Monika" userId="34c61646-1a34-48dc-80f8-3fc883bb28f7" providerId="ADAL" clId="{504CEE9F-A063-4667-A955-4C26DE6D5F39}" dt="2023-03-20T08:34:26.991" v="446" actId="6938"/>
          <pc:sldLayoutMkLst>
            <pc:docMk/>
            <pc:sldMasterMk cId="3048497138" sldId="2147483660"/>
            <pc:sldLayoutMk cId="1152146085" sldId="2147483666"/>
          </pc:sldLayoutMkLst>
        </pc:sldLayoutChg>
        <pc:sldLayoutChg chg="new del replId">
          <pc:chgData name="Majchrzyk Monika" userId="34c61646-1a34-48dc-80f8-3fc883bb28f7" providerId="ADAL" clId="{504CEE9F-A063-4667-A955-4C26DE6D5F39}" dt="2023-03-20T08:34:26.991" v="446" actId="6938"/>
          <pc:sldLayoutMkLst>
            <pc:docMk/>
            <pc:sldMasterMk cId="3048497138" sldId="2147483660"/>
            <pc:sldLayoutMk cId="2076765256" sldId="2147483667"/>
          </pc:sldLayoutMkLst>
        </pc:sldLayoutChg>
        <pc:sldLayoutChg chg="new del replId">
          <pc:chgData name="Majchrzyk Monika" userId="34c61646-1a34-48dc-80f8-3fc883bb28f7" providerId="ADAL" clId="{504CEE9F-A063-4667-A955-4C26DE6D5F39}" dt="2023-03-20T08:34:26.991" v="446" actId="6938"/>
          <pc:sldLayoutMkLst>
            <pc:docMk/>
            <pc:sldMasterMk cId="3048497138" sldId="2147483660"/>
            <pc:sldLayoutMk cId="3683316235" sldId="2147483668"/>
          </pc:sldLayoutMkLst>
        </pc:sldLayoutChg>
        <pc:sldLayoutChg chg="new del replId">
          <pc:chgData name="Majchrzyk Monika" userId="34c61646-1a34-48dc-80f8-3fc883bb28f7" providerId="ADAL" clId="{504CEE9F-A063-4667-A955-4C26DE6D5F39}" dt="2023-03-20T08:34:26.991" v="446" actId="6938"/>
          <pc:sldLayoutMkLst>
            <pc:docMk/>
            <pc:sldMasterMk cId="3048497138" sldId="2147483660"/>
            <pc:sldLayoutMk cId="1492394780" sldId="2147483669"/>
          </pc:sldLayoutMkLst>
        </pc:sldLayoutChg>
        <pc:sldLayoutChg chg="new del replId">
          <pc:chgData name="Majchrzyk Monika" userId="34c61646-1a34-48dc-80f8-3fc883bb28f7" providerId="ADAL" clId="{504CEE9F-A063-4667-A955-4C26DE6D5F39}" dt="2023-03-20T08:34:26.991" v="446" actId="6938"/>
          <pc:sldLayoutMkLst>
            <pc:docMk/>
            <pc:sldMasterMk cId="3048497138" sldId="2147483660"/>
            <pc:sldLayoutMk cId="3710011519" sldId="2147483670"/>
          </pc:sldLayoutMkLst>
        </pc:sldLayoutChg>
        <pc:sldLayoutChg chg="new del replId">
          <pc:chgData name="Majchrzyk Monika" userId="34c61646-1a34-48dc-80f8-3fc883bb28f7" providerId="ADAL" clId="{504CEE9F-A063-4667-A955-4C26DE6D5F39}" dt="2023-03-20T08:34:26.991" v="446" actId="6938"/>
          <pc:sldLayoutMkLst>
            <pc:docMk/>
            <pc:sldMasterMk cId="3048497138" sldId="2147483660"/>
            <pc:sldLayoutMk cId="3480929534" sldId="2147483671"/>
          </pc:sldLayoutMkLst>
        </pc:sldLayoutChg>
      </pc:sldMasterChg>
    </pc:docChg>
  </pc:docChgLst>
  <pc:docChgLst>
    <pc:chgData name="Majchrzyk Monika" userId="34c61646-1a34-48dc-80f8-3fc883bb28f7" providerId="ADAL" clId="{F2862A10-F97E-46A9-9955-6805C92F8B9A}"/>
    <pc:docChg chg="undo custSel modSld">
      <pc:chgData name="Majchrzyk Monika" userId="34c61646-1a34-48dc-80f8-3fc883bb28f7" providerId="ADAL" clId="{F2862A10-F97E-46A9-9955-6805C92F8B9A}" dt="2023-06-15T09:09:27.737" v="90"/>
      <pc:docMkLst>
        <pc:docMk/>
      </pc:docMkLst>
      <pc:sldChg chg="addSp delSp modSp mod">
        <pc:chgData name="Majchrzyk Monika" userId="34c61646-1a34-48dc-80f8-3fc883bb28f7" providerId="ADAL" clId="{F2862A10-F97E-46A9-9955-6805C92F8B9A}" dt="2023-06-15T09:09:27.737" v="90"/>
        <pc:sldMkLst>
          <pc:docMk/>
          <pc:sldMk cId="1396976786" sldId="256"/>
        </pc:sldMkLst>
        <pc:spChg chg="mod">
          <ac:chgData name="Majchrzyk Monika" userId="34c61646-1a34-48dc-80f8-3fc883bb28f7" providerId="ADAL" clId="{F2862A10-F97E-46A9-9955-6805C92F8B9A}" dt="2023-06-15T09:09:27.737" v="90"/>
          <ac:spMkLst>
            <pc:docMk/>
            <pc:sldMk cId="1396976786" sldId="256"/>
            <ac:spMk id="6" creationId="{3CF06F40-6CDD-1882-5D7C-5B212074BC64}"/>
          </ac:spMkLst>
        </pc:spChg>
        <pc:spChg chg="mod">
          <ac:chgData name="Majchrzyk Monika" userId="34c61646-1a34-48dc-80f8-3fc883bb28f7" providerId="ADAL" clId="{F2862A10-F97E-46A9-9955-6805C92F8B9A}" dt="2023-06-15T09:09:27.407" v="89"/>
          <ac:spMkLst>
            <pc:docMk/>
            <pc:sldMk cId="1396976786" sldId="256"/>
            <ac:spMk id="7" creationId="{0CBC331D-8069-B1C8-0B2C-BC64036C1009}"/>
          </ac:spMkLst>
        </pc:spChg>
        <pc:spChg chg="mod">
          <ac:chgData name="Majchrzyk Monika" userId="34c61646-1a34-48dc-80f8-3fc883bb28f7" providerId="ADAL" clId="{F2862A10-F97E-46A9-9955-6805C92F8B9A}" dt="2023-06-15T09:09:27.059" v="88"/>
          <ac:spMkLst>
            <pc:docMk/>
            <pc:sldMk cId="1396976786" sldId="256"/>
            <ac:spMk id="8" creationId="{B6F5D76B-1818-C235-38F9-3C9C21303C79}"/>
          </ac:spMkLst>
        </pc:spChg>
        <pc:spChg chg="mod">
          <ac:chgData name="Majchrzyk Monika" userId="34c61646-1a34-48dc-80f8-3fc883bb28f7" providerId="ADAL" clId="{F2862A10-F97E-46A9-9955-6805C92F8B9A}" dt="2023-06-15T09:09:26.764" v="87"/>
          <ac:spMkLst>
            <pc:docMk/>
            <pc:sldMk cId="1396976786" sldId="256"/>
            <ac:spMk id="10" creationId="{6C22A504-080D-AED3-DD7B-D7F4C7F66CAE}"/>
          </ac:spMkLst>
        </pc:spChg>
        <pc:picChg chg="add mod">
          <ac:chgData name="Majchrzyk Monika" userId="34c61646-1a34-48dc-80f8-3fc883bb28f7" providerId="ADAL" clId="{F2862A10-F97E-46A9-9955-6805C92F8B9A}" dt="2023-06-15T08:58:51.551" v="8" actId="1076"/>
          <ac:picMkLst>
            <pc:docMk/>
            <pc:sldMk cId="1396976786" sldId="256"/>
            <ac:picMk id="3" creationId="{B7FC8B6D-B103-5C00-7EC9-13240A418734}"/>
          </ac:picMkLst>
        </pc:picChg>
        <pc:picChg chg="del">
          <ac:chgData name="Majchrzyk Monika" userId="34c61646-1a34-48dc-80f8-3fc883bb28f7" providerId="ADAL" clId="{F2862A10-F97E-46A9-9955-6805C92F8B9A}" dt="2023-06-15T08:58:41.355" v="5" actId="478"/>
          <ac:picMkLst>
            <pc:docMk/>
            <pc:sldMk cId="1396976786" sldId="256"/>
            <ac:picMk id="4" creationId="{F136669B-BC9B-F1E9-4B47-B61F9D11A8D2}"/>
          </ac:picMkLst>
        </pc:picChg>
      </pc:sldChg>
      <pc:sldChg chg="addSp delSp modSp mod">
        <pc:chgData name="Majchrzyk Monika" userId="34c61646-1a34-48dc-80f8-3fc883bb28f7" providerId="ADAL" clId="{F2862A10-F97E-46A9-9955-6805C92F8B9A}" dt="2023-06-15T08:59:33.780" v="65" actId="1038"/>
        <pc:sldMkLst>
          <pc:docMk/>
          <pc:sldMk cId="2978564845" sldId="257"/>
        </pc:sldMkLst>
        <pc:picChg chg="del">
          <ac:chgData name="Majchrzyk Monika" userId="34c61646-1a34-48dc-80f8-3fc883bb28f7" providerId="ADAL" clId="{F2862A10-F97E-46A9-9955-6805C92F8B9A}" dt="2023-06-15T08:59:07.141" v="49" actId="478"/>
          <ac:picMkLst>
            <pc:docMk/>
            <pc:sldMk cId="2978564845" sldId="257"/>
            <ac:picMk id="3" creationId="{0C973858-235B-FD41-B6C5-9B7074919232}"/>
          </ac:picMkLst>
        </pc:picChg>
        <pc:picChg chg="add mod">
          <ac:chgData name="Majchrzyk Monika" userId="34c61646-1a34-48dc-80f8-3fc883bb28f7" providerId="ADAL" clId="{F2862A10-F97E-46A9-9955-6805C92F8B9A}" dt="2023-06-15T08:59:33.780" v="65" actId="1038"/>
          <ac:picMkLst>
            <pc:docMk/>
            <pc:sldMk cId="2978564845" sldId="257"/>
            <ac:picMk id="4" creationId="{FB556C9B-EF3C-CE33-30D5-4FF03A12E448}"/>
          </ac:picMkLst>
        </pc:picChg>
      </pc:sldChg>
      <pc:sldChg chg="addSp delSp modSp mod">
        <pc:chgData name="Majchrzyk Monika" userId="34c61646-1a34-48dc-80f8-3fc883bb28f7" providerId="ADAL" clId="{F2862A10-F97E-46A9-9955-6805C92F8B9A}" dt="2023-06-15T09:04:45.933" v="80" actId="1076"/>
        <pc:sldMkLst>
          <pc:docMk/>
          <pc:sldMk cId="646872128" sldId="258"/>
        </pc:sldMkLst>
        <pc:picChg chg="del">
          <ac:chgData name="Majchrzyk Monika" userId="34c61646-1a34-48dc-80f8-3fc883bb28f7" providerId="ADAL" clId="{F2862A10-F97E-46A9-9955-6805C92F8B9A}" dt="2023-06-15T08:59:49.800" v="71" actId="478"/>
          <ac:picMkLst>
            <pc:docMk/>
            <pc:sldMk cId="646872128" sldId="258"/>
            <ac:picMk id="2" creationId="{09329A86-0A8A-B356-3B48-883ADD75A011}"/>
          </ac:picMkLst>
        </pc:picChg>
        <pc:picChg chg="add mod">
          <ac:chgData name="Majchrzyk Monika" userId="34c61646-1a34-48dc-80f8-3fc883bb28f7" providerId="ADAL" clId="{F2862A10-F97E-46A9-9955-6805C92F8B9A}" dt="2023-06-15T09:04:45.933" v="80" actId="1076"/>
          <ac:picMkLst>
            <pc:docMk/>
            <pc:sldMk cId="646872128" sldId="258"/>
            <ac:picMk id="4" creationId="{583295B8-9380-5D37-9FB1-07A1D24A2108}"/>
          </ac:picMkLst>
        </pc:picChg>
      </pc:sldChg>
      <pc:sldChg chg="modSp mod">
        <pc:chgData name="Majchrzyk Monika" userId="34c61646-1a34-48dc-80f8-3fc883bb28f7" providerId="ADAL" clId="{F2862A10-F97E-46A9-9955-6805C92F8B9A}" dt="2023-06-15T09:09:26.430" v="86"/>
        <pc:sldMkLst>
          <pc:docMk/>
          <pc:sldMk cId="3385265064" sldId="259"/>
        </pc:sldMkLst>
        <pc:spChg chg="mod">
          <ac:chgData name="Majchrzyk Monika" userId="34c61646-1a34-48dc-80f8-3fc883bb28f7" providerId="ADAL" clId="{F2862A10-F97E-46A9-9955-6805C92F8B9A}" dt="2023-06-15T09:09:26.430" v="86"/>
          <ac:spMkLst>
            <pc:docMk/>
            <pc:sldMk cId="3385265064" sldId="259"/>
            <ac:spMk id="7" creationId="{E29AE5D5-216A-8F8A-666A-883663F0294A}"/>
          </ac:spMkLst>
        </pc:spChg>
      </pc:sldChg>
      <pc:sldChg chg="addSp delSp modSp mod">
        <pc:chgData name="Majchrzyk Monika" userId="34c61646-1a34-48dc-80f8-3fc883bb28f7" providerId="ADAL" clId="{F2862A10-F97E-46A9-9955-6805C92F8B9A}" dt="2023-06-15T08:59:44.156" v="70"/>
        <pc:sldMkLst>
          <pc:docMk/>
          <pc:sldMk cId="1672126401" sldId="260"/>
        </pc:sldMkLst>
        <pc:spChg chg="add mod">
          <ac:chgData name="Majchrzyk Monika" userId="34c61646-1a34-48dc-80f8-3fc883bb28f7" providerId="ADAL" clId="{F2862A10-F97E-46A9-9955-6805C92F8B9A}" dt="2023-06-15T08:59:44.156" v="70"/>
          <ac:spMkLst>
            <pc:docMk/>
            <pc:sldMk cId="1672126401" sldId="260"/>
            <ac:spMk id="7" creationId="{D10A9B8A-0720-36A1-6CC3-2794DB388A39}"/>
          </ac:spMkLst>
        </pc:spChg>
        <pc:spChg chg="add mod">
          <ac:chgData name="Majchrzyk Monika" userId="34c61646-1a34-48dc-80f8-3fc883bb28f7" providerId="ADAL" clId="{F2862A10-F97E-46A9-9955-6805C92F8B9A}" dt="2023-06-15T08:59:44.156" v="70"/>
          <ac:spMkLst>
            <pc:docMk/>
            <pc:sldMk cId="1672126401" sldId="260"/>
            <ac:spMk id="8" creationId="{DCFAE159-0B0F-8544-504A-15AF974ED49E}"/>
          </ac:spMkLst>
        </pc:spChg>
        <pc:spChg chg="del">
          <ac:chgData name="Majchrzyk Monika" userId="34c61646-1a34-48dc-80f8-3fc883bb28f7" providerId="ADAL" clId="{F2862A10-F97E-46A9-9955-6805C92F8B9A}" dt="2023-06-15T08:59:43.194" v="69" actId="478"/>
          <ac:spMkLst>
            <pc:docMk/>
            <pc:sldMk cId="1672126401" sldId="260"/>
            <ac:spMk id="26" creationId="{CB3D808F-1EA9-CE12-04B3-7BDCCF8F3331}"/>
          </ac:spMkLst>
        </pc:spChg>
        <pc:spChg chg="del mod">
          <ac:chgData name="Majchrzyk Monika" userId="34c61646-1a34-48dc-80f8-3fc883bb28f7" providerId="ADAL" clId="{F2862A10-F97E-46A9-9955-6805C92F8B9A}" dt="2023-06-15T08:59:42.680" v="68" actId="478"/>
          <ac:spMkLst>
            <pc:docMk/>
            <pc:sldMk cId="1672126401" sldId="260"/>
            <ac:spMk id="28" creationId="{D2665E53-A6E9-63F0-F602-DA47374D9FBC}"/>
          </ac:spMkLst>
        </pc:spChg>
        <pc:picChg chg="del">
          <ac:chgData name="Majchrzyk Monika" userId="34c61646-1a34-48dc-80f8-3fc883bb28f7" providerId="ADAL" clId="{F2862A10-F97E-46A9-9955-6805C92F8B9A}" dt="2023-06-15T08:59:41.220" v="66" actId="478"/>
          <ac:picMkLst>
            <pc:docMk/>
            <pc:sldMk cId="1672126401" sldId="260"/>
            <ac:picMk id="5" creationId="{F8BB83B6-B260-1023-C0E7-F1E517E3827C}"/>
          </ac:picMkLst>
        </pc:picChg>
        <pc:picChg chg="add mod">
          <ac:chgData name="Majchrzyk Monika" userId="34c61646-1a34-48dc-80f8-3fc883bb28f7" providerId="ADAL" clId="{F2862A10-F97E-46A9-9955-6805C92F8B9A}" dt="2023-06-15T08:59:44.156" v="70"/>
          <ac:picMkLst>
            <pc:docMk/>
            <pc:sldMk cId="1672126401" sldId="260"/>
            <ac:picMk id="9" creationId="{FC666009-64C2-A2E8-8A64-21655C7DA722}"/>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600" b="0">
                <a:solidFill>
                  <a:schemeClr val="bg2">
                    <a:lumMod val="10000"/>
                  </a:schemeClr>
                </a:solidFill>
                <a:latin typeface="+mn-lt"/>
              </a:rPr>
              <a:t>mln pakietów/s na jednym rdzeniu</a:t>
            </a:r>
          </a:p>
        </c:rich>
      </c:tx>
      <c:layout/>
      <c:overlay val="0"/>
    </c:title>
    <c:autoTitleDeleted val="0"/>
    <c:plotArea>
      <c:barChart>
        <c:barDir val="bar"/>
        <c:grouping val="clustered"/>
        <c:varyColors val="0"/>
        <c:ser>
          <c:idx val="0"/>
          <c:order val="0"/>
          <c:tx>
            <c:strRef>
              <c:f>Sheet1!$B$1</c:f>
              <c:strCache>
                <c:ptCount val="1"/>
                <c:pt idx="0">
                  <c:v>mln pakietów/s</c:v>
                </c:pt>
              </c:strCache>
            </c:strRef>
          </c:tx>
          <c:dPt>
            <c:idx val="0"/>
            <c:spPr>
              <a:solidFill>
                <a:schemeClr val="tx2"/>
              </a:solidFill>
            </c:spPr>
          </c:dPt>
          <c:dPt>
            <c:idx val="1"/>
            <c:spPr>
              <a:solidFill>
                <a:schemeClr val="bg2">
                  <a:lumMod val="50000"/>
                </a:schemeClr>
              </a:solidFill>
            </c:spPr>
          </c:dPt>
          <c:dLbls>
            <c:dLbl>
              <c:idx val="0"/>
              <c:tx>
                <c:rich>
                  <a:bodyPr/>
                  <a:lstStyle/>
                  <a:p>
                    <a:r>
                      <a:rPr sz="1600">
                        <a:solidFill>
                          <a:schemeClr val="bg2">
                            <a:lumMod val="10000"/>
                          </a:schemeClr>
                        </a:solidFill>
                        <a:latin typeface="+mn-lt"/>
                      </a:rPr>
                      <a:t>7,2</a:t>
                    </a:r>
                  </a:p>
                </c:rich>
              </c:tx>
              <c:dLblPos val="outEnd"/>
              <c:showLegendKey val="0"/>
              <c:showVal val="1"/>
              <c:showCatName val="0"/>
              <c:showSerName val="0"/>
              <c:showPercent val="0"/>
              <c:showBubbleSize val="0"/>
            </c:dLbl>
            <c:dLbl>
              <c:idx val="1"/>
              <c:tx>
                <c:rich>
                  <a:bodyPr/>
                  <a:lstStyle/>
                  <a:p>
                    <a:r>
                      <a:rPr sz="1600">
                        <a:solidFill>
                          <a:schemeClr val="bg2">
                            <a:lumMod val="10000"/>
                          </a:schemeClr>
                        </a:solidFill>
                        <a:latin typeface="+mn-lt"/>
                      </a:rPr>
                      <a:t>≤ 1,5</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XDP (90% odrzuceń)</c:v>
                </c:pt>
                <c:pt idx="1">
                  <c:v>iptables / nftables</c:v>
                </c:pt>
              </c:strCache>
            </c:strRef>
          </c:cat>
          <c:val>
            <c:numRef>
              <c:f>Sheet1!$B$2:$B$3</c:f>
              <c:numCache>
                <c:formatCode>General</c:formatCode>
                <c:ptCount val="2"/>
                <c:pt idx="0">
                  <c:v>7.2</c:v>
                </c:pt>
                <c:pt idx="1">
                  <c:v>1.5</c:v>
                </c:pt>
              </c:numCache>
            </c:numRef>
          </c:val>
        </c:ser>
        <c:gapWidth val="60"/>
        <c:axId val="-2068027336"/>
        <c:axId val="-2113994440"/>
      </c:barChart>
      <c:catAx>
        <c:axId val="-2068027336"/>
        <c:scaling>
          <c:orientation val="maxMin"/>
        </c:scaling>
        <c:delete val="0"/>
        <c:axPos val="l"/>
        <c:majorTickMark val="out"/>
        <c:minorTickMark val="none"/>
        <c:tickLblPos val="nextTo"/>
        <c:spPr>
          <a:ln>
            <a:noFill/>
          </a:ln>
        </c:spPr>
        <c:txPr>
          <a:bodyPr/>
          <a:lstStyle/>
          <a:p>
            <a:pPr>
              <a:defRPr sz="1400">
                <a:solidFill>
                  <a:schemeClr val="bg2">
                    <a:lumMod val="10000"/>
                  </a:schemeClr>
                </a:solidFill>
                <a:latin typeface="+mn-lt"/>
              </a:defRPr>
            </a:pPr>
          </a:p>
        </c:txPr>
        <c:crossAx val="-2113994440"/>
        <c:crosses val="autoZero"/>
        <c:auto val="1"/>
        <c:lblAlgn val="ctr"/>
        <c:lblOffset val="100"/>
        <c:noMultiLvlLbl val="0"/>
      </c:catAx>
      <c:valAx>
        <c:axId val="-2113994440"/>
        <c:scaling>
          <c:max val="8.5"/>
          <c:min val="0.0"/>
        </c:scaling>
        <c:delete/>
        <c:axPos val="b"/>
        <c:majorTickMark val="out"/>
        <c:minorTickMark val="none"/>
        <c:tickLblPos val="nextTo"/>
        <c:crossAx val="-2068027336"/>
        <c:crosses val="autoZero"/>
      </c:valAx>
    </c:plotArea>
    <c:dispBlanksAs val="gap"/>
  </c:chart>
  <c:txPr>
    <a:bodyPr/>
    <a:lstStyle/>
    <a:p>
      <a:pPr>
        <a:defRPr sz="1400">
          <a:solidFill>
            <a:schemeClr val="bg2">
              <a:lumMod val="10000"/>
            </a:schemeClr>
          </a:solidFill>
          <a:latin typeface="+mn-lt"/>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Dzień dobry. Nazywam się Artur Brogowicz, a temat mojej pracy inżynierskiej brzmi: „Badanie skuteczności i implementacja rozwiązań w obronie przed różnymi technikami ataków DDoS”. W tej prezentacji przedstawię przegląd stanu wiedzy, na którym opiera się projekt mojego systemu. Wystąpienie potrwa około dwudziestu minut, a na końcu chętnie odpowiem na pytania.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Prezentację podzieliłem na cztery części, odpowiadające strukturze przeglądu literatury w pracy. Najpierw omówię taksonomię współczesnych ataków, ze szczególnym uwzględnieniem ataków typu low-and-slow w warstwie aplikacyjnej. Następnie przejdę do filtrowania pakietów w jądrze systemu Linux, czyli technologii eBPF i XDP. Trzecia część dotyczy uczenia maszynowego i modeli sekwencyjnych, a ostatnia — metodyki rzetelnej ewaluacji takich rozwiązań.</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Zacznę od skali zjawiska. Porównanie dziesięciu niezależnych źródeł pomiarowych z lat 2019–2023 pokazuje trend wzrostowy ataków bezpośrednich w czterech z pięciu obserwatoriów, ale też to, że każde źródło widzi inny wycinek populacji ataków. Dlatego rekordy z raportów branżowych, takie jak 3,8 terabita na sekundę czy 201 milionów żądań na sekundę, traktuję jako ilustrację skali, a nie pełny obraz. Ważne dla pracy jest to, że rośnie znaczenie ataków w warstwie aplikacyjnej, które nie polegają wyłącznie na wysyceniu łącza.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Przechodzę do pierwszej części, czyli klasyfikacji współczesnych wektorów ataków. Chcę pokazać, które cechy ataku decydują o tym, czy obrona na poziomie pojedynczego serwera ma szansę zadziałać. Omówię kolejno ataki wolumetryczne, odbiciowe, ataki na stan protokołu oraz ataki w warstwie aplikacyjnej.</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Część druga dotyczy płaszczyzny danych, czyli miejsca, w którym ruch jest faktycznie odrzucany. W moim systemie rolę tę pełni program XDP, dlatego zależało mi na mocnym, zmierzonym uzasadnieniu tego wyboru. Pokażę pomiary wydajności, koszt aktualizacji reguł i przykład wdrożenia przemysłowego.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Część trzecia dotyczy płaszczyzny sterowania, czyli wykrywania ataków. Omówię zarówno modele klasyczne, jak i rekurencyjne, a także to, co literatura mówi o ich ograniczeniach. Szczególną uwagę poświęcę wykrywaniu ataków powolnych i miejscu modelu GRU w moim systemie.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Ostatnia część dotyczy tego, jak rzetelnie oceniać takie systemy. To zagadnienie bezpośrednio wpływa na projekt moich eksperymentów. Omówię najczęstsze błędy metodyczne, problem uogólniania modeli i rolę środowisk testowych.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Tabela porządkuje ataki według zasobu, który wyczerpują, oraz według tego, czy obrońca może przypisać ruch do rzeczywistego źródła. To drugie kryterium jest kluczowe dla obrony na poziomie hosta, bo blokowanie adresów działa tylko wtedy, gdy adres źródłowy należy do atakującego. W atakach odbiciowych źródłami są reflektory, a przy fałszowaniu adresów atrybucja jest niemożliwa. Ostatnia kolumna pokazuje, że dla ataków low-and-slow podstawowym sygnałem nie jest wolumen, lecz stan połączeń.</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 warstwach sieciowej i transportowej klasycznym przykładem jest SYN flood, czyli zalewanie serwera segmentami SYN ze sfałszowanymi adresami, które zapełniają kolejkę połączeń półotwartych. Standardową odpowiedzią są ciasteczka SYN: serwer nie alokuje stanu, tylko koduje go w numerze sekwencyjnym — pięć bitów licznika czasu, trzy bity MSS i dwadzieścia cztery bity skrótu. Ceną jest utrata części opcji TCP, dlatego Linux sięga po ten mechanizm dopiero po przepełnieniu kolejki. Drugi przykład to UDP flood, który według zgodnych raportów branżowych pozostaje dominującą formą ataków wolumetrycznych.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Ataki odbiciowo-wzmacniające wykorzystują sfałszowany adres ofiary i serwery, które odpowiadają znacznie większymi pakietami niż zapytanie, jak otwarte resolwery DNS korzystające z rozszerzenia EDNS(0). Pomiar w dużym punkcie wymiany ruchu pokazał, że 96 procent wykrytych tam ataków było niewidocznych dla honeypotów, co znowu podkreśla ograniczenia pojedynczego punktu obserwacji. Wzmocnienie nie dotyczy tylko UDP: Bock i współautorzy znaleźli ponad 386 tysięcy adresów, które przez urządzenia pośredniczące wzmacniają ruch TCP co najmniej stukrotnie. Najważniejsza konsekwencja dla mojej pracy: przy takich atakach blokowanie adresów źródłowych uderza w reflektory, więc obrona musi działać wcześniej, na przykład przez filtrowanie wejściowe u operatorów.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Ataki typu low-and-slow działają odwrotnie niż zalewanie ruchem: zamiast przeciążać łącze, utrzymują jak najwięcej otwartych, technicznie poprawnych połączeń. Slowloris wysyła niekompletne nagłówki i dosyła kolejne fragmenty tuż przed upływem limitu czasu, a R.U.D.Y. robi to samo z ciałem żądania POST o zawyżonej deklarowanej długości. Slow Read odwraca kierunek: atakujący odbiera odpowiedź bardzo powoli, ogłaszając małe okno TCP. Wszystkie trzy przy minimalnym wolumenie przypominają legalnych użytkowników z wolnym łączem i właśnie dlatego są trudne do wykrycia.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slajd tłumaczy, dlaczego proste progi wolumenu nie wystarczają. Sikora i współautorzy pokazali, że skuteczność powolnych ataków zależy od architektury serwera: Apache uległ wszystkim jedenastu wariantom, a sterowany zdarzeniami Nginx tylko dwóm. Jednocześnie wiele serwerów bardzo długo toleruje niekompletne żądania — w badaniu Tripathiego około połowa serwerów HTTP/2 czekała ponad sześć minut. Limity czasu pomagają tylko wtedy, gdy atakujący przerywa transmisję na dłużej niż limit, a reguły zliczające połączenia łatwo ominąć; Sood i Hubballi zmierzyli około dziesięcioprocentową stratę czułości pojedynczego progu. To bezpośrednio motywuje badane w pracy podejście dwupłaszczyznowe.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HTTP/2 przyniósł dwa nowe rodzaje zagrożeń. Rapid Reset to atak kosztem żądań, a nie atak powolny: w jednym połączeniu atakujący otwiera i natychmiast anuluje kolejne strumienie, więc nie przekracza limitu współbieżności, a serwer wciąż wykonuje kosztowną pracę. Ataki tego typu osiągnęły ponad 201 milionów żądań na sekundę, a skuteczną odpowiedzią okazało się zliczanie resetów w połączeniu i zamykanie go ramką GOAWAY. Z kolei powolne warianty HTTP/2 wymagają nowych metod detekcji, do których wrócę w części o modelach sekwencyjnych.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Najważniejszym punktem odniesienia jest pomiar Scholza i współautorów: filtr XDP oparty na czarnej liście adresów przetwarzał na jednym rdzeniu 7,2 miliona pakietów na sekundę, podczas gdy iptables i nftables osiągały co najwyżej 1,5 miliona. Przewaga wynika z tego, że XDP decyduje o pakiecie, zanim jądro zaalokuje struktury sk_buff. Pomiary zaprezentowane na konferencji Netdev potwierdzają przewagę eBPF, ale pokazują też, że gdy pakiet i tak trafia do stosu, różnica między XDP a TC znika. Zaznaczam uczciwie, że te liczby pochodzą z fizycznej karty 10 GbE, więc w moim środowisku wirtualnym nie należy oczekiwać tych samych wartości bezwzględnych.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Drugie pytanie dotyczy kosztu samego egzekwowania blokad. Dodanie reguły do mapy eBPF trwa kilka mikrosekund, a przegląd 54 prac o zastosowaniach eBPF w bezpieczeństwie wskazuje medianę narzutu na poziomie 2,4 procent CPU. Przemysłowy system L4Drop firmy Cloudflare odrzucał na jednym serwerze ponad 8 milionów pakietów na sekundę. Wniosek dla mojego systemu: czas reakcji wyznacza detekcja, a nie wprowadzenie blokady, przy czym progi trzeba kalibrować ostrożnie — limity liczone ze średniego ruchu odrzucały ponad 80 procent legalnego ruchu urządzenia.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Literatura pokazuje tu dwie rzeczy jednocześnie. Po pierwsze, wysokie wyniki uzyskane na jednym zbiorze danych są mylące: Cantone i współautorzy zmierzyli spadek współczynnika MCC z 83,86 do 14,91 procent po przeniesieniu modelu na inny zbiór. Po drugie, modele klasyczne są wymagającym punktem odniesienia — w badaniu Almaraz-Rivery drzewa decyzyjne były dokładniejsze i około dziesięć razy szybsze od sieci GRU, która bez znaczników czasu traciła ponad trzy punkty procentowe dokładności. Sieci LSTM i GRU mogą modelować zależności czasowe, ale ich koszt wnioskowania jest wyraźnie wyższy, co pokazuje porównanie z lekką siecią konwolucyjną LUCID.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 tym slajdzie zestawiam dwie metody wyspecjalizowane w powolnych atakach. Tripathi buduje model normalnego zachowania wyłącznie z ruchu legalnego, z par kolejnych ramek HTTP/2, i ocenia żądanie po każdej ramce, więc może je zaklasyfikować, zanim się zakończy; uzyskał stuprocentową czułość przy około 1,7 procent fałszywych alarmów. SlowTrack Sooda i Hubballiego łączy osiem parametrów stanu serwera i osiąga czułość 99,92 procent, ale działa w oknach piętnastosekundowych i wskazuje atak na serwer, a nie konkretne adresy. Co ważne, oba podejścia sprawdzono na działającym serwerze uczelnianym, a nie wyłącznie w laboratorium.</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Wspólnym wzorcem w literaturze jest podział na szybką płaszczyznę danych i bardziej złożoną płaszczyznę sterowania. Karrakchou i współautorzy klasyfikują przepływy skwantyzowaną siecią konwolucyjną na przełączniku P4, a przypadki niepewne przekazują do sieci GRU w kontrolerze; wynik F1 około 99,9 procent uzyskano jednak w symulacji przy łączach 1,5 megabita na sekundę. Przegląd zastosowań eBPF pokazuje z kolei, że przez ograniczenia weryfikatora wnioskowanie wewnątrz jądra realizowano tylko w dwóch z jedenastu prac. To uzasadnia architekturę mojego systemu: model działa w przestrzeni użytkownika, a blokady egzekwuje program XDP.</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 tle przeglądu formułuję cztery otwarte kompromisy, które kształtują trwające prace nad modelem GRU w moim systemie. Pierwszy dotyczy jednostki sekwencji: model może analizować zakończone żądania z logów serwera albo zdarzenia obserwowane w trakcie połączenia, a praca Tripathiego wskazuje na zalety tej drugiej opcji przy atakach powolnych. Drugi dotyczy sposobu uczenia, a trzeci kosztu wnioskowania, który dla modeli rekurencyjnych jest o rząd wielkości wyższy niż dla drzew czy sieci konwolucyjnych. Czwarty jest najważniejszy metodycznie: model oceniam względem reguł deterministycznych i musi on wnosić informację, której te reguły nie mają.</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Arp i współautorzy przeanalizowali trzydzieści prac z czołowych konferencji bezpieczeństwa: stronniczość próby występowała w 90 procentach z nich, a podglądanie danych testowych w 73 procentach. W ich studium przypadku prosty detektor oparty na liczbie pakietów pokonał złożony zespół autoenkoderów Kitsune. Cantone i współautorzy pokazali spadek MCC do niecałych piętnastu procent przy przeniesieniu modelu na inny zbiór, a przegląd Goldschmidta i Chudej podkreśla, że łączenie zbiorów z różnych sieci jest błędne z założenia. Z tych prac wynikają zalecenia, które stosuję w ewaluacji: prosty punkt odniesienia, czułość przy niskim odsetku fałszywych alarmów oraz wielokrotne powtórzenia z testami istotności.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Większość prac, także w obszarze eBPF, ewaluowana jest wyłącznie w środowiskach testowych — według przeglądu od 81 do 87 procent. Wzorcem są prace, które łączą laboratorium z ruchem rzeczywistym, jak Tripathi korzystający z ruchu studentów czy SlowTrack testowany przez 48 godzin na serwerze uczelnianym. Do generowania ruchu używa się wyspecjalizowanych narzędzi: generatora powolnych ataków Sikory i współautorów oraz MoonGen dla ruchu o dużej przepływności. W mojej pracy środowisko testowe jest kontrolowane i powtarzalne, a jego ograniczenia względem ruchu rzeczywistego jasno opisuję.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Podsumowując przegląd: filtrowanie w XDP jest dojrzałą i dobrze zmierzoną metodą obrony na poziomie hosta, choć nie chroni przed atakami odbiciowymi ani przed wysyceniem łącza. Ataki low-and-slow wymagają sygnałów opisujących stan połączeń i sekwencje zdarzeń, a otwarte dowody przewagi modeli rekurencyjnych w tym zastosowaniu są nieliczne. Wiarygodna ewaluacja wymaga prostych punktów odniesienia i powtarzalnych eksperymentów. Dlatego mój system łączy egzekwowanie blokad w XDP z deterministycznymi heurystykami i eksperymentalnym modelem GRU, który oceniam względem tych heurystyk.</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 koniec zestawienie najważniejszych źródeł, z numeracją zgodną z bibliografią pracy. Pełna lista obejmuje 53 pozycje, w tym standardy RFC i wyraźnie oznaczone raporty branżowe. Wszystkie liczby przytoczone w prezentacji pochodzą z tych publikacji.</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Dziękuję za uwagę. Chętnie odpowiem na pytania dotyczące przeglądu literatury i tego, jak wpłynął on na projekt systemu. Jeżeli pojawi się pytanie o model GRU, warto podkreślić, że jest on rozwijany jako komponent eksperymentalny i oceniany względem reguł deterministycznych.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2BF6DA1-8065-450D-DD72-26912780E76A}"/>
              </a:ext>
            </a:extLst>
          </p:cNvPr>
          <p:cNvSpPr>
            <a:spLocks noGrp="1"/>
          </p:cNvSpPr>
          <p:nvPr>
            <p:ph type="ctrTitle"/>
          </p:nvPr>
        </p:nvSpPr>
        <p:spPr>
          <a:xfrm>
            <a:off x="1524000" y="1122363"/>
            <a:ext cx="9144000" cy="2387600"/>
          </a:xfrm>
        </p:spPr>
        <p:txBody>
          <a:bodyPr anchor="b"/>
          <a:lstStyle>
            <a:lvl1pPr algn="ctr">
              <a:defRPr sz="6000"/>
            </a:lvl1pPr>
          </a:lstStyle>
          <a:p>
            <a:r>
              <a:rPr lang="pl-PL"/>
              <a:t>Kliknij, aby edytować styl</a:t>
            </a:r>
          </a:p>
        </p:txBody>
      </p:sp>
      <p:sp>
        <p:nvSpPr>
          <p:cNvPr id="3" name="Podtytuł 2">
            <a:extLst>
              <a:ext uri="{FF2B5EF4-FFF2-40B4-BE49-F238E27FC236}">
                <a16:creationId xmlns:a16="http://schemas.microsoft.com/office/drawing/2014/main" id="{61443222-5D8F-3330-9B61-77213BE165F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l-PL"/>
              <a:t>Kliknij, aby edytować styl wzorca podtytułu</a:t>
            </a:r>
          </a:p>
        </p:txBody>
      </p:sp>
      <p:sp>
        <p:nvSpPr>
          <p:cNvPr id="4" name="Symbol zastępczy daty 3">
            <a:extLst>
              <a:ext uri="{FF2B5EF4-FFF2-40B4-BE49-F238E27FC236}">
                <a16:creationId xmlns:a16="http://schemas.microsoft.com/office/drawing/2014/main" id="{A5CC5579-3A55-462C-AB91-DE0A2E1A0D3D}"/>
              </a:ext>
            </a:extLst>
          </p:cNvPr>
          <p:cNvSpPr>
            <a:spLocks noGrp="1"/>
          </p:cNvSpPr>
          <p:nvPr>
            <p:ph type="dt" sz="half" idx="10"/>
          </p:nvPr>
        </p:nvSpPr>
        <p:spPr/>
        <p:txBody>
          <a:bodyPr/>
          <a:lstStyle/>
          <a:p>
            <a:fld id="{D3CB0934-8C48-4B6B-9830-F8B1C8E5331D}" type="datetimeFigureOut">
              <a:rPr lang="pl-PL" smtClean="0"/>
              <a:t>19.06.2023</a:t>
            </a:fld>
            <a:endParaRPr lang="pl-PL"/>
          </a:p>
        </p:txBody>
      </p:sp>
      <p:sp>
        <p:nvSpPr>
          <p:cNvPr id="5" name="Symbol zastępczy stopki 4">
            <a:extLst>
              <a:ext uri="{FF2B5EF4-FFF2-40B4-BE49-F238E27FC236}">
                <a16:creationId xmlns:a16="http://schemas.microsoft.com/office/drawing/2014/main" id="{B1C5B45F-561B-7AFA-E1A9-E30436E66990}"/>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494D9FA9-3BB0-3D9B-598E-54102A892D86}"/>
              </a:ext>
            </a:extLst>
          </p:cNvPr>
          <p:cNvSpPr>
            <a:spLocks noGrp="1"/>
          </p:cNvSpPr>
          <p:nvPr>
            <p:ph type="sldNum" sz="quarter" idx="12"/>
          </p:nvPr>
        </p:nvSpPr>
        <p:spPr/>
        <p:txBody>
          <a:bodyPr/>
          <a:lstStyle/>
          <a:p>
            <a:fld id="{506482EE-12AD-4411-B64F-6A65A02CEA76}" type="slidenum">
              <a:rPr lang="pl-PL" smtClean="0"/>
              <a:t>‹#›</a:t>
            </a:fld>
            <a:endParaRPr lang="pl-PL"/>
          </a:p>
        </p:txBody>
      </p:sp>
    </p:spTree>
    <p:extLst>
      <p:ext uri="{BB962C8B-B14F-4D97-AF65-F5344CB8AC3E}">
        <p14:creationId xmlns:p14="http://schemas.microsoft.com/office/powerpoint/2010/main" val="4747430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0EAD6D02-7A0C-031B-E599-59899212EDB0}"/>
              </a:ext>
            </a:extLst>
          </p:cNvPr>
          <p:cNvSpPr>
            <a:spLocks noGrp="1"/>
          </p:cNvSpPr>
          <p:nvPr>
            <p:ph type="title"/>
          </p:nvPr>
        </p:nvSpPr>
        <p:spPr/>
        <p:txBody>
          <a:bodyPr/>
          <a:lstStyle/>
          <a:p>
            <a:r>
              <a:rPr lang="pl-PL"/>
              <a:t>Kliknij, aby edytować styl</a:t>
            </a:r>
          </a:p>
        </p:txBody>
      </p:sp>
      <p:sp>
        <p:nvSpPr>
          <p:cNvPr id="3" name="Symbol zastępczy zawartości 2">
            <a:extLst>
              <a:ext uri="{FF2B5EF4-FFF2-40B4-BE49-F238E27FC236}">
                <a16:creationId xmlns:a16="http://schemas.microsoft.com/office/drawing/2014/main" id="{2A1FDD79-B65B-30AA-216F-C9814E2F9549}"/>
              </a:ext>
            </a:extLst>
          </p:cNvPr>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5E6F644F-53B6-FB6D-FD8D-741652F913B8}"/>
              </a:ext>
            </a:extLst>
          </p:cNvPr>
          <p:cNvSpPr>
            <a:spLocks noGrp="1"/>
          </p:cNvSpPr>
          <p:nvPr>
            <p:ph type="dt" sz="half" idx="10"/>
          </p:nvPr>
        </p:nvSpPr>
        <p:spPr/>
        <p:txBody>
          <a:bodyPr/>
          <a:lstStyle/>
          <a:p>
            <a:fld id="{D3CB0934-8C48-4B6B-9830-F8B1C8E5331D}" type="datetimeFigureOut">
              <a:rPr lang="pl-PL" smtClean="0"/>
              <a:t>19.06.2023</a:t>
            </a:fld>
            <a:endParaRPr lang="pl-PL"/>
          </a:p>
        </p:txBody>
      </p:sp>
      <p:sp>
        <p:nvSpPr>
          <p:cNvPr id="5" name="Symbol zastępczy stopki 4">
            <a:extLst>
              <a:ext uri="{FF2B5EF4-FFF2-40B4-BE49-F238E27FC236}">
                <a16:creationId xmlns:a16="http://schemas.microsoft.com/office/drawing/2014/main" id="{BDB02686-9D56-3DD5-2A09-2F0AE543CBF0}"/>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775168D6-B850-DE04-8771-33A27DB736B9}"/>
              </a:ext>
            </a:extLst>
          </p:cNvPr>
          <p:cNvSpPr>
            <a:spLocks noGrp="1"/>
          </p:cNvSpPr>
          <p:nvPr>
            <p:ph type="sldNum" sz="quarter" idx="12"/>
          </p:nvPr>
        </p:nvSpPr>
        <p:spPr/>
        <p:txBody>
          <a:bodyPr/>
          <a:lstStyle/>
          <a:p>
            <a:fld id="{506482EE-12AD-4411-B64F-6A65A02CEA76}" type="slidenum">
              <a:rPr lang="pl-PL" smtClean="0"/>
              <a:t>‹#›</a:t>
            </a:fld>
            <a:endParaRPr lang="pl-PL"/>
          </a:p>
        </p:txBody>
      </p:sp>
    </p:spTree>
    <p:extLst>
      <p:ext uri="{BB962C8B-B14F-4D97-AF65-F5344CB8AC3E}">
        <p14:creationId xmlns:p14="http://schemas.microsoft.com/office/powerpoint/2010/main" val="1139625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1B21698-FA6E-79F6-6322-BCC50D8F5357}"/>
              </a:ext>
            </a:extLst>
          </p:cNvPr>
          <p:cNvSpPr>
            <a:spLocks noGrp="1"/>
          </p:cNvSpPr>
          <p:nvPr>
            <p:ph type="title"/>
          </p:nvPr>
        </p:nvSpPr>
        <p:spPr>
          <a:xfrm>
            <a:off x="831850" y="1709738"/>
            <a:ext cx="10515600" cy="2852737"/>
          </a:xfrm>
        </p:spPr>
        <p:txBody>
          <a:bodyPr anchor="b"/>
          <a:lstStyle>
            <a:lvl1pPr>
              <a:defRPr sz="6000"/>
            </a:lvl1pPr>
          </a:lstStyle>
          <a:p>
            <a:r>
              <a:rPr lang="pl-PL"/>
              <a:t>Kliknij, aby edytować styl</a:t>
            </a:r>
          </a:p>
        </p:txBody>
      </p:sp>
      <p:sp>
        <p:nvSpPr>
          <p:cNvPr id="3" name="Symbol zastępczy tekstu 2">
            <a:extLst>
              <a:ext uri="{FF2B5EF4-FFF2-40B4-BE49-F238E27FC236}">
                <a16:creationId xmlns:a16="http://schemas.microsoft.com/office/drawing/2014/main" id="{3E23D11E-6B7D-0C4F-7510-C83D99D40AE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l-PL"/>
              <a:t>Kliknij, aby edytować style wzorca tekstu</a:t>
            </a:r>
          </a:p>
        </p:txBody>
      </p:sp>
      <p:sp>
        <p:nvSpPr>
          <p:cNvPr id="4" name="Symbol zastępczy daty 3">
            <a:extLst>
              <a:ext uri="{FF2B5EF4-FFF2-40B4-BE49-F238E27FC236}">
                <a16:creationId xmlns:a16="http://schemas.microsoft.com/office/drawing/2014/main" id="{EB5EC281-C3B3-0BB1-FC5A-8ACC6322A7D4}"/>
              </a:ext>
            </a:extLst>
          </p:cNvPr>
          <p:cNvSpPr>
            <a:spLocks noGrp="1"/>
          </p:cNvSpPr>
          <p:nvPr>
            <p:ph type="dt" sz="half" idx="10"/>
          </p:nvPr>
        </p:nvSpPr>
        <p:spPr/>
        <p:txBody>
          <a:bodyPr/>
          <a:lstStyle/>
          <a:p>
            <a:fld id="{D3CB0934-8C48-4B6B-9830-F8B1C8E5331D}" type="datetimeFigureOut">
              <a:rPr lang="pl-PL" smtClean="0"/>
              <a:t>19.06.2023</a:t>
            </a:fld>
            <a:endParaRPr lang="pl-PL"/>
          </a:p>
        </p:txBody>
      </p:sp>
      <p:sp>
        <p:nvSpPr>
          <p:cNvPr id="5" name="Symbol zastępczy stopki 4">
            <a:extLst>
              <a:ext uri="{FF2B5EF4-FFF2-40B4-BE49-F238E27FC236}">
                <a16:creationId xmlns:a16="http://schemas.microsoft.com/office/drawing/2014/main" id="{C5A70B5F-C1E4-DF07-7212-44899EAC0268}"/>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D478D1E8-5498-F3CE-C2C0-C204586D565A}"/>
              </a:ext>
            </a:extLst>
          </p:cNvPr>
          <p:cNvSpPr>
            <a:spLocks noGrp="1"/>
          </p:cNvSpPr>
          <p:nvPr>
            <p:ph type="sldNum" sz="quarter" idx="12"/>
          </p:nvPr>
        </p:nvSpPr>
        <p:spPr/>
        <p:txBody>
          <a:bodyPr/>
          <a:lstStyle/>
          <a:p>
            <a:fld id="{506482EE-12AD-4411-B64F-6A65A02CEA76}" type="slidenum">
              <a:rPr lang="pl-PL" smtClean="0"/>
              <a:t>‹#›</a:t>
            </a:fld>
            <a:endParaRPr lang="pl-PL"/>
          </a:p>
        </p:txBody>
      </p:sp>
    </p:spTree>
    <p:extLst>
      <p:ext uri="{BB962C8B-B14F-4D97-AF65-F5344CB8AC3E}">
        <p14:creationId xmlns:p14="http://schemas.microsoft.com/office/powerpoint/2010/main" val="24692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E2B15DF-A3CC-A86B-F766-BE44AE5FE7BE}"/>
              </a:ext>
            </a:extLst>
          </p:cNvPr>
          <p:cNvSpPr>
            <a:spLocks noGrp="1"/>
          </p:cNvSpPr>
          <p:nvPr>
            <p:ph type="title"/>
          </p:nvPr>
        </p:nvSpPr>
        <p:spPr/>
        <p:txBody>
          <a:bodyPr/>
          <a:lstStyle/>
          <a:p>
            <a:r>
              <a:rPr lang="pl-PL"/>
              <a:t>Kliknij, aby edytować styl</a:t>
            </a:r>
          </a:p>
        </p:txBody>
      </p:sp>
      <p:sp>
        <p:nvSpPr>
          <p:cNvPr id="3" name="Symbol zastępczy zawartości 2">
            <a:extLst>
              <a:ext uri="{FF2B5EF4-FFF2-40B4-BE49-F238E27FC236}">
                <a16:creationId xmlns:a16="http://schemas.microsoft.com/office/drawing/2014/main" id="{2BC1BB8A-A11F-8379-EC17-47A52BB86ACB}"/>
              </a:ext>
            </a:extLst>
          </p:cNvPr>
          <p:cNvSpPr>
            <a:spLocks noGrp="1"/>
          </p:cNvSpPr>
          <p:nvPr>
            <p:ph sz="half" idx="1"/>
          </p:nvPr>
        </p:nvSpPr>
        <p:spPr>
          <a:xfrm>
            <a:off x="838200" y="1825625"/>
            <a:ext cx="5181600" cy="435133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zawartości 3">
            <a:extLst>
              <a:ext uri="{FF2B5EF4-FFF2-40B4-BE49-F238E27FC236}">
                <a16:creationId xmlns:a16="http://schemas.microsoft.com/office/drawing/2014/main" id="{CB29B5F0-7FBD-0139-5B0C-504B36E6CED5}"/>
              </a:ext>
            </a:extLst>
          </p:cNvPr>
          <p:cNvSpPr>
            <a:spLocks noGrp="1"/>
          </p:cNvSpPr>
          <p:nvPr>
            <p:ph sz="half" idx="2"/>
          </p:nvPr>
        </p:nvSpPr>
        <p:spPr>
          <a:xfrm>
            <a:off x="6172200" y="1825625"/>
            <a:ext cx="5181600" cy="435133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daty 4">
            <a:extLst>
              <a:ext uri="{FF2B5EF4-FFF2-40B4-BE49-F238E27FC236}">
                <a16:creationId xmlns:a16="http://schemas.microsoft.com/office/drawing/2014/main" id="{39D74ADC-3D3D-D8C0-EF3A-9C12FEF76A8D}"/>
              </a:ext>
            </a:extLst>
          </p:cNvPr>
          <p:cNvSpPr>
            <a:spLocks noGrp="1"/>
          </p:cNvSpPr>
          <p:nvPr>
            <p:ph type="dt" sz="half" idx="10"/>
          </p:nvPr>
        </p:nvSpPr>
        <p:spPr/>
        <p:txBody>
          <a:bodyPr/>
          <a:lstStyle/>
          <a:p>
            <a:fld id="{D3CB0934-8C48-4B6B-9830-F8B1C8E5331D}" type="datetimeFigureOut">
              <a:rPr lang="pl-PL" smtClean="0"/>
              <a:t>19.06.2023</a:t>
            </a:fld>
            <a:endParaRPr lang="pl-PL"/>
          </a:p>
        </p:txBody>
      </p:sp>
      <p:sp>
        <p:nvSpPr>
          <p:cNvPr id="6" name="Symbol zastępczy stopki 5">
            <a:extLst>
              <a:ext uri="{FF2B5EF4-FFF2-40B4-BE49-F238E27FC236}">
                <a16:creationId xmlns:a16="http://schemas.microsoft.com/office/drawing/2014/main" id="{96C4D0E4-BDF1-24E8-C2F7-E095D04D33CF}"/>
              </a:ext>
            </a:extLst>
          </p:cNvPr>
          <p:cNvSpPr>
            <a:spLocks noGrp="1"/>
          </p:cNvSpPr>
          <p:nvPr>
            <p:ph type="ftr" sz="quarter" idx="11"/>
          </p:nvPr>
        </p:nvSpPr>
        <p:spPr/>
        <p:txBody>
          <a:bodyPr/>
          <a:lstStyle/>
          <a:p>
            <a:endParaRPr lang="pl-PL"/>
          </a:p>
        </p:txBody>
      </p:sp>
      <p:sp>
        <p:nvSpPr>
          <p:cNvPr id="7" name="Symbol zastępczy numeru slajdu 6">
            <a:extLst>
              <a:ext uri="{FF2B5EF4-FFF2-40B4-BE49-F238E27FC236}">
                <a16:creationId xmlns:a16="http://schemas.microsoft.com/office/drawing/2014/main" id="{603F09D1-DD57-D265-0B7B-C6F62B1DBBFE}"/>
              </a:ext>
            </a:extLst>
          </p:cNvPr>
          <p:cNvSpPr>
            <a:spLocks noGrp="1"/>
          </p:cNvSpPr>
          <p:nvPr>
            <p:ph type="sldNum" sz="quarter" idx="12"/>
          </p:nvPr>
        </p:nvSpPr>
        <p:spPr/>
        <p:txBody>
          <a:bodyPr/>
          <a:lstStyle/>
          <a:p>
            <a:fld id="{506482EE-12AD-4411-B64F-6A65A02CEA76}" type="slidenum">
              <a:rPr lang="pl-PL" smtClean="0"/>
              <a:t>‹#›</a:t>
            </a:fld>
            <a:endParaRPr lang="pl-PL"/>
          </a:p>
        </p:txBody>
      </p:sp>
    </p:spTree>
    <p:extLst>
      <p:ext uri="{BB962C8B-B14F-4D97-AF65-F5344CB8AC3E}">
        <p14:creationId xmlns:p14="http://schemas.microsoft.com/office/powerpoint/2010/main" val="13449834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8915EA1-D141-FF97-0364-EEC7D09FE3A1}"/>
              </a:ext>
            </a:extLst>
          </p:cNvPr>
          <p:cNvSpPr>
            <a:spLocks noGrp="1"/>
          </p:cNvSpPr>
          <p:nvPr>
            <p:ph type="title"/>
          </p:nvPr>
        </p:nvSpPr>
        <p:spPr>
          <a:xfrm>
            <a:off x="839788" y="365125"/>
            <a:ext cx="10515600" cy="1325563"/>
          </a:xfrm>
        </p:spPr>
        <p:txBody>
          <a:bodyPr/>
          <a:lstStyle/>
          <a:p>
            <a:r>
              <a:rPr lang="pl-PL"/>
              <a:t>Kliknij, aby edytować styl</a:t>
            </a:r>
          </a:p>
        </p:txBody>
      </p:sp>
      <p:sp>
        <p:nvSpPr>
          <p:cNvPr id="3" name="Symbol zastępczy tekstu 2">
            <a:extLst>
              <a:ext uri="{FF2B5EF4-FFF2-40B4-BE49-F238E27FC236}">
                <a16:creationId xmlns:a16="http://schemas.microsoft.com/office/drawing/2014/main" id="{0BD6532E-ADF1-5BA7-3B0B-7B291F3ECE2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 name="Symbol zastępczy zawartości 3">
            <a:extLst>
              <a:ext uri="{FF2B5EF4-FFF2-40B4-BE49-F238E27FC236}">
                <a16:creationId xmlns:a16="http://schemas.microsoft.com/office/drawing/2014/main" id="{54B64E6B-A791-F857-84A0-3D08FED48504}"/>
              </a:ext>
            </a:extLst>
          </p:cNvPr>
          <p:cNvSpPr>
            <a:spLocks noGrp="1"/>
          </p:cNvSpPr>
          <p:nvPr>
            <p:ph sz="half" idx="2"/>
          </p:nvPr>
        </p:nvSpPr>
        <p:spPr>
          <a:xfrm>
            <a:off x="839788" y="2505075"/>
            <a:ext cx="5157787" cy="36845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tekstu 4">
            <a:extLst>
              <a:ext uri="{FF2B5EF4-FFF2-40B4-BE49-F238E27FC236}">
                <a16:creationId xmlns:a16="http://schemas.microsoft.com/office/drawing/2014/main" id="{446244C6-C78A-747B-06B0-171894E839D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6" name="Symbol zastępczy zawartości 5">
            <a:extLst>
              <a:ext uri="{FF2B5EF4-FFF2-40B4-BE49-F238E27FC236}">
                <a16:creationId xmlns:a16="http://schemas.microsoft.com/office/drawing/2014/main" id="{DD764F37-DF82-CA0D-949C-240AADA8C256}"/>
              </a:ext>
            </a:extLst>
          </p:cNvPr>
          <p:cNvSpPr>
            <a:spLocks noGrp="1"/>
          </p:cNvSpPr>
          <p:nvPr>
            <p:ph sz="quarter" idx="4"/>
          </p:nvPr>
        </p:nvSpPr>
        <p:spPr>
          <a:xfrm>
            <a:off x="6172200" y="2505075"/>
            <a:ext cx="5183188" cy="36845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7" name="Symbol zastępczy daty 6">
            <a:extLst>
              <a:ext uri="{FF2B5EF4-FFF2-40B4-BE49-F238E27FC236}">
                <a16:creationId xmlns:a16="http://schemas.microsoft.com/office/drawing/2014/main" id="{5157D3C5-66E0-FEFE-2492-183702509808}"/>
              </a:ext>
            </a:extLst>
          </p:cNvPr>
          <p:cNvSpPr>
            <a:spLocks noGrp="1"/>
          </p:cNvSpPr>
          <p:nvPr>
            <p:ph type="dt" sz="half" idx="10"/>
          </p:nvPr>
        </p:nvSpPr>
        <p:spPr/>
        <p:txBody>
          <a:bodyPr/>
          <a:lstStyle/>
          <a:p>
            <a:fld id="{D3CB0934-8C48-4B6B-9830-F8B1C8E5331D}" type="datetimeFigureOut">
              <a:rPr lang="pl-PL" smtClean="0"/>
              <a:t>19.06.2023</a:t>
            </a:fld>
            <a:endParaRPr lang="pl-PL"/>
          </a:p>
        </p:txBody>
      </p:sp>
      <p:sp>
        <p:nvSpPr>
          <p:cNvPr id="8" name="Symbol zastępczy stopki 7">
            <a:extLst>
              <a:ext uri="{FF2B5EF4-FFF2-40B4-BE49-F238E27FC236}">
                <a16:creationId xmlns:a16="http://schemas.microsoft.com/office/drawing/2014/main" id="{3540397B-B484-B03A-28B1-3D429DD65172}"/>
              </a:ext>
            </a:extLst>
          </p:cNvPr>
          <p:cNvSpPr>
            <a:spLocks noGrp="1"/>
          </p:cNvSpPr>
          <p:nvPr>
            <p:ph type="ftr" sz="quarter" idx="11"/>
          </p:nvPr>
        </p:nvSpPr>
        <p:spPr/>
        <p:txBody>
          <a:bodyPr/>
          <a:lstStyle/>
          <a:p>
            <a:endParaRPr lang="pl-PL"/>
          </a:p>
        </p:txBody>
      </p:sp>
      <p:sp>
        <p:nvSpPr>
          <p:cNvPr id="9" name="Symbol zastępczy numeru slajdu 8">
            <a:extLst>
              <a:ext uri="{FF2B5EF4-FFF2-40B4-BE49-F238E27FC236}">
                <a16:creationId xmlns:a16="http://schemas.microsoft.com/office/drawing/2014/main" id="{9D3F9732-03F7-F6EA-4D67-77F621870F12}"/>
              </a:ext>
            </a:extLst>
          </p:cNvPr>
          <p:cNvSpPr>
            <a:spLocks noGrp="1"/>
          </p:cNvSpPr>
          <p:nvPr>
            <p:ph type="sldNum" sz="quarter" idx="12"/>
          </p:nvPr>
        </p:nvSpPr>
        <p:spPr/>
        <p:txBody>
          <a:bodyPr/>
          <a:lstStyle/>
          <a:p>
            <a:fld id="{506482EE-12AD-4411-B64F-6A65A02CEA76}" type="slidenum">
              <a:rPr lang="pl-PL" smtClean="0"/>
              <a:t>‹#›</a:t>
            </a:fld>
            <a:endParaRPr lang="pl-PL"/>
          </a:p>
        </p:txBody>
      </p:sp>
    </p:spTree>
    <p:extLst>
      <p:ext uri="{BB962C8B-B14F-4D97-AF65-F5344CB8AC3E}">
        <p14:creationId xmlns:p14="http://schemas.microsoft.com/office/powerpoint/2010/main" val="29459741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A6AC7DB-ABB6-9A5E-8452-4EFEFF4C33CC}"/>
              </a:ext>
            </a:extLst>
          </p:cNvPr>
          <p:cNvSpPr>
            <a:spLocks noGrp="1"/>
          </p:cNvSpPr>
          <p:nvPr>
            <p:ph type="title"/>
          </p:nvPr>
        </p:nvSpPr>
        <p:spPr/>
        <p:txBody>
          <a:bodyPr/>
          <a:lstStyle/>
          <a:p>
            <a:r>
              <a:rPr lang="pl-PL"/>
              <a:t>Kliknij, aby edytować styl</a:t>
            </a:r>
          </a:p>
        </p:txBody>
      </p:sp>
      <p:sp>
        <p:nvSpPr>
          <p:cNvPr id="3" name="Symbol zastępczy daty 2">
            <a:extLst>
              <a:ext uri="{FF2B5EF4-FFF2-40B4-BE49-F238E27FC236}">
                <a16:creationId xmlns:a16="http://schemas.microsoft.com/office/drawing/2014/main" id="{BFCF297F-73E8-104A-D2A7-67BFCBCCA1BD}"/>
              </a:ext>
            </a:extLst>
          </p:cNvPr>
          <p:cNvSpPr>
            <a:spLocks noGrp="1"/>
          </p:cNvSpPr>
          <p:nvPr>
            <p:ph type="dt" sz="half" idx="10"/>
          </p:nvPr>
        </p:nvSpPr>
        <p:spPr/>
        <p:txBody>
          <a:bodyPr/>
          <a:lstStyle/>
          <a:p>
            <a:fld id="{D3CB0934-8C48-4B6B-9830-F8B1C8E5331D}" type="datetimeFigureOut">
              <a:rPr lang="pl-PL" smtClean="0"/>
              <a:t>19.06.2023</a:t>
            </a:fld>
            <a:endParaRPr lang="pl-PL"/>
          </a:p>
        </p:txBody>
      </p:sp>
      <p:sp>
        <p:nvSpPr>
          <p:cNvPr id="4" name="Symbol zastępczy stopki 3">
            <a:extLst>
              <a:ext uri="{FF2B5EF4-FFF2-40B4-BE49-F238E27FC236}">
                <a16:creationId xmlns:a16="http://schemas.microsoft.com/office/drawing/2014/main" id="{DAFE7354-A8C3-4EE7-F8A4-F337D9759C91}"/>
              </a:ext>
            </a:extLst>
          </p:cNvPr>
          <p:cNvSpPr>
            <a:spLocks noGrp="1"/>
          </p:cNvSpPr>
          <p:nvPr>
            <p:ph type="ftr" sz="quarter" idx="11"/>
          </p:nvPr>
        </p:nvSpPr>
        <p:spPr/>
        <p:txBody>
          <a:bodyPr/>
          <a:lstStyle/>
          <a:p>
            <a:endParaRPr lang="pl-PL"/>
          </a:p>
        </p:txBody>
      </p:sp>
      <p:sp>
        <p:nvSpPr>
          <p:cNvPr id="5" name="Symbol zastępczy numeru slajdu 4">
            <a:extLst>
              <a:ext uri="{FF2B5EF4-FFF2-40B4-BE49-F238E27FC236}">
                <a16:creationId xmlns:a16="http://schemas.microsoft.com/office/drawing/2014/main" id="{008F7309-3CBD-0250-0D2C-74BF402D066D}"/>
              </a:ext>
            </a:extLst>
          </p:cNvPr>
          <p:cNvSpPr>
            <a:spLocks noGrp="1"/>
          </p:cNvSpPr>
          <p:nvPr>
            <p:ph type="sldNum" sz="quarter" idx="12"/>
          </p:nvPr>
        </p:nvSpPr>
        <p:spPr/>
        <p:txBody>
          <a:bodyPr/>
          <a:lstStyle/>
          <a:p>
            <a:fld id="{506482EE-12AD-4411-B64F-6A65A02CEA76}" type="slidenum">
              <a:rPr lang="pl-PL" smtClean="0"/>
              <a:t>‹#›</a:t>
            </a:fld>
            <a:endParaRPr lang="pl-PL"/>
          </a:p>
        </p:txBody>
      </p:sp>
    </p:spTree>
    <p:extLst>
      <p:ext uri="{BB962C8B-B14F-4D97-AF65-F5344CB8AC3E}">
        <p14:creationId xmlns:p14="http://schemas.microsoft.com/office/powerpoint/2010/main" val="17770077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Symbol zastępczy daty 1">
            <a:extLst>
              <a:ext uri="{FF2B5EF4-FFF2-40B4-BE49-F238E27FC236}">
                <a16:creationId xmlns:a16="http://schemas.microsoft.com/office/drawing/2014/main" id="{B9502E15-C705-AB86-96A8-8CD376CABC05}"/>
              </a:ext>
            </a:extLst>
          </p:cNvPr>
          <p:cNvSpPr>
            <a:spLocks noGrp="1"/>
          </p:cNvSpPr>
          <p:nvPr>
            <p:ph type="dt" sz="half" idx="10"/>
          </p:nvPr>
        </p:nvSpPr>
        <p:spPr/>
        <p:txBody>
          <a:bodyPr/>
          <a:lstStyle/>
          <a:p>
            <a:fld id="{D3CB0934-8C48-4B6B-9830-F8B1C8E5331D}" type="datetimeFigureOut">
              <a:rPr lang="pl-PL" smtClean="0"/>
              <a:t>19.06.2023</a:t>
            </a:fld>
            <a:endParaRPr lang="pl-PL"/>
          </a:p>
        </p:txBody>
      </p:sp>
      <p:sp>
        <p:nvSpPr>
          <p:cNvPr id="3" name="Symbol zastępczy stopki 2">
            <a:extLst>
              <a:ext uri="{FF2B5EF4-FFF2-40B4-BE49-F238E27FC236}">
                <a16:creationId xmlns:a16="http://schemas.microsoft.com/office/drawing/2014/main" id="{FBAF1C45-D3E4-1183-38C9-03F213387D28}"/>
              </a:ext>
            </a:extLst>
          </p:cNvPr>
          <p:cNvSpPr>
            <a:spLocks noGrp="1"/>
          </p:cNvSpPr>
          <p:nvPr>
            <p:ph type="ftr" sz="quarter" idx="11"/>
          </p:nvPr>
        </p:nvSpPr>
        <p:spPr/>
        <p:txBody>
          <a:bodyPr/>
          <a:lstStyle/>
          <a:p>
            <a:endParaRPr lang="pl-PL"/>
          </a:p>
        </p:txBody>
      </p:sp>
      <p:sp>
        <p:nvSpPr>
          <p:cNvPr id="4" name="Symbol zastępczy numeru slajdu 3">
            <a:extLst>
              <a:ext uri="{FF2B5EF4-FFF2-40B4-BE49-F238E27FC236}">
                <a16:creationId xmlns:a16="http://schemas.microsoft.com/office/drawing/2014/main" id="{3881B38F-8A85-9F18-8482-7BEB60F0B25B}"/>
              </a:ext>
            </a:extLst>
          </p:cNvPr>
          <p:cNvSpPr>
            <a:spLocks noGrp="1"/>
          </p:cNvSpPr>
          <p:nvPr>
            <p:ph type="sldNum" sz="quarter" idx="12"/>
          </p:nvPr>
        </p:nvSpPr>
        <p:spPr/>
        <p:txBody>
          <a:bodyPr/>
          <a:lstStyle/>
          <a:p>
            <a:fld id="{506482EE-12AD-4411-B64F-6A65A02CEA76}" type="slidenum">
              <a:rPr lang="pl-PL" smtClean="0"/>
              <a:t>‹#›</a:t>
            </a:fld>
            <a:endParaRPr lang="pl-PL"/>
          </a:p>
        </p:txBody>
      </p:sp>
    </p:spTree>
    <p:extLst>
      <p:ext uri="{BB962C8B-B14F-4D97-AF65-F5344CB8AC3E}">
        <p14:creationId xmlns:p14="http://schemas.microsoft.com/office/powerpoint/2010/main" val="20784637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9CF1C8A-472B-05C8-10F2-F59CD8F5121E}"/>
              </a:ext>
            </a:extLst>
          </p:cNvPr>
          <p:cNvSpPr>
            <a:spLocks noGrp="1"/>
          </p:cNvSpPr>
          <p:nvPr>
            <p:ph type="title"/>
          </p:nvPr>
        </p:nvSpPr>
        <p:spPr>
          <a:xfrm>
            <a:off x="839788" y="457200"/>
            <a:ext cx="3932237" cy="1600200"/>
          </a:xfrm>
        </p:spPr>
        <p:txBody>
          <a:bodyPr anchor="b"/>
          <a:lstStyle>
            <a:lvl1pPr>
              <a:defRPr sz="3200"/>
            </a:lvl1pPr>
          </a:lstStyle>
          <a:p>
            <a:r>
              <a:rPr lang="pl-PL"/>
              <a:t>Kliknij, aby edytować styl</a:t>
            </a:r>
          </a:p>
        </p:txBody>
      </p:sp>
      <p:sp>
        <p:nvSpPr>
          <p:cNvPr id="3" name="Symbol zastępczy zawartości 2">
            <a:extLst>
              <a:ext uri="{FF2B5EF4-FFF2-40B4-BE49-F238E27FC236}">
                <a16:creationId xmlns:a16="http://schemas.microsoft.com/office/drawing/2014/main" id="{0D275AB8-B80A-8541-5D9F-42207CEDBB2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tekstu 3">
            <a:extLst>
              <a:ext uri="{FF2B5EF4-FFF2-40B4-BE49-F238E27FC236}">
                <a16:creationId xmlns:a16="http://schemas.microsoft.com/office/drawing/2014/main" id="{7B448ACE-7617-3076-0487-21FD279A88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Symbol zastępczy daty 4">
            <a:extLst>
              <a:ext uri="{FF2B5EF4-FFF2-40B4-BE49-F238E27FC236}">
                <a16:creationId xmlns:a16="http://schemas.microsoft.com/office/drawing/2014/main" id="{ACFE05A0-A927-822F-2D39-921F29D051C4}"/>
              </a:ext>
            </a:extLst>
          </p:cNvPr>
          <p:cNvSpPr>
            <a:spLocks noGrp="1"/>
          </p:cNvSpPr>
          <p:nvPr>
            <p:ph type="dt" sz="half" idx="10"/>
          </p:nvPr>
        </p:nvSpPr>
        <p:spPr/>
        <p:txBody>
          <a:bodyPr/>
          <a:lstStyle/>
          <a:p>
            <a:fld id="{D3CB0934-8C48-4B6B-9830-F8B1C8E5331D}" type="datetimeFigureOut">
              <a:rPr lang="pl-PL" smtClean="0"/>
              <a:t>19.06.2023</a:t>
            </a:fld>
            <a:endParaRPr lang="pl-PL"/>
          </a:p>
        </p:txBody>
      </p:sp>
      <p:sp>
        <p:nvSpPr>
          <p:cNvPr id="6" name="Symbol zastępczy stopki 5">
            <a:extLst>
              <a:ext uri="{FF2B5EF4-FFF2-40B4-BE49-F238E27FC236}">
                <a16:creationId xmlns:a16="http://schemas.microsoft.com/office/drawing/2014/main" id="{FFA2996D-3BB4-08CB-95D4-E85F27CEAF4A}"/>
              </a:ext>
            </a:extLst>
          </p:cNvPr>
          <p:cNvSpPr>
            <a:spLocks noGrp="1"/>
          </p:cNvSpPr>
          <p:nvPr>
            <p:ph type="ftr" sz="quarter" idx="11"/>
          </p:nvPr>
        </p:nvSpPr>
        <p:spPr/>
        <p:txBody>
          <a:bodyPr/>
          <a:lstStyle/>
          <a:p>
            <a:endParaRPr lang="pl-PL"/>
          </a:p>
        </p:txBody>
      </p:sp>
      <p:sp>
        <p:nvSpPr>
          <p:cNvPr id="7" name="Symbol zastępczy numeru slajdu 6">
            <a:extLst>
              <a:ext uri="{FF2B5EF4-FFF2-40B4-BE49-F238E27FC236}">
                <a16:creationId xmlns:a16="http://schemas.microsoft.com/office/drawing/2014/main" id="{3C27EC9C-1D36-6101-EA3B-1CD80EF932C8}"/>
              </a:ext>
            </a:extLst>
          </p:cNvPr>
          <p:cNvSpPr>
            <a:spLocks noGrp="1"/>
          </p:cNvSpPr>
          <p:nvPr>
            <p:ph type="sldNum" sz="quarter" idx="12"/>
          </p:nvPr>
        </p:nvSpPr>
        <p:spPr/>
        <p:txBody>
          <a:bodyPr/>
          <a:lstStyle/>
          <a:p>
            <a:fld id="{506482EE-12AD-4411-B64F-6A65A02CEA76}" type="slidenum">
              <a:rPr lang="pl-PL" smtClean="0"/>
              <a:t>‹#›</a:t>
            </a:fld>
            <a:endParaRPr lang="pl-PL"/>
          </a:p>
        </p:txBody>
      </p:sp>
    </p:spTree>
    <p:extLst>
      <p:ext uri="{BB962C8B-B14F-4D97-AF65-F5344CB8AC3E}">
        <p14:creationId xmlns:p14="http://schemas.microsoft.com/office/powerpoint/2010/main" val="36391318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49E6E2C-CA9A-A51A-D284-1B22C2E45209}"/>
              </a:ext>
            </a:extLst>
          </p:cNvPr>
          <p:cNvSpPr>
            <a:spLocks noGrp="1"/>
          </p:cNvSpPr>
          <p:nvPr>
            <p:ph type="title"/>
          </p:nvPr>
        </p:nvSpPr>
        <p:spPr>
          <a:xfrm>
            <a:off x="839788" y="457200"/>
            <a:ext cx="3932237" cy="1600200"/>
          </a:xfrm>
        </p:spPr>
        <p:txBody>
          <a:bodyPr anchor="b"/>
          <a:lstStyle>
            <a:lvl1pPr>
              <a:defRPr sz="3200"/>
            </a:lvl1pPr>
          </a:lstStyle>
          <a:p>
            <a:r>
              <a:rPr lang="pl-PL"/>
              <a:t>Kliknij, aby edytować styl</a:t>
            </a:r>
          </a:p>
        </p:txBody>
      </p:sp>
      <p:sp>
        <p:nvSpPr>
          <p:cNvPr id="3" name="Symbol zastępczy obrazu 2">
            <a:extLst>
              <a:ext uri="{FF2B5EF4-FFF2-40B4-BE49-F238E27FC236}">
                <a16:creationId xmlns:a16="http://schemas.microsoft.com/office/drawing/2014/main" id="{943F12ED-D89A-3398-93AF-A85E1D668E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l-PL"/>
          </a:p>
        </p:txBody>
      </p:sp>
      <p:sp>
        <p:nvSpPr>
          <p:cNvPr id="4" name="Symbol zastępczy tekstu 3">
            <a:extLst>
              <a:ext uri="{FF2B5EF4-FFF2-40B4-BE49-F238E27FC236}">
                <a16:creationId xmlns:a16="http://schemas.microsoft.com/office/drawing/2014/main" id="{C59B70C2-598B-E0CC-DF74-B1F10B9AB6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Symbol zastępczy daty 4">
            <a:extLst>
              <a:ext uri="{FF2B5EF4-FFF2-40B4-BE49-F238E27FC236}">
                <a16:creationId xmlns:a16="http://schemas.microsoft.com/office/drawing/2014/main" id="{DCBC85B7-B0D8-0E7C-055E-DE1F3F02584A}"/>
              </a:ext>
            </a:extLst>
          </p:cNvPr>
          <p:cNvSpPr>
            <a:spLocks noGrp="1"/>
          </p:cNvSpPr>
          <p:nvPr>
            <p:ph type="dt" sz="half" idx="10"/>
          </p:nvPr>
        </p:nvSpPr>
        <p:spPr/>
        <p:txBody>
          <a:bodyPr/>
          <a:lstStyle/>
          <a:p>
            <a:fld id="{D3CB0934-8C48-4B6B-9830-F8B1C8E5331D}" type="datetimeFigureOut">
              <a:rPr lang="pl-PL" smtClean="0"/>
              <a:t>19.06.2023</a:t>
            </a:fld>
            <a:endParaRPr lang="pl-PL"/>
          </a:p>
        </p:txBody>
      </p:sp>
      <p:sp>
        <p:nvSpPr>
          <p:cNvPr id="6" name="Symbol zastępczy stopki 5">
            <a:extLst>
              <a:ext uri="{FF2B5EF4-FFF2-40B4-BE49-F238E27FC236}">
                <a16:creationId xmlns:a16="http://schemas.microsoft.com/office/drawing/2014/main" id="{A1DEC2AB-4676-812B-F1A5-1659064F1B38}"/>
              </a:ext>
            </a:extLst>
          </p:cNvPr>
          <p:cNvSpPr>
            <a:spLocks noGrp="1"/>
          </p:cNvSpPr>
          <p:nvPr>
            <p:ph type="ftr" sz="quarter" idx="11"/>
          </p:nvPr>
        </p:nvSpPr>
        <p:spPr/>
        <p:txBody>
          <a:bodyPr/>
          <a:lstStyle/>
          <a:p>
            <a:endParaRPr lang="pl-PL"/>
          </a:p>
        </p:txBody>
      </p:sp>
      <p:sp>
        <p:nvSpPr>
          <p:cNvPr id="7" name="Symbol zastępczy numeru slajdu 6">
            <a:extLst>
              <a:ext uri="{FF2B5EF4-FFF2-40B4-BE49-F238E27FC236}">
                <a16:creationId xmlns:a16="http://schemas.microsoft.com/office/drawing/2014/main" id="{01EAE592-902B-4CD8-D5F6-1B78E9C4A618}"/>
              </a:ext>
            </a:extLst>
          </p:cNvPr>
          <p:cNvSpPr>
            <a:spLocks noGrp="1"/>
          </p:cNvSpPr>
          <p:nvPr>
            <p:ph type="sldNum" sz="quarter" idx="12"/>
          </p:nvPr>
        </p:nvSpPr>
        <p:spPr/>
        <p:txBody>
          <a:bodyPr/>
          <a:lstStyle/>
          <a:p>
            <a:fld id="{506482EE-12AD-4411-B64F-6A65A02CEA76}" type="slidenum">
              <a:rPr lang="pl-PL" smtClean="0"/>
              <a:t>‹#›</a:t>
            </a:fld>
            <a:endParaRPr lang="pl-PL"/>
          </a:p>
        </p:txBody>
      </p:sp>
    </p:spTree>
    <p:extLst>
      <p:ext uri="{BB962C8B-B14F-4D97-AF65-F5344CB8AC3E}">
        <p14:creationId xmlns:p14="http://schemas.microsoft.com/office/powerpoint/2010/main" val="16644117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4D32792-642C-064E-6029-9F169AD41ADC}"/>
              </a:ext>
            </a:extLst>
          </p:cNvPr>
          <p:cNvSpPr>
            <a:spLocks noGrp="1"/>
          </p:cNvSpPr>
          <p:nvPr>
            <p:ph type="title"/>
          </p:nvPr>
        </p:nvSpPr>
        <p:spPr/>
        <p:txBody>
          <a:bodyPr/>
          <a:lstStyle/>
          <a:p>
            <a:r>
              <a:rPr lang="pl-PL"/>
              <a:t>Kliknij, aby edytować styl</a:t>
            </a:r>
          </a:p>
        </p:txBody>
      </p:sp>
      <p:sp>
        <p:nvSpPr>
          <p:cNvPr id="3" name="Symbol zastępczy tytułu pionowego 2">
            <a:extLst>
              <a:ext uri="{FF2B5EF4-FFF2-40B4-BE49-F238E27FC236}">
                <a16:creationId xmlns:a16="http://schemas.microsoft.com/office/drawing/2014/main" id="{388EF2E1-35C4-6993-4D38-2594A1F73DD8}"/>
              </a:ext>
            </a:extLst>
          </p:cNvPr>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976A750D-E2EE-17BB-36AD-7EBC846F9C6A}"/>
              </a:ext>
            </a:extLst>
          </p:cNvPr>
          <p:cNvSpPr>
            <a:spLocks noGrp="1"/>
          </p:cNvSpPr>
          <p:nvPr>
            <p:ph type="dt" sz="half" idx="10"/>
          </p:nvPr>
        </p:nvSpPr>
        <p:spPr/>
        <p:txBody>
          <a:bodyPr/>
          <a:lstStyle/>
          <a:p>
            <a:fld id="{D3CB0934-8C48-4B6B-9830-F8B1C8E5331D}" type="datetimeFigureOut">
              <a:rPr lang="pl-PL" smtClean="0"/>
              <a:t>19.06.2023</a:t>
            </a:fld>
            <a:endParaRPr lang="pl-PL"/>
          </a:p>
        </p:txBody>
      </p:sp>
      <p:sp>
        <p:nvSpPr>
          <p:cNvPr id="5" name="Symbol zastępczy stopki 4">
            <a:extLst>
              <a:ext uri="{FF2B5EF4-FFF2-40B4-BE49-F238E27FC236}">
                <a16:creationId xmlns:a16="http://schemas.microsoft.com/office/drawing/2014/main" id="{D9773DB9-98BB-3623-8BF8-54E066D799D0}"/>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2DE52B14-9A72-2FDB-3E75-B21258CD9F17}"/>
              </a:ext>
            </a:extLst>
          </p:cNvPr>
          <p:cNvSpPr>
            <a:spLocks noGrp="1"/>
          </p:cNvSpPr>
          <p:nvPr>
            <p:ph type="sldNum" sz="quarter" idx="12"/>
          </p:nvPr>
        </p:nvSpPr>
        <p:spPr/>
        <p:txBody>
          <a:bodyPr/>
          <a:lstStyle/>
          <a:p>
            <a:fld id="{506482EE-12AD-4411-B64F-6A65A02CEA76}" type="slidenum">
              <a:rPr lang="pl-PL" smtClean="0"/>
              <a:t>‹#›</a:t>
            </a:fld>
            <a:endParaRPr lang="pl-PL"/>
          </a:p>
        </p:txBody>
      </p:sp>
    </p:spTree>
    <p:extLst>
      <p:ext uri="{BB962C8B-B14F-4D97-AF65-F5344CB8AC3E}">
        <p14:creationId xmlns:p14="http://schemas.microsoft.com/office/powerpoint/2010/main" val="6395984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Tytuł pionowy 1">
            <a:extLst>
              <a:ext uri="{FF2B5EF4-FFF2-40B4-BE49-F238E27FC236}">
                <a16:creationId xmlns:a16="http://schemas.microsoft.com/office/drawing/2014/main" id="{3737036A-5536-1BA6-22E6-F0A0E70C0D20}"/>
              </a:ext>
            </a:extLst>
          </p:cNvPr>
          <p:cNvSpPr>
            <a:spLocks noGrp="1"/>
          </p:cNvSpPr>
          <p:nvPr>
            <p:ph type="title" orient="vert"/>
          </p:nvPr>
        </p:nvSpPr>
        <p:spPr>
          <a:xfrm>
            <a:off x="8724900" y="365125"/>
            <a:ext cx="2628900" cy="5811838"/>
          </a:xfrm>
        </p:spPr>
        <p:txBody>
          <a:bodyPr vert="eaVert"/>
          <a:lstStyle/>
          <a:p>
            <a:r>
              <a:rPr lang="pl-PL"/>
              <a:t>Kliknij, aby edytować styl</a:t>
            </a:r>
          </a:p>
        </p:txBody>
      </p:sp>
      <p:sp>
        <p:nvSpPr>
          <p:cNvPr id="3" name="Symbol zastępczy tytułu pionowego 2">
            <a:extLst>
              <a:ext uri="{FF2B5EF4-FFF2-40B4-BE49-F238E27FC236}">
                <a16:creationId xmlns:a16="http://schemas.microsoft.com/office/drawing/2014/main" id="{853FA8B0-0AD8-778B-8813-59868E08E149}"/>
              </a:ext>
            </a:extLst>
          </p:cNvPr>
          <p:cNvSpPr>
            <a:spLocks noGrp="1"/>
          </p:cNvSpPr>
          <p:nvPr>
            <p:ph type="body" orient="vert" idx="1"/>
          </p:nvPr>
        </p:nvSpPr>
        <p:spPr>
          <a:xfrm>
            <a:off x="838200" y="365125"/>
            <a:ext cx="7734300" cy="5811838"/>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8BE3B72F-AF80-7A37-7D27-227A599F654F}"/>
              </a:ext>
            </a:extLst>
          </p:cNvPr>
          <p:cNvSpPr>
            <a:spLocks noGrp="1"/>
          </p:cNvSpPr>
          <p:nvPr>
            <p:ph type="dt" sz="half" idx="10"/>
          </p:nvPr>
        </p:nvSpPr>
        <p:spPr/>
        <p:txBody>
          <a:bodyPr/>
          <a:lstStyle/>
          <a:p>
            <a:fld id="{D3CB0934-8C48-4B6B-9830-F8B1C8E5331D}" type="datetimeFigureOut">
              <a:rPr lang="pl-PL" smtClean="0"/>
              <a:t>19.06.2023</a:t>
            </a:fld>
            <a:endParaRPr lang="pl-PL"/>
          </a:p>
        </p:txBody>
      </p:sp>
      <p:sp>
        <p:nvSpPr>
          <p:cNvPr id="5" name="Symbol zastępczy stopki 4">
            <a:extLst>
              <a:ext uri="{FF2B5EF4-FFF2-40B4-BE49-F238E27FC236}">
                <a16:creationId xmlns:a16="http://schemas.microsoft.com/office/drawing/2014/main" id="{90FFC0ED-A2E6-D959-017D-C544826C74A4}"/>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9FEA0CE4-1A12-E020-E44B-77D7DE833119}"/>
              </a:ext>
            </a:extLst>
          </p:cNvPr>
          <p:cNvSpPr>
            <a:spLocks noGrp="1"/>
          </p:cNvSpPr>
          <p:nvPr>
            <p:ph type="sldNum" sz="quarter" idx="12"/>
          </p:nvPr>
        </p:nvSpPr>
        <p:spPr/>
        <p:txBody>
          <a:bodyPr/>
          <a:lstStyle/>
          <a:p>
            <a:fld id="{506482EE-12AD-4411-B64F-6A65A02CEA76}" type="slidenum">
              <a:rPr lang="pl-PL" smtClean="0"/>
              <a:t>‹#›</a:t>
            </a:fld>
            <a:endParaRPr lang="pl-PL"/>
          </a:p>
        </p:txBody>
      </p:sp>
    </p:spTree>
    <p:extLst>
      <p:ext uri="{BB962C8B-B14F-4D97-AF65-F5344CB8AC3E}">
        <p14:creationId xmlns:p14="http://schemas.microsoft.com/office/powerpoint/2010/main" val="2874431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Układ niestandardowy">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82C8D0B-04D7-623D-D450-44EC96EDCB5E}"/>
              </a:ext>
            </a:extLst>
          </p:cNvPr>
          <p:cNvSpPr>
            <a:spLocks noGrp="1"/>
          </p:cNvSpPr>
          <p:nvPr>
            <p:ph type="title"/>
          </p:nvPr>
        </p:nvSpPr>
        <p:spPr/>
        <p:txBody>
          <a:bodyPr/>
          <a:lstStyle/>
          <a:p>
            <a:r>
              <a:rPr lang="pl-PL"/>
              <a:t>Kliknij, aby edytować styl</a:t>
            </a:r>
          </a:p>
        </p:txBody>
      </p:sp>
      <p:sp>
        <p:nvSpPr>
          <p:cNvPr id="3" name="Symbol zastępczy daty 2">
            <a:extLst>
              <a:ext uri="{FF2B5EF4-FFF2-40B4-BE49-F238E27FC236}">
                <a16:creationId xmlns:a16="http://schemas.microsoft.com/office/drawing/2014/main" id="{231B636F-5B68-7C31-8D13-96C5ECE1B14F}"/>
              </a:ext>
            </a:extLst>
          </p:cNvPr>
          <p:cNvSpPr>
            <a:spLocks noGrp="1"/>
          </p:cNvSpPr>
          <p:nvPr>
            <p:ph type="dt" sz="half" idx="10"/>
          </p:nvPr>
        </p:nvSpPr>
        <p:spPr/>
        <p:txBody>
          <a:bodyPr/>
          <a:lstStyle/>
          <a:p>
            <a:fld id="{D3CB0934-8C48-4B6B-9830-F8B1C8E5331D}" type="datetimeFigureOut">
              <a:rPr lang="pl-PL" smtClean="0"/>
              <a:t>19.06.2023</a:t>
            </a:fld>
            <a:endParaRPr lang="pl-PL"/>
          </a:p>
        </p:txBody>
      </p:sp>
      <p:sp>
        <p:nvSpPr>
          <p:cNvPr id="4" name="Symbol zastępczy stopki 3">
            <a:extLst>
              <a:ext uri="{FF2B5EF4-FFF2-40B4-BE49-F238E27FC236}">
                <a16:creationId xmlns:a16="http://schemas.microsoft.com/office/drawing/2014/main" id="{DEC1DAE9-5927-C434-3E14-A0F26D4C1329}"/>
              </a:ext>
            </a:extLst>
          </p:cNvPr>
          <p:cNvSpPr>
            <a:spLocks noGrp="1"/>
          </p:cNvSpPr>
          <p:nvPr>
            <p:ph type="ftr" sz="quarter" idx="11"/>
          </p:nvPr>
        </p:nvSpPr>
        <p:spPr/>
        <p:txBody>
          <a:bodyPr/>
          <a:lstStyle/>
          <a:p>
            <a:endParaRPr lang="pl-PL"/>
          </a:p>
        </p:txBody>
      </p:sp>
      <p:sp>
        <p:nvSpPr>
          <p:cNvPr id="5" name="Symbol zastępczy numeru slajdu 4">
            <a:extLst>
              <a:ext uri="{FF2B5EF4-FFF2-40B4-BE49-F238E27FC236}">
                <a16:creationId xmlns:a16="http://schemas.microsoft.com/office/drawing/2014/main" id="{A96892BF-5FBE-3A39-EFCC-B0E8CF9EECCA}"/>
              </a:ext>
            </a:extLst>
          </p:cNvPr>
          <p:cNvSpPr>
            <a:spLocks noGrp="1"/>
          </p:cNvSpPr>
          <p:nvPr>
            <p:ph type="sldNum" sz="quarter" idx="12"/>
          </p:nvPr>
        </p:nvSpPr>
        <p:spPr/>
        <p:txBody>
          <a:bodyPr/>
          <a:lstStyle/>
          <a:p>
            <a:fld id="{506482EE-12AD-4411-B64F-6A65A02CEA76}" type="slidenum">
              <a:rPr lang="pl-PL" smtClean="0"/>
              <a:t>‹#›</a:t>
            </a:fld>
            <a:endParaRPr lang="pl-PL"/>
          </a:p>
        </p:txBody>
      </p:sp>
    </p:spTree>
    <p:extLst>
      <p:ext uri="{BB962C8B-B14F-4D97-AF65-F5344CB8AC3E}">
        <p14:creationId xmlns:p14="http://schemas.microsoft.com/office/powerpoint/2010/main" val="369426751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Symbol zastępczy tytułu 1">
            <a:extLst>
              <a:ext uri="{FF2B5EF4-FFF2-40B4-BE49-F238E27FC236}">
                <a16:creationId xmlns:a16="http://schemas.microsoft.com/office/drawing/2014/main" id="{389FE219-A92A-D1DD-9076-FBF21B1D64B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l-PL"/>
              <a:t>Kliknij, aby edytować styl</a:t>
            </a:r>
          </a:p>
        </p:txBody>
      </p:sp>
      <p:sp>
        <p:nvSpPr>
          <p:cNvPr id="3" name="Symbol zastępczy tekstu 2">
            <a:extLst>
              <a:ext uri="{FF2B5EF4-FFF2-40B4-BE49-F238E27FC236}">
                <a16:creationId xmlns:a16="http://schemas.microsoft.com/office/drawing/2014/main" id="{59E66A74-3559-628B-75EE-E96151D79B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5A1A98AE-73A5-EE15-60CD-020F3F76B8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CB0934-8C48-4B6B-9830-F8B1C8E5331D}" type="datetimeFigureOut">
              <a:rPr lang="pl-PL" smtClean="0"/>
              <a:t>19.06.2023</a:t>
            </a:fld>
            <a:endParaRPr lang="pl-PL"/>
          </a:p>
        </p:txBody>
      </p:sp>
      <p:sp>
        <p:nvSpPr>
          <p:cNvPr id="5" name="Symbol zastępczy stopki 4">
            <a:extLst>
              <a:ext uri="{FF2B5EF4-FFF2-40B4-BE49-F238E27FC236}">
                <a16:creationId xmlns:a16="http://schemas.microsoft.com/office/drawing/2014/main" id="{06AB3D98-D64F-782C-E352-647AA5D65B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l-PL"/>
          </a:p>
        </p:txBody>
      </p:sp>
      <p:sp>
        <p:nvSpPr>
          <p:cNvPr id="6" name="Symbol zastępczy numeru slajdu 5">
            <a:extLst>
              <a:ext uri="{FF2B5EF4-FFF2-40B4-BE49-F238E27FC236}">
                <a16:creationId xmlns:a16="http://schemas.microsoft.com/office/drawing/2014/main" id="{86AD50F8-DF56-FA79-23F0-93B77ABE80E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6482EE-12AD-4411-B64F-6A65A02CEA76}" type="slidenum">
              <a:rPr lang="pl-PL" smtClean="0"/>
              <a:t>‹#›</a:t>
            </a:fld>
            <a:endParaRPr lang="pl-PL"/>
          </a:p>
        </p:txBody>
      </p:sp>
    </p:spTree>
    <p:extLst>
      <p:ext uri="{BB962C8B-B14F-4D97-AF65-F5344CB8AC3E}">
        <p14:creationId xmlns:p14="http://schemas.microsoft.com/office/powerpoint/2010/main" val="3416857014"/>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notesSlide" Target="../notesSlides/notesSlide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chart" Target="../charts/chart1.xml"/><Relationship Id="rId4" Type="http://schemas.openxmlformats.org/officeDocument/2006/relationships/notesSlide" Target="../notesSlides/notesSlide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image" Target="../media/image1.png"/><Relationship Id="rId5" Type="http://schemas.openxmlformats.org/officeDocument/2006/relationships/notesSlide" Target="../notesSlides/notesSlide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image" Target="../media/image1.png"/><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6" name="pole tekstowe 5">
            <a:extLst>
              <a:ext uri="{FF2B5EF4-FFF2-40B4-BE49-F238E27FC236}">
                <a16:creationId xmlns:a16="http://schemas.microsoft.com/office/drawing/2014/main" id="{3CF06F40-6CDD-1882-5D7C-5B212074BC64}"/>
              </a:ext>
            </a:extLst>
          </p:cNvPr>
          <p:cNvSpPr txBox="1"/>
          <p:nvPr/>
        </p:nvSpPr>
        <p:spPr>
          <a:xfrm>
            <a:off x="4991371" y="713296"/>
            <a:ext cx="5699343" cy="646331"/>
          </a:xfrm>
          <a:prstGeom prst="rect">
            <a:avLst/>
          </a:prstGeom>
          <a:noFill/>
        </p:spPr>
        <p:txBody>
          <a:bodyPr wrap="square" rtlCol="0">
            <a:spAutoFit/>
          </a:bodyPr>
          <a:lstStyle/>
          <a:p>
            <a:r>
              <a:rPr lang="pl-PL" dirty="0">
                <a:solidFill>
                  <a:schemeClr val="bg1"/>
                </a:solidFill>
                <a:latin typeface="Source Sans Pro Light" panose="020B0403030403020204" pitchFamily="34" charset="0"/>
                <a:ea typeface="Source Serif Pro" panose="02040603050405020204" pitchFamily="18" charset="0"/>
              </a:rPr>
              <a:t>Wydział Elektroniki i Technik Informacyjnych</a:t>
            </a:r>
          </a:p>
          <a:p>
            <a:r>
              <a:rPr lang="pl-PL" dirty="0">
                <a:solidFill>
                  <a:schemeClr val="bg1"/>
                </a:solidFill>
                <a:ea typeface="Source Serif Pro" panose="02040603050405020204" pitchFamily="18" charset="0"/>
              </a:rPr>
              <a:t>Politechnika Warszawska</a:t>
            </a:r>
          </a:p>
        </p:txBody>
      </p:sp>
      <p:sp>
        <p:nvSpPr>
          <p:cNvPr id="7" name="pole tekstowe 6">
            <a:extLst>
              <a:ext uri="{FF2B5EF4-FFF2-40B4-BE49-F238E27FC236}">
                <a16:creationId xmlns:a16="http://schemas.microsoft.com/office/drawing/2014/main" id="{0CBC331D-8069-B1C8-0B2C-BC64036C1009}"/>
              </a:ext>
            </a:extLst>
          </p:cNvPr>
          <p:cNvSpPr txBox="1"/>
          <p:nvPr/>
        </p:nvSpPr>
        <p:spPr>
          <a:xfrm>
            <a:off x="4991370" y="1950181"/>
            <a:ext cx="5699343" cy="1938992"/>
          </a:xfrm>
          <a:prstGeom prst="rect">
            <a:avLst/>
          </a:prstGeom>
          <a:noFill/>
        </p:spPr>
        <p:txBody>
          <a:bodyPr wrap="square" rtlCol="0">
            <a:spAutoFit/>
          </a:bodyPr>
          <a:lstStyle/>
          <a:p>
            <a:r>
              <a:rPr lang="pl-PL" sz="6000" dirty="0">
                <a:solidFill>
                  <a:schemeClr val="bg1"/>
                </a:solidFill>
                <a:latin typeface="Source Sans Pro Light" panose="020B0403030403020204" pitchFamily="34" charset="0"/>
              </a:rPr>
              <a:t>Obrona przed</a:t>
            </a:r>
          </a:p>
          <a:p>
            <a:r>
              <a:rPr lang="pl-PL" sz="6000" dirty="0">
                <a:solidFill>
                  <a:schemeClr val="bg1"/>
                </a:solidFill>
                <a:latin typeface="Source Sans Pro Light" panose="020B0403030403020204" pitchFamily="34" charset="0"/>
              </a:rPr>
              <a:t>atakami DDoS</a:t>
            </a:r>
          </a:p>
        </p:txBody>
      </p:sp>
      <p:sp>
        <p:nvSpPr>
          <p:cNvPr id="8" name="pole tekstowe 7">
            <a:extLst>
              <a:ext uri="{FF2B5EF4-FFF2-40B4-BE49-F238E27FC236}">
                <a16:creationId xmlns:a16="http://schemas.microsoft.com/office/drawing/2014/main" id="{B6F5D76B-1818-C235-38F9-3C9C21303C79}"/>
              </a:ext>
            </a:extLst>
          </p:cNvPr>
          <p:cNvSpPr txBox="1"/>
          <p:nvPr/>
        </p:nvSpPr>
        <p:spPr>
          <a:xfrm>
            <a:off x="4991369" y="4139774"/>
            <a:ext cx="5699343" cy="400110"/>
          </a:xfrm>
          <a:prstGeom prst="rect">
            <a:avLst/>
          </a:prstGeom>
          <a:noFill/>
        </p:spPr>
        <p:txBody>
          <a:bodyPr wrap="square" rtlCol="0">
            <a:spAutoFit/>
          </a:bodyPr>
          <a:lstStyle/>
          <a:p>
            <a:r>
              <a:rPr lang="pl-PL" sz="2000" dirty="0">
                <a:solidFill>
                  <a:schemeClr val="bg1"/>
                </a:solidFill>
                <a:latin typeface="Source Sans Pro Light" panose="020B0403030403020204" pitchFamily="34" charset="0"/>
              </a:rPr>
              <a:t>Przegląd stanu wiedzy — praca inżynierska</a:t>
            </a:r>
          </a:p>
          <a:p>
            <a:r>
              <a:rPr lang="pl-PL" sz="2000" dirty="0">
                <a:solidFill>
                  <a:schemeClr val="bg1"/>
                </a:solidFill>
                <a:latin typeface="Source Sans Pro Light" panose="020B0403030403020204" pitchFamily="34" charset="0"/>
              </a:rPr>
              <a:t>Artur Brogowicz</a:t>
            </a:r>
          </a:p>
        </p:txBody>
      </p:sp>
      <p:sp>
        <p:nvSpPr>
          <p:cNvPr id="10" name="pole tekstowe 9">
            <a:extLst>
              <a:ext uri="{FF2B5EF4-FFF2-40B4-BE49-F238E27FC236}">
                <a16:creationId xmlns:a16="http://schemas.microsoft.com/office/drawing/2014/main" id="{6C22A504-080D-AED3-DD7B-D7F4C7F66CAE}"/>
              </a:ext>
            </a:extLst>
          </p:cNvPr>
          <p:cNvSpPr txBox="1"/>
          <p:nvPr/>
        </p:nvSpPr>
        <p:spPr>
          <a:xfrm>
            <a:off x="4991371" y="5590706"/>
            <a:ext cx="2351261" cy="369332"/>
          </a:xfrm>
          <a:prstGeom prst="rect">
            <a:avLst/>
          </a:prstGeom>
          <a:noFill/>
        </p:spPr>
        <p:txBody>
          <a:bodyPr wrap="square" rtlCol="0">
            <a:spAutoFit/>
          </a:bodyPr>
          <a:lstStyle/>
          <a:p>
            <a:r>
              <a:rPr lang="pl-PL" dirty="0">
                <a:solidFill>
                  <a:schemeClr val="bg1"/>
                </a:solidFill>
                <a:latin typeface="Source Sans Pro Light" panose="020B0403030403020204" pitchFamily="34" charset="0"/>
              </a:rPr>
              <a:t>Warszawa, 2026</a:t>
            </a:r>
          </a:p>
        </p:txBody>
      </p:sp>
      <p:pic>
        <p:nvPicPr>
          <p:cNvPr id="3" name="Obraz 2" descr="Obraz zawierający linia, design, sztuka, czarne i białe&#10;&#10;Opis wygenerowany automatycznie">
            <a:extLst>
              <a:ext uri="{FF2B5EF4-FFF2-40B4-BE49-F238E27FC236}">
                <a16:creationId xmlns:a16="http://schemas.microsoft.com/office/drawing/2014/main" id="{B7FC8B6D-B103-5C00-7EC9-13240A418734}"/>
              </a:ext>
            </a:extLst>
          </p:cNvPr>
          <p:cNvPicPr>
            <a:picLocks noChangeAspect="1"/>
          </p:cNvPicPr>
          <p:nvPr/>
        </p:nvPicPr>
        <p:blipFill>
          <a:blip r:embed="rId2">
            <a:alphaModFix amt="50000"/>
            <a:extLst>
              <a:ext uri="{28A0092B-C50C-407E-A947-70E740481C1C}">
                <a14:useLocalDpi xmlns:a14="http://schemas.microsoft.com/office/drawing/2010/main" val="0"/>
              </a:ext>
            </a:extLst>
          </a:blip>
          <a:stretch>
            <a:fillRect/>
          </a:stretch>
        </p:blipFill>
        <p:spPr>
          <a:xfrm>
            <a:off x="183792" y="438489"/>
            <a:ext cx="4546741" cy="4584526"/>
          </a:xfrm>
          <a:prstGeom prst="rect">
            <a:avLst/>
          </a:prstGeom>
        </p:spPr>
      </p:pic>
    </p:spTree>
    <p:extLst>
      <p:ext uri="{BB962C8B-B14F-4D97-AF65-F5344CB8AC3E}">
        <p14:creationId xmlns:p14="http://schemas.microsoft.com/office/powerpoint/2010/main" val="13969767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rostokąt 4">
            <a:extLst>
              <a:ext uri="{FF2B5EF4-FFF2-40B4-BE49-F238E27FC236}">
                <a16:creationId xmlns:a16="http://schemas.microsoft.com/office/drawing/2014/main" id="{7CA99EC4-3C2E-53F3-55A5-01E21A2FCB45}"/>
              </a:ext>
            </a:extLst>
          </p:cNvPr>
          <p:cNvSpPr>
            <a:spLocks noGrp="1" noRot="1" noMove="1" noResize="1" noEditPoints="1" noAdjustHandles="1" noChangeArrowheads="1" noChangeShapeType="1"/>
          </p:cNvSpPr>
          <p:nvPr/>
        </p:nvSpPr>
        <p:spPr>
          <a:xfrm>
            <a:off x="0" y="0"/>
            <a:ext cx="12192000" cy="804672"/>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0" name="pole tekstowe 19">
            <a:extLst>
              <a:ext uri="{FF2B5EF4-FFF2-40B4-BE49-F238E27FC236}">
                <a16:creationId xmlns:a16="http://schemas.microsoft.com/office/drawing/2014/main" id="{DA7C4B59-9B8D-C16D-1201-5FC12125EDF7}"/>
              </a:ext>
            </a:extLst>
          </p:cNvPr>
          <p:cNvSpPr txBox="1">
            <a:spLocks noGrp="1" noRot="1" noMove="1" noResize="1" noEditPoints="1" noAdjustHandles="1" noChangeArrowheads="1" noChangeShapeType="1"/>
          </p:cNvSpPr>
          <p:nvPr/>
        </p:nvSpPr>
        <p:spPr>
          <a:xfrm>
            <a:off x="2629588" y="160326"/>
            <a:ext cx="8229600" cy="400110"/>
          </a:xfrm>
          <a:prstGeom prst="rect">
            <a:avLst/>
          </a:prstGeom>
          <a:noFill/>
        </p:spPr>
        <p:txBody>
          <a:bodyPr wrap="square" rtlCol="0">
            <a:spAutoFit/>
          </a:bodyPr>
          <a:lstStyle/>
          <a:p>
            <a:r>
              <a:rPr lang="pl-PL" sz="2000" dirty="0">
                <a:solidFill>
                  <a:schemeClr val="bg1"/>
                </a:solidFill>
                <a:latin typeface="Source Sans Pro Light" panose="020B0403030403020204" pitchFamily="34" charset="0"/>
              </a:rPr>
              <a:t>Obrona przed atakami DDoS — przegląd stanu wiedzy</a:t>
            </a:r>
          </a:p>
        </p:txBody>
      </p:sp>
      <p:pic>
        <p:nvPicPr>
          <p:cNvPr id="4" name="Obraz 3" descr="Obraz zawierający linia, design, sztuka, czarne i białe&#10;&#10;Opis wygenerowany automatycznie">
            <a:extLst>
              <a:ext uri="{FF2B5EF4-FFF2-40B4-BE49-F238E27FC236}">
                <a16:creationId xmlns:a16="http://schemas.microsoft.com/office/drawing/2014/main" id="{FB556C9B-EF3C-CE33-30D5-4FF03A12E4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2866" y="25052"/>
            <a:ext cx="739156" cy="745299"/>
          </a:xfrm>
          <a:prstGeom prst="rect">
            <a:avLst/>
          </a:prstGeom>
        </p:spPr>
      </p:pic>
      <p:sp>
        <p:nvSpPr>
          <p:cNvPr id="21" name="Tytuł 21"/>
          <p:cNvSpPr>
            <a:spLocks noGrp="1"/>
          </p:cNvSpPr>
          <p:nvPr>
            <p:ph type="title"/>
          </p:nvPr>
        </p:nvSpPr>
        <p:spPr>
          <a:xfrm>
            <a:off x="1097280" y="2103120"/>
            <a:ext cx="4937760" cy="1417320"/>
          </a:xfrm>
        </p:spPr>
        <p:txBody>
          <a:bodyPr vert="horz" wrap="square" lIns="91440" tIns="45720" rIns="91440" bIns="45720" anchor="t">
            <a:noAutofit/>
          </a:bodyPr>
          <a:lstStyle/>
          <a:p>
            <a:r>
              <a:rPr lang="pl-PL" sz="4000" dirty="0">
                <a:solidFill>
                  <a:schemeClr val="bg2">
                    <a:lumMod val="10000"/>
                  </a:schemeClr>
                </a:solidFill>
                <a:latin typeface="Source Sans Pro Light" panose="020B0403030403020204" pitchFamily="34" charset="0"/>
              </a:rPr>
              <a:t>Plan</a:t>
            </a:r>
          </a:p>
          <a:p>
            <a:r>
              <a:rPr lang="pl-PL" sz="4000" dirty="0">
                <a:solidFill>
                  <a:schemeClr val="bg2">
                    <a:lumMod val="10000"/>
                  </a:schemeClr>
                </a:solidFill>
                <a:latin typeface="Source Sans Pro Light" panose="020B0403030403020204" pitchFamily="34" charset="0"/>
              </a:rPr>
              <a:t>prezentacji</a:t>
            </a:r>
          </a:p>
        </p:txBody>
      </p:sp>
      <p:sp>
        <p:nvSpPr>
          <p:cNvPr id="22" name="TextBox 21"/>
          <p:cNvSpPr txBox="1"/>
          <p:nvPr/>
        </p:nvSpPr>
        <p:spPr>
          <a:xfrm>
            <a:off x="1097280" y="3611880"/>
            <a:ext cx="4937760" cy="411480"/>
          </a:xfrm>
          <a:prstGeom prst="rect">
            <a:avLst/>
          </a:prstGeom>
          <a:noFill/>
        </p:spPr>
        <p:txBody>
          <a:bodyPr wrap="square" anchor="t">
            <a:noAutofit/>
          </a:bodyPr>
          <a:lstStyle/>
          <a:p>
            <a:pPr algn="l">
              <a:spcBef>
                <a:spcPts val="0"/>
              </a:spcBef>
            </a:pPr>
            <a:r>
              <a:rPr sz="2000" b="0">
                <a:solidFill>
                  <a:schemeClr val="bg2">
                    <a:lumMod val="10000"/>
                  </a:schemeClr>
                </a:solidFill>
              </a:rPr>
              <a:t>CZTERY FILARY PRZEGLĄDU</a:t>
            </a:r>
          </a:p>
        </p:txBody>
      </p:sp>
      <p:sp>
        <p:nvSpPr>
          <p:cNvPr id="23" name="TextBox 22"/>
          <p:cNvSpPr txBox="1"/>
          <p:nvPr/>
        </p:nvSpPr>
        <p:spPr>
          <a:xfrm>
            <a:off x="6446520" y="1207007"/>
            <a:ext cx="548640" cy="731520"/>
          </a:xfrm>
          <a:prstGeom prst="rect">
            <a:avLst/>
          </a:prstGeom>
          <a:noFill/>
        </p:spPr>
        <p:txBody>
          <a:bodyPr wrap="square" anchor="t">
            <a:noAutofit/>
          </a:bodyPr>
          <a:lstStyle/>
          <a:p>
            <a:pPr algn="l">
              <a:spcBef>
                <a:spcPts val="0"/>
              </a:spcBef>
            </a:pPr>
            <a:r>
              <a:rPr sz="4000" b="0">
                <a:solidFill>
                  <a:schemeClr val="tx2"/>
                </a:solidFill>
                <a:latin typeface="Source Sans Pro Light"/>
              </a:rPr>
              <a:t>1</a:t>
            </a:r>
          </a:p>
        </p:txBody>
      </p:sp>
      <p:sp>
        <p:nvSpPr>
          <p:cNvPr id="24" name="TextBox 23"/>
          <p:cNvSpPr txBox="1"/>
          <p:nvPr/>
        </p:nvSpPr>
        <p:spPr>
          <a:xfrm>
            <a:off x="6967728" y="1280160"/>
            <a:ext cx="4206240" cy="411480"/>
          </a:xfrm>
          <a:prstGeom prst="rect">
            <a:avLst/>
          </a:prstGeom>
          <a:noFill/>
        </p:spPr>
        <p:txBody>
          <a:bodyPr wrap="square" anchor="t">
            <a:noAutofit/>
          </a:bodyPr>
          <a:lstStyle/>
          <a:p>
            <a:pPr algn="l">
              <a:spcBef>
                <a:spcPts val="0"/>
              </a:spcBef>
            </a:pPr>
            <a:r>
              <a:rPr sz="2000" b="0">
                <a:solidFill>
                  <a:schemeClr val="bg2">
                    <a:lumMod val="10000"/>
                  </a:schemeClr>
                </a:solidFill>
              </a:rPr>
              <a:t>TAKSONOMIA ATAKÓW</a:t>
            </a:r>
          </a:p>
        </p:txBody>
      </p:sp>
      <p:sp>
        <p:nvSpPr>
          <p:cNvPr id="25" name="TextBox 24"/>
          <p:cNvSpPr txBox="1"/>
          <p:nvPr/>
        </p:nvSpPr>
        <p:spPr>
          <a:xfrm>
            <a:off x="6967728" y="1673351"/>
            <a:ext cx="4206240" cy="685800"/>
          </a:xfrm>
          <a:prstGeom prst="rect">
            <a:avLst/>
          </a:prstGeom>
          <a:noFill/>
        </p:spPr>
        <p:txBody>
          <a:bodyPr wrap="square" anchor="t">
            <a:noAutofit/>
          </a:bodyPr>
          <a:lstStyle/>
          <a:p>
            <a:pPr algn="l">
              <a:spcBef>
                <a:spcPts val="0"/>
              </a:spcBef>
            </a:pPr>
            <a:r>
              <a:rPr sz="1600" b="0">
                <a:solidFill>
                  <a:schemeClr val="bg2">
                    <a:lumMod val="10000"/>
                  </a:schemeClr>
                </a:solidFill>
              </a:rPr>
              <a:t>Ataki wolumetryczne, odbiciowe i na stan protokołu; ataki L7, w tym powolne.</a:t>
            </a:r>
          </a:p>
        </p:txBody>
      </p:sp>
      <p:sp>
        <p:nvSpPr>
          <p:cNvPr id="26" name="TextBox 25"/>
          <p:cNvSpPr txBox="1"/>
          <p:nvPr/>
        </p:nvSpPr>
        <p:spPr>
          <a:xfrm>
            <a:off x="6446520" y="2423160"/>
            <a:ext cx="548640" cy="731520"/>
          </a:xfrm>
          <a:prstGeom prst="rect">
            <a:avLst/>
          </a:prstGeom>
          <a:noFill/>
        </p:spPr>
        <p:txBody>
          <a:bodyPr wrap="square" anchor="t">
            <a:noAutofit/>
          </a:bodyPr>
          <a:lstStyle/>
          <a:p>
            <a:pPr algn="l">
              <a:spcBef>
                <a:spcPts val="0"/>
              </a:spcBef>
            </a:pPr>
            <a:r>
              <a:rPr sz="4000" b="0">
                <a:solidFill>
                  <a:schemeClr val="tx2"/>
                </a:solidFill>
                <a:latin typeface="Source Sans Pro Light"/>
              </a:rPr>
              <a:t>2</a:t>
            </a:r>
          </a:p>
        </p:txBody>
      </p:sp>
      <p:sp>
        <p:nvSpPr>
          <p:cNvPr id="27" name="TextBox 26"/>
          <p:cNvSpPr txBox="1"/>
          <p:nvPr/>
        </p:nvSpPr>
        <p:spPr>
          <a:xfrm>
            <a:off x="6967728" y="2496312"/>
            <a:ext cx="4206240" cy="411480"/>
          </a:xfrm>
          <a:prstGeom prst="rect">
            <a:avLst/>
          </a:prstGeom>
          <a:noFill/>
        </p:spPr>
        <p:txBody>
          <a:bodyPr wrap="square" anchor="t">
            <a:noAutofit/>
          </a:bodyPr>
          <a:lstStyle/>
          <a:p>
            <a:pPr algn="l">
              <a:spcBef>
                <a:spcPts val="0"/>
              </a:spcBef>
            </a:pPr>
            <a:r>
              <a:rPr sz="2000" b="0">
                <a:solidFill>
                  <a:schemeClr val="bg2">
                    <a:lumMod val="10000"/>
                  </a:schemeClr>
                </a:solidFill>
              </a:rPr>
              <a:t>FILTROWANIE W JĄDRZE</a:t>
            </a:r>
          </a:p>
        </p:txBody>
      </p:sp>
      <p:sp>
        <p:nvSpPr>
          <p:cNvPr id="28" name="TextBox 27"/>
          <p:cNvSpPr txBox="1"/>
          <p:nvPr/>
        </p:nvSpPr>
        <p:spPr>
          <a:xfrm>
            <a:off x="6967728" y="2889504"/>
            <a:ext cx="4206240" cy="685800"/>
          </a:xfrm>
          <a:prstGeom prst="rect">
            <a:avLst/>
          </a:prstGeom>
          <a:noFill/>
        </p:spPr>
        <p:txBody>
          <a:bodyPr wrap="square" anchor="t">
            <a:noAutofit/>
          </a:bodyPr>
          <a:lstStyle/>
          <a:p>
            <a:pPr algn="l">
              <a:spcBef>
                <a:spcPts val="0"/>
              </a:spcBef>
            </a:pPr>
            <a:r>
              <a:rPr sz="1600" b="0">
                <a:solidFill>
                  <a:schemeClr val="bg2">
                    <a:lumMod val="10000"/>
                  </a:schemeClr>
                </a:solidFill>
              </a:rPr>
              <a:t>Od Netfilter do eBPF/XDP: wydajność, koszt i wdrożenia przemysłowe.</a:t>
            </a:r>
          </a:p>
        </p:txBody>
      </p:sp>
      <p:sp>
        <p:nvSpPr>
          <p:cNvPr id="29" name="TextBox 28"/>
          <p:cNvSpPr txBox="1"/>
          <p:nvPr/>
        </p:nvSpPr>
        <p:spPr>
          <a:xfrm>
            <a:off x="6446520" y="3639312"/>
            <a:ext cx="548640" cy="731520"/>
          </a:xfrm>
          <a:prstGeom prst="rect">
            <a:avLst/>
          </a:prstGeom>
          <a:noFill/>
        </p:spPr>
        <p:txBody>
          <a:bodyPr wrap="square" anchor="t">
            <a:noAutofit/>
          </a:bodyPr>
          <a:lstStyle/>
          <a:p>
            <a:pPr algn="l">
              <a:spcBef>
                <a:spcPts val="0"/>
              </a:spcBef>
            </a:pPr>
            <a:r>
              <a:rPr sz="4000" b="0">
                <a:solidFill>
                  <a:schemeClr val="tx2"/>
                </a:solidFill>
                <a:latin typeface="Source Sans Pro Light"/>
              </a:rPr>
              <a:t>3</a:t>
            </a:r>
          </a:p>
        </p:txBody>
      </p:sp>
      <p:sp>
        <p:nvSpPr>
          <p:cNvPr id="30" name="TextBox 29"/>
          <p:cNvSpPr txBox="1"/>
          <p:nvPr/>
        </p:nvSpPr>
        <p:spPr>
          <a:xfrm>
            <a:off x="6967728" y="3712464"/>
            <a:ext cx="4206240" cy="411480"/>
          </a:xfrm>
          <a:prstGeom prst="rect">
            <a:avLst/>
          </a:prstGeom>
          <a:noFill/>
        </p:spPr>
        <p:txBody>
          <a:bodyPr wrap="square" anchor="t">
            <a:noAutofit/>
          </a:bodyPr>
          <a:lstStyle/>
          <a:p>
            <a:pPr algn="l">
              <a:spcBef>
                <a:spcPts val="0"/>
              </a:spcBef>
            </a:pPr>
            <a:r>
              <a:rPr sz="2000" b="0">
                <a:solidFill>
                  <a:schemeClr val="bg2">
                    <a:lumMod val="10000"/>
                  </a:schemeClr>
                </a:solidFill>
              </a:rPr>
              <a:t>UCZENIE MASZYNOWE</a:t>
            </a:r>
          </a:p>
        </p:txBody>
      </p:sp>
      <p:sp>
        <p:nvSpPr>
          <p:cNvPr id="31" name="TextBox 30"/>
          <p:cNvSpPr txBox="1"/>
          <p:nvPr/>
        </p:nvSpPr>
        <p:spPr>
          <a:xfrm>
            <a:off x="6967728" y="4105656"/>
            <a:ext cx="4206240" cy="685800"/>
          </a:xfrm>
          <a:prstGeom prst="rect">
            <a:avLst/>
          </a:prstGeom>
          <a:noFill/>
        </p:spPr>
        <p:txBody>
          <a:bodyPr wrap="square" anchor="t">
            <a:noAutofit/>
          </a:bodyPr>
          <a:lstStyle/>
          <a:p>
            <a:pPr algn="l">
              <a:spcBef>
                <a:spcPts val="0"/>
              </a:spcBef>
            </a:pPr>
            <a:r>
              <a:rPr sz="1600" b="0">
                <a:solidFill>
                  <a:schemeClr val="bg2">
                    <a:lumMod val="10000"/>
                  </a:schemeClr>
                </a:solidFill>
              </a:rPr>
              <a:t>Modele klasyczne, rekurencyjne i sekwencje zdarzeń; architektury hybrydowe.</a:t>
            </a:r>
          </a:p>
        </p:txBody>
      </p:sp>
      <p:sp>
        <p:nvSpPr>
          <p:cNvPr id="32" name="TextBox 31"/>
          <p:cNvSpPr txBox="1"/>
          <p:nvPr/>
        </p:nvSpPr>
        <p:spPr>
          <a:xfrm>
            <a:off x="6446520" y="4855464"/>
            <a:ext cx="548640" cy="731520"/>
          </a:xfrm>
          <a:prstGeom prst="rect">
            <a:avLst/>
          </a:prstGeom>
          <a:noFill/>
        </p:spPr>
        <p:txBody>
          <a:bodyPr wrap="square" anchor="t">
            <a:noAutofit/>
          </a:bodyPr>
          <a:lstStyle/>
          <a:p>
            <a:pPr algn="l">
              <a:spcBef>
                <a:spcPts val="0"/>
              </a:spcBef>
            </a:pPr>
            <a:r>
              <a:rPr sz="4000" b="0">
                <a:solidFill>
                  <a:schemeClr val="tx2"/>
                </a:solidFill>
                <a:latin typeface="Source Sans Pro Light"/>
              </a:rPr>
              <a:t>4</a:t>
            </a:r>
          </a:p>
        </p:txBody>
      </p:sp>
      <p:sp>
        <p:nvSpPr>
          <p:cNvPr id="33" name="TextBox 32"/>
          <p:cNvSpPr txBox="1"/>
          <p:nvPr/>
        </p:nvSpPr>
        <p:spPr>
          <a:xfrm>
            <a:off x="6967728" y="4928616"/>
            <a:ext cx="4206240" cy="411480"/>
          </a:xfrm>
          <a:prstGeom prst="rect">
            <a:avLst/>
          </a:prstGeom>
          <a:noFill/>
        </p:spPr>
        <p:txBody>
          <a:bodyPr wrap="square" anchor="t">
            <a:noAutofit/>
          </a:bodyPr>
          <a:lstStyle/>
          <a:p>
            <a:pPr algn="l">
              <a:spcBef>
                <a:spcPts val="0"/>
              </a:spcBef>
            </a:pPr>
            <a:r>
              <a:rPr sz="2000" b="0">
                <a:solidFill>
                  <a:schemeClr val="bg2">
                    <a:lumMod val="10000"/>
                  </a:schemeClr>
                </a:solidFill>
              </a:rPr>
              <a:t>METODYKA EWALUACJI</a:t>
            </a:r>
          </a:p>
        </p:txBody>
      </p:sp>
      <p:sp>
        <p:nvSpPr>
          <p:cNvPr id="34" name="TextBox 33"/>
          <p:cNvSpPr txBox="1"/>
          <p:nvPr/>
        </p:nvSpPr>
        <p:spPr>
          <a:xfrm>
            <a:off x="6967728" y="5321808"/>
            <a:ext cx="4206240" cy="685800"/>
          </a:xfrm>
          <a:prstGeom prst="rect">
            <a:avLst/>
          </a:prstGeom>
          <a:noFill/>
        </p:spPr>
        <p:txBody>
          <a:bodyPr wrap="square" anchor="t">
            <a:noAutofit/>
          </a:bodyPr>
          <a:lstStyle/>
          <a:p>
            <a:pPr algn="l">
              <a:spcBef>
                <a:spcPts val="0"/>
              </a:spcBef>
            </a:pPr>
            <a:r>
              <a:rPr sz="1600" b="0">
                <a:solidFill>
                  <a:schemeClr val="bg2">
                    <a:lumMod val="10000"/>
                  </a:schemeClr>
                </a:solidFill>
              </a:rPr>
              <a:t>Pułapki ML w bezpieczeństwie, zbiory danych i środowiska testowe.</a:t>
            </a:r>
          </a:p>
        </p:txBody>
      </p:sp>
    </p:spTree>
    <p:extLst>
      <p:ext uri="{BB962C8B-B14F-4D97-AF65-F5344CB8AC3E}">
        <p14:creationId xmlns:p14="http://schemas.microsoft.com/office/powerpoint/2010/main" val="29785648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rostokąt 4">
            <a:extLst>
              <a:ext uri="{FF2B5EF4-FFF2-40B4-BE49-F238E27FC236}">
                <a16:creationId xmlns:a16="http://schemas.microsoft.com/office/drawing/2014/main" id="{7CA99EC4-3C2E-53F3-55A5-01E21A2FCB45}"/>
              </a:ext>
            </a:extLst>
          </p:cNvPr>
          <p:cNvSpPr>
            <a:spLocks noGrp="1" noRot="1" noMove="1" noResize="1" noEditPoints="1" noAdjustHandles="1" noChangeArrowheads="1" noChangeShapeType="1"/>
          </p:cNvSpPr>
          <p:nvPr/>
        </p:nvSpPr>
        <p:spPr>
          <a:xfrm>
            <a:off x="0" y="0"/>
            <a:ext cx="12192000" cy="804672"/>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0" name="pole tekstowe 19">
            <a:extLst>
              <a:ext uri="{FF2B5EF4-FFF2-40B4-BE49-F238E27FC236}">
                <a16:creationId xmlns:a16="http://schemas.microsoft.com/office/drawing/2014/main" id="{DA7C4B59-9B8D-C16D-1201-5FC12125EDF7}"/>
              </a:ext>
            </a:extLst>
          </p:cNvPr>
          <p:cNvSpPr txBox="1">
            <a:spLocks noGrp="1" noRot="1" noMove="1" noResize="1" noEditPoints="1" noAdjustHandles="1" noChangeArrowheads="1" noChangeShapeType="1"/>
          </p:cNvSpPr>
          <p:nvPr/>
        </p:nvSpPr>
        <p:spPr>
          <a:xfrm>
            <a:off x="2629588" y="160326"/>
            <a:ext cx="8229600" cy="400110"/>
          </a:xfrm>
          <a:prstGeom prst="rect">
            <a:avLst/>
          </a:prstGeom>
          <a:noFill/>
        </p:spPr>
        <p:txBody>
          <a:bodyPr wrap="square" rtlCol="0">
            <a:spAutoFit/>
          </a:bodyPr>
          <a:lstStyle/>
          <a:p>
            <a:r>
              <a:rPr lang="pl-PL" sz="2000" dirty="0">
                <a:solidFill>
                  <a:schemeClr val="bg1"/>
                </a:solidFill>
                <a:latin typeface="Source Sans Pro Light" panose="020B0403030403020204" pitchFamily="34" charset="0"/>
              </a:rPr>
              <a:t>Obrona przed atakami DDoS — przegląd stanu wiedzy</a:t>
            </a:r>
          </a:p>
        </p:txBody>
      </p:sp>
      <p:pic>
        <p:nvPicPr>
          <p:cNvPr id="4" name="Obraz 3" descr="Obraz zawierający linia, design, sztuka, czarne i białe&#10;&#10;Opis wygenerowany automatycznie">
            <a:extLst>
              <a:ext uri="{FF2B5EF4-FFF2-40B4-BE49-F238E27FC236}">
                <a16:creationId xmlns:a16="http://schemas.microsoft.com/office/drawing/2014/main" id="{FB556C9B-EF3C-CE33-30D5-4FF03A12E4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2866" y="25052"/>
            <a:ext cx="739156" cy="745299"/>
          </a:xfrm>
          <a:prstGeom prst="rect">
            <a:avLst/>
          </a:prstGeom>
        </p:spPr>
      </p:pic>
      <p:sp>
        <p:nvSpPr>
          <p:cNvPr id="21" name="Tytuł 21"/>
          <p:cNvSpPr>
            <a:spLocks noGrp="1"/>
          </p:cNvSpPr>
          <p:nvPr>
            <p:ph type="title"/>
          </p:nvPr>
        </p:nvSpPr>
        <p:spPr>
          <a:xfrm>
            <a:off x="1097280" y="987552"/>
            <a:ext cx="9994392" cy="777240"/>
          </a:xfrm>
        </p:spPr>
        <p:txBody>
          <a:bodyPr vert="horz" wrap="square" lIns="91440" tIns="45720" rIns="91440" bIns="45720" anchor="t">
            <a:noAutofit/>
          </a:bodyPr>
          <a:lstStyle/>
          <a:p>
            <a:r>
              <a:rPr lang="pl-PL" sz="3600" dirty="0">
                <a:solidFill>
                  <a:schemeClr val="bg2">
                    <a:lumMod val="10000"/>
                  </a:schemeClr>
                </a:solidFill>
                <a:latin typeface="Source Sans Pro Light" panose="020B0403030403020204" pitchFamily="34" charset="0"/>
              </a:rPr>
              <a:t>Skala i trendy ataków DDoS</a:t>
            </a:r>
          </a:p>
        </p:txBody>
      </p:sp>
      <p:sp>
        <p:nvSpPr>
          <p:cNvPr id="22" name="TextBox 21"/>
          <p:cNvSpPr txBox="1"/>
          <p:nvPr/>
        </p:nvSpPr>
        <p:spPr>
          <a:xfrm>
            <a:off x="1097280" y="1874519"/>
            <a:ext cx="5120640" cy="411480"/>
          </a:xfrm>
          <a:prstGeom prst="rect">
            <a:avLst/>
          </a:prstGeom>
          <a:noFill/>
        </p:spPr>
        <p:txBody>
          <a:bodyPr wrap="square" anchor="t">
            <a:noAutofit/>
          </a:bodyPr>
          <a:lstStyle/>
          <a:p>
            <a:pPr algn="l">
              <a:spcBef>
                <a:spcPts val="0"/>
              </a:spcBef>
            </a:pPr>
            <a:r>
              <a:rPr sz="2000" b="0">
                <a:solidFill>
                  <a:schemeClr val="bg2">
                    <a:lumMod val="10000"/>
                  </a:schemeClr>
                </a:solidFill>
              </a:rPr>
              <a:t>POMIARY AKADEMICKIE (2019–2023)</a:t>
            </a:r>
          </a:p>
        </p:txBody>
      </p:sp>
      <p:sp>
        <p:nvSpPr>
          <p:cNvPr id="23" name="TextBox 22"/>
          <p:cNvSpPr txBox="1"/>
          <p:nvPr/>
        </p:nvSpPr>
        <p:spPr>
          <a:xfrm>
            <a:off x="1097280" y="2331720"/>
            <a:ext cx="5120640" cy="3566160"/>
          </a:xfrm>
          <a:prstGeom prst="rect">
            <a:avLst/>
          </a:prstGeom>
          <a:noFill/>
        </p:spPr>
        <p:txBody>
          <a:bodyPr wrap="square" anchor="t">
            <a:noAutofit/>
          </a:bodyPr>
          <a:lstStyle/>
          <a:p>
            <a:pPr algn="l" marL="256032" indent="-256032">
              <a:spcBef>
                <a:spcPts val="0"/>
              </a:spcBef>
              <a:buClr>
                <a:schemeClr val="tx2"/>
              </a:buClr>
              <a:buFont typeface="Arial"/>
              <a:buChar char="•"/>
            </a:pPr>
            <a:r>
              <a:rPr sz="1600" b="1">
                <a:solidFill>
                  <a:schemeClr val="bg2">
                    <a:lumMod val="10000"/>
                  </a:schemeClr>
                </a:solidFill>
              </a:rPr>
              <a:t>Trend wzrostowy: </a:t>
            </a:r>
            <a:r>
              <a:rPr sz="1600" b="0">
                <a:solidFill>
                  <a:schemeClr val="bg2">
                    <a:lumMod val="10000"/>
                  </a:schemeClr>
                </a:solidFill>
              </a:rPr>
              <a:t>ataki bezpośrednie rosną w 4 z 5 obserwatoriów.</a:t>
            </a:r>
          </a:p>
          <a:p>
            <a:pPr algn="l" marL="256032" indent="-256032">
              <a:spcBef>
                <a:spcPts val="1000"/>
              </a:spcBef>
              <a:buClr>
                <a:schemeClr val="tx2"/>
              </a:buClr>
              <a:buFont typeface="Arial"/>
              <a:buChar char="•"/>
            </a:pPr>
            <a:r>
              <a:rPr sz="1600" b="1">
                <a:solidFill>
                  <a:schemeClr val="bg2">
                    <a:lumMod val="10000"/>
                  </a:schemeClr>
                </a:solidFill>
              </a:rPr>
              <a:t>Rozbieżne obrazy: </a:t>
            </a:r>
            <a:r>
              <a:rPr sz="1600" b="0">
                <a:solidFill>
                  <a:schemeClr val="bg2">
                    <a:lumMod val="10000"/>
                  </a:schemeClr>
                </a:solidFill>
              </a:rPr>
              <a:t>dziesięć źródeł pomiarowych widzi różne wycinki populacji ataków.</a:t>
            </a:r>
          </a:p>
          <a:p>
            <a:pPr algn="l" marL="256032" indent="-256032">
              <a:spcBef>
                <a:spcPts val="1000"/>
              </a:spcBef>
              <a:buClr>
                <a:schemeClr val="tx2"/>
              </a:buClr>
              <a:buFont typeface="Arial"/>
              <a:buChar char="•"/>
            </a:pPr>
            <a:r>
              <a:rPr sz="1600" b="1">
                <a:solidFill>
                  <a:schemeClr val="bg2">
                    <a:lumMod val="10000"/>
                  </a:schemeClr>
                </a:solidFill>
              </a:rPr>
              <a:t>Warstwa aplikacyjna: </a:t>
            </a:r>
            <a:r>
              <a:rPr sz="1600" b="0">
                <a:solidFill>
                  <a:schemeClr val="bg2">
                    <a:lumMod val="10000"/>
                  </a:schemeClr>
                </a:solidFill>
              </a:rPr>
              <a:t>raporty branżowe sygnalizują wzrost liczby ataków L7.</a:t>
            </a:r>
          </a:p>
          <a:p>
            <a:pPr algn="l" marL="256032" indent="-256032">
              <a:spcBef>
                <a:spcPts val="1000"/>
              </a:spcBef>
              <a:buClr>
                <a:schemeClr val="tx2"/>
              </a:buClr>
              <a:buFont typeface="Arial"/>
              <a:buChar char="•"/>
            </a:pPr>
            <a:r>
              <a:rPr sz="1600" b="1">
                <a:solidFill>
                  <a:schemeClr val="bg2">
                    <a:lumMod val="10000"/>
                  </a:schemeClr>
                </a:solidFill>
              </a:rPr>
              <a:t>Wniosek: </a:t>
            </a:r>
            <a:r>
              <a:rPr sz="1600" b="0">
                <a:solidFill>
                  <a:schemeClr val="bg2">
                    <a:lumMod val="10000"/>
                  </a:schemeClr>
                </a:solidFill>
              </a:rPr>
              <a:t>liczby z jednego źródła to ilustracja skali, a nie pełny obraz.</a:t>
            </a:r>
          </a:p>
        </p:txBody>
      </p:sp>
      <p:sp>
        <p:nvSpPr>
          <p:cNvPr id="24" name="TextBox 23"/>
          <p:cNvSpPr txBox="1"/>
          <p:nvPr/>
        </p:nvSpPr>
        <p:spPr>
          <a:xfrm>
            <a:off x="6629400" y="1874519"/>
            <a:ext cx="4480560" cy="411480"/>
          </a:xfrm>
          <a:prstGeom prst="rect">
            <a:avLst/>
          </a:prstGeom>
          <a:noFill/>
        </p:spPr>
        <p:txBody>
          <a:bodyPr wrap="square" anchor="t">
            <a:noAutofit/>
          </a:bodyPr>
          <a:lstStyle/>
          <a:p>
            <a:pPr algn="l">
              <a:spcBef>
                <a:spcPts val="0"/>
              </a:spcBef>
            </a:pPr>
            <a:r>
              <a:rPr sz="2000" b="0">
                <a:solidFill>
                  <a:schemeClr val="bg2">
                    <a:lumMod val="10000"/>
                  </a:schemeClr>
                </a:solidFill>
              </a:rPr>
              <a:t>REKORDY Z RAPORTÓW BRANŻOWYCH</a:t>
            </a:r>
          </a:p>
        </p:txBody>
      </p:sp>
      <p:sp>
        <p:nvSpPr>
          <p:cNvPr id="25" name="TextBox 24"/>
          <p:cNvSpPr txBox="1"/>
          <p:nvPr/>
        </p:nvSpPr>
        <p:spPr>
          <a:xfrm>
            <a:off x="6629400" y="2331720"/>
            <a:ext cx="4480560" cy="685800"/>
          </a:xfrm>
          <a:prstGeom prst="rect">
            <a:avLst/>
          </a:prstGeom>
          <a:noFill/>
        </p:spPr>
        <p:txBody>
          <a:bodyPr wrap="square" anchor="t">
            <a:noAutofit/>
          </a:bodyPr>
          <a:lstStyle/>
          <a:p>
            <a:pPr algn="l">
              <a:spcBef>
                <a:spcPts val="0"/>
              </a:spcBef>
            </a:pPr>
            <a:r>
              <a:rPr sz="3600" b="0">
                <a:solidFill>
                  <a:schemeClr val="tx2"/>
                </a:solidFill>
                <a:latin typeface="Source Sans Pro Light"/>
              </a:rPr>
              <a:t>3,8 Tbps</a:t>
            </a:r>
          </a:p>
        </p:txBody>
      </p:sp>
      <p:sp>
        <p:nvSpPr>
          <p:cNvPr id="26" name="TextBox 25"/>
          <p:cNvSpPr txBox="1"/>
          <p:nvPr/>
        </p:nvSpPr>
        <p:spPr>
          <a:xfrm>
            <a:off x="6629400" y="2990087"/>
            <a:ext cx="4480560" cy="457200"/>
          </a:xfrm>
          <a:prstGeom prst="rect">
            <a:avLst/>
          </a:prstGeom>
          <a:noFill/>
        </p:spPr>
        <p:txBody>
          <a:bodyPr wrap="square" anchor="t">
            <a:noAutofit/>
          </a:bodyPr>
          <a:lstStyle/>
          <a:p>
            <a:pPr algn="l">
              <a:spcBef>
                <a:spcPts val="0"/>
              </a:spcBef>
            </a:pPr>
            <a:r>
              <a:rPr sz="1600" b="0">
                <a:solidFill>
                  <a:schemeClr val="bg2">
                    <a:lumMod val="10000"/>
                  </a:schemeClr>
                </a:solidFill>
              </a:rPr>
              <a:t>największy odparty atak wolumetryczny</a:t>
            </a:r>
          </a:p>
        </p:txBody>
      </p:sp>
      <p:sp>
        <p:nvSpPr>
          <p:cNvPr id="27" name="TextBox 26"/>
          <p:cNvSpPr txBox="1"/>
          <p:nvPr/>
        </p:nvSpPr>
        <p:spPr>
          <a:xfrm>
            <a:off x="6629400" y="3611879"/>
            <a:ext cx="4480560" cy="685800"/>
          </a:xfrm>
          <a:prstGeom prst="rect">
            <a:avLst/>
          </a:prstGeom>
          <a:noFill/>
        </p:spPr>
        <p:txBody>
          <a:bodyPr wrap="square" anchor="t">
            <a:noAutofit/>
          </a:bodyPr>
          <a:lstStyle/>
          <a:p>
            <a:pPr algn="l">
              <a:spcBef>
                <a:spcPts val="0"/>
              </a:spcBef>
            </a:pPr>
            <a:r>
              <a:rPr sz="3600" b="0">
                <a:solidFill>
                  <a:schemeClr val="tx2"/>
                </a:solidFill>
                <a:latin typeface="Source Sans Pro Light"/>
              </a:rPr>
              <a:t>2,14 mld pps</a:t>
            </a:r>
          </a:p>
        </p:txBody>
      </p:sp>
      <p:sp>
        <p:nvSpPr>
          <p:cNvPr id="28" name="TextBox 27"/>
          <p:cNvSpPr txBox="1"/>
          <p:nvPr/>
        </p:nvSpPr>
        <p:spPr>
          <a:xfrm>
            <a:off x="6629400" y="4270248"/>
            <a:ext cx="4480560" cy="457200"/>
          </a:xfrm>
          <a:prstGeom prst="rect">
            <a:avLst/>
          </a:prstGeom>
          <a:noFill/>
        </p:spPr>
        <p:txBody>
          <a:bodyPr wrap="square" anchor="t">
            <a:noAutofit/>
          </a:bodyPr>
          <a:lstStyle/>
          <a:p>
            <a:pPr algn="l">
              <a:spcBef>
                <a:spcPts val="0"/>
              </a:spcBef>
            </a:pPr>
            <a:r>
              <a:rPr sz="1600" b="0">
                <a:solidFill>
                  <a:schemeClr val="bg2">
                    <a:lumMod val="10000"/>
                  </a:schemeClr>
                </a:solidFill>
              </a:rPr>
              <a:t>szczyt liczby pakietów na sekundę</a:t>
            </a:r>
          </a:p>
        </p:txBody>
      </p:sp>
      <p:sp>
        <p:nvSpPr>
          <p:cNvPr id="29" name="TextBox 28"/>
          <p:cNvSpPr txBox="1"/>
          <p:nvPr/>
        </p:nvSpPr>
        <p:spPr>
          <a:xfrm>
            <a:off x="6629400" y="4892040"/>
            <a:ext cx="4480560" cy="685800"/>
          </a:xfrm>
          <a:prstGeom prst="rect">
            <a:avLst/>
          </a:prstGeom>
          <a:noFill/>
        </p:spPr>
        <p:txBody>
          <a:bodyPr wrap="square" anchor="t">
            <a:noAutofit/>
          </a:bodyPr>
          <a:lstStyle/>
          <a:p>
            <a:pPr algn="l">
              <a:spcBef>
                <a:spcPts val="0"/>
              </a:spcBef>
            </a:pPr>
            <a:r>
              <a:rPr sz="3600" b="0">
                <a:solidFill>
                  <a:schemeClr val="tx2"/>
                </a:solidFill>
                <a:latin typeface="Source Sans Pro Light"/>
              </a:rPr>
              <a:t>201 mln</a:t>
            </a:r>
          </a:p>
        </p:txBody>
      </p:sp>
      <p:sp>
        <p:nvSpPr>
          <p:cNvPr id="30" name="TextBox 29"/>
          <p:cNvSpPr txBox="1"/>
          <p:nvPr/>
        </p:nvSpPr>
        <p:spPr>
          <a:xfrm>
            <a:off x="6629400" y="5550407"/>
            <a:ext cx="4480560" cy="457200"/>
          </a:xfrm>
          <a:prstGeom prst="rect">
            <a:avLst/>
          </a:prstGeom>
          <a:noFill/>
        </p:spPr>
        <p:txBody>
          <a:bodyPr wrap="square" anchor="t">
            <a:noAutofit/>
          </a:bodyPr>
          <a:lstStyle/>
          <a:p>
            <a:pPr algn="l">
              <a:spcBef>
                <a:spcPts val="0"/>
              </a:spcBef>
            </a:pPr>
            <a:r>
              <a:rPr sz="1600" b="0">
                <a:solidFill>
                  <a:schemeClr val="bg2">
                    <a:lumMod val="10000"/>
                  </a:schemeClr>
                </a:solidFill>
              </a:rPr>
              <a:t>żądań na sekundę w ataku HTTP/2 Rapid Reset</a:t>
            </a:r>
          </a:p>
        </p:txBody>
      </p:sp>
      <p:sp>
        <p:nvSpPr>
          <p:cNvPr id="31" name="Źródła"/>
          <p:cNvSpPr txBox="1"/>
          <p:nvPr/>
        </p:nvSpPr>
        <p:spPr>
          <a:xfrm>
            <a:off x="1097280" y="6272784"/>
            <a:ext cx="9994392" cy="329184"/>
          </a:xfrm>
          <a:prstGeom prst="rect">
            <a:avLst/>
          </a:prstGeom>
          <a:noFill/>
        </p:spPr>
        <p:txBody>
          <a:bodyPr wrap="square" anchor="t">
            <a:noAutofit/>
          </a:bodyPr>
          <a:lstStyle/>
          <a:p>
            <a:pPr algn="l">
              <a:spcBef>
                <a:spcPts val="0"/>
              </a:spcBef>
            </a:pPr>
            <a:r>
              <a:rPr sz="1100" b="0">
                <a:solidFill>
                  <a:schemeClr val="bg2">
                    <a:lumMod val="50000"/>
                  </a:schemeClr>
                </a:solidFill>
              </a:rPr>
              <a:t>Źródła (numeracja jak w pracy): [1], [7], [30]</a:t>
            </a:r>
          </a:p>
        </p:txBody>
      </p:sp>
    </p:spTree>
    <p:extLst>
      <p:ext uri="{BB962C8B-B14F-4D97-AF65-F5344CB8AC3E}">
        <p14:creationId xmlns:p14="http://schemas.microsoft.com/office/powerpoint/2010/main" val="29785648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7" name="pole tekstowe 6">
            <a:extLst>
              <a:ext uri="{FF2B5EF4-FFF2-40B4-BE49-F238E27FC236}">
                <a16:creationId xmlns:a16="http://schemas.microsoft.com/office/drawing/2014/main" id="{0CBC331D-8069-B1C8-0B2C-BC64036C1009}"/>
              </a:ext>
            </a:extLst>
          </p:cNvPr>
          <p:cNvSpPr txBox="1"/>
          <p:nvPr/>
        </p:nvSpPr>
        <p:spPr>
          <a:xfrm>
            <a:off x="6195330" y="2331720"/>
            <a:ext cx="5699343" cy="1938992"/>
          </a:xfrm>
          <a:prstGeom prst="rect">
            <a:avLst/>
          </a:prstGeom>
          <a:noFill/>
        </p:spPr>
        <p:txBody>
          <a:bodyPr wrap="square" rtlCol="0">
            <a:spAutoFit/>
          </a:bodyPr>
          <a:lstStyle/>
          <a:p>
            <a:r>
              <a:rPr lang="pl-PL" sz="6000" dirty="0">
                <a:solidFill>
                  <a:schemeClr val="bg1"/>
                </a:solidFill>
                <a:latin typeface="Source Sans Pro Light" panose="020B0403030403020204" pitchFamily="34" charset="0"/>
              </a:rPr>
              <a:t>Taksonomia</a:t>
            </a:r>
          </a:p>
          <a:p>
            <a:r>
              <a:rPr lang="pl-PL" sz="6000" dirty="0">
                <a:solidFill>
                  <a:schemeClr val="bg1"/>
                </a:solidFill>
                <a:latin typeface="Source Sans Pro Light" panose="020B0403030403020204" pitchFamily="34" charset="0"/>
              </a:rPr>
              <a:t>ataków DDoS</a:t>
            </a:r>
          </a:p>
        </p:txBody>
      </p:sp>
      <p:sp>
        <p:nvSpPr>
          <p:cNvPr id="8" name="pole tekstowe 7">
            <a:extLst>
              <a:ext uri="{FF2B5EF4-FFF2-40B4-BE49-F238E27FC236}">
                <a16:creationId xmlns:a16="http://schemas.microsoft.com/office/drawing/2014/main" id="{B6F5D76B-1818-C235-38F9-3C9C21303C79}"/>
              </a:ext>
            </a:extLst>
          </p:cNvPr>
          <p:cNvSpPr txBox="1"/>
          <p:nvPr/>
        </p:nvSpPr>
        <p:spPr>
          <a:xfrm>
            <a:off x="6195330" y="1874519"/>
            <a:ext cx="5699343" cy="400110"/>
          </a:xfrm>
          <a:prstGeom prst="rect">
            <a:avLst/>
          </a:prstGeom>
          <a:noFill/>
        </p:spPr>
        <p:txBody>
          <a:bodyPr wrap="square" rtlCol="0">
            <a:spAutoFit/>
          </a:bodyPr>
          <a:lstStyle/>
          <a:p>
            <a:r>
              <a:rPr lang="pl-PL" sz="2000" dirty="0">
                <a:solidFill>
                  <a:schemeClr val="bg1"/>
                </a:solidFill>
                <a:latin typeface="Source Sans Pro Light" panose="020B0403030403020204" pitchFamily="34" charset="0"/>
              </a:rPr>
              <a:t>Część I</a:t>
            </a:r>
          </a:p>
        </p:txBody>
      </p:sp>
      <p:pic>
        <p:nvPicPr>
          <p:cNvPr id="4" name="Obraz 3" descr="Obraz zawierający linia, design, sztuka, czarne i białe&#10;&#10;Opis wygenerowany automatycznie">
            <a:extLst>
              <a:ext uri="{FF2B5EF4-FFF2-40B4-BE49-F238E27FC236}">
                <a16:creationId xmlns:a16="http://schemas.microsoft.com/office/drawing/2014/main" id="{583295B8-9380-5D37-9FB1-07A1D24A2108}"/>
              </a:ext>
            </a:extLst>
          </p:cNvPr>
          <p:cNvPicPr>
            <a:picLocks noChangeAspect="1"/>
          </p:cNvPicPr>
          <p:nvPr/>
        </p:nvPicPr>
        <p:blipFill>
          <a:blip r:embed="rId2">
            <a:alphaModFix amt="50000"/>
            <a:extLst>
              <a:ext uri="{28A0092B-C50C-407E-A947-70E740481C1C}">
                <a14:useLocalDpi xmlns:a14="http://schemas.microsoft.com/office/drawing/2010/main" val="0"/>
              </a:ext>
            </a:extLst>
          </a:blip>
          <a:stretch>
            <a:fillRect/>
          </a:stretch>
        </p:blipFill>
        <p:spPr>
          <a:xfrm>
            <a:off x="-1125177" y="-645091"/>
            <a:ext cx="6801478" cy="6858000"/>
          </a:xfrm>
          <a:prstGeom prst="rect">
            <a:avLst/>
          </a:prstGeom>
        </p:spPr>
      </p:pic>
    </p:spTree>
    <p:extLst>
      <p:ext uri="{BB962C8B-B14F-4D97-AF65-F5344CB8AC3E}">
        <p14:creationId xmlns:p14="http://schemas.microsoft.com/office/powerpoint/2010/main" val="6468721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rostokąt 4">
            <a:extLst>
              <a:ext uri="{FF2B5EF4-FFF2-40B4-BE49-F238E27FC236}">
                <a16:creationId xmlns:a16="http://schemas.microsoft.com/office/drawing/2014/main" id="{7CA99EC4-3C2E-53F3-55A5-01E21A2FCB45}"/>
              </a:ext>
            </a:extLst>
          </p:cNvPr>
          <p:cNvSpPr>
            <a:spLocks noGrp="1" noRot="1" noMove="1" noResize="1" noEditPoints="1" noAdjustHandles="1" noChangeArrowheads="1" noChangeShapeType="1"/>
          </p:cNvSpPr>
          <p:nvPr/>
        </p:nvSpPr>
        <p:spPr>
          <a:xfrm>
            <a:off x="0" y="0"/>
            <a:ext cx="12192000" cy="804672"/>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0" name="pole tekstowe 19">
            <a:extLst>
              <a:ext uri="{FF2B5EF4-FFF2-40B4-BE49-F238E27FC236}">
                <a16:creationId xmlns:a16="http://schemas.microsoft.com/office/drawing/2014/main" id="{DA7C4B59-9B8D-C16D-1201-5FC12125EDF7}"/>
              </a:ext>
            </a:extLst>
          </p:cNvPr>
          <p:cNvSpPr txBox="1">
            <a:spLocks noGrp="1" noRot="1" noMove="1" noResize="1" noEditPoints="1" noAdjustHandles="1" noChangeArrowheads="1" noChangeShapeType="1"/>
          </p:cNvSpPr>
          <p:nvPr/>
        </p:nvSpPr>
        <p:spPr>
          <a:xfrm>
            <a:off x="2629588" y="160326"/>
            <a:ext cx="8229600" cy="400110"/>
          </a:xfrm>
          <a:prstGeom prst="rect">
            <a:avLst/>
          </a:prstGeom>
          <a:noFill/>
        </p:spPr>
        <p:txBody>
          <a:bodyPr wrap="square" rtlCol="0">
            <a:spAutoFit/>
          </a:bodyPr>
          <a:lstStyle/>
          <a:p>
            <a:r>
              <a:rPr lang="pl-PL" sz="2000" dirty="0">
                <a:solidFill>
                  <a:schemeClr val="bg1"/>
                </a:solidFill>
                <a:latin typeface="Source Sans Pro Light" panose="020B0403030403020204" pitchFamily="34" charset="0"/>
              </a:rPr>
              <a:t>Obrona przed atakami DDoS — przegląd stanu wiedzy</a:t>
            </a:r>
          </a:p>
        </p:txBody>
      </p:sp>
      <p:pic>
        <p:nvPicPr>
          <p:cNvPr id="4" name="Obraz 3" descr="Obraz zawierający linia, design, sztuka, czarne i białe&#10;&#10;Opis wygenerowany automatycznie">
            <a:extLst>
              <a:ext uri="{FF2B5EF4-FFF2-40B4-BE49-F238E27FC236}">
                <a16:creationId xmlns:a16="http://schemas.microsoft.com/office/drawing/2014/main" id="{FB556C9B-EF3C-CE33-30D5-4FF03A12E4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2866" y="25052"/>
            <a:ext cx="739156" cy="745299"/>
          </a:xfrm>
          <a:prstGeom prst="rect">
            <a:avLst/>
          </a:prstGeom>
        </p:spPr>
      </p:pic>
      <p:sp>
        <p:nvSpPr>
          <p:cNvPr id="21" name="Tytuł 21"/>
          <p:cNvSpPr>
            <a:spLocks noGrp="1"/>
          </p:cNvSpPr>
          <p:nvPr>
            <p:ph type="title"/>
          </p:nvPr>
        </p:nvSpPr>
        <p:spPr>
          <a:xfrm>
            <a:off x="1097280" y="987552"/>
            <a:ext cx="9994392" cy="777240"/>
          </a:xfrm>
        </p:spPr>
        <p:txBody>
          <a:bodyPr vert="horz" wrap="square" lIns="91440" tIns="45720" rIns="91440" bIns="45720" anchor="t">
            <a:noAutofit/>
          </a:bodyPr>
          <a:lstStyle/>
          <a:p>
            <a:r>
              <a:rPr lang="pl-PL" sz="3600" dirty="0">
                <a:solidFill>
                  <a:schemeClr val="bg2">
                    <a:lumMod val="10000"/>
                  </a:schemeClr>
                </a:solidFill>
                <a:latin typeface="Source Sans Pro Light" panose="020B0403030403020204" pitchFamily="34" charset="0"/>
              </a:rPr>
              <a:t>Taksonomia wektorów DDoS</a:t>
            </a:r>
          </a:p>
        </p:txBody>
      </p:sp>
      <p:graphicFrame>
        <p:nvGraphicFramePr>
          <p:cNvPr id="22" name="Table 21"/>
          <p:cNvGraphicFramePr>
            <a:graphicFrameLocks noGrp="1"/>
          </p:cNvGraphicFramePr>
          <p:nvPr/>
        </p:nvGraphicFramePr>
        <p:xfrm>
          <a:off x="1097280" y="1874519"/>
          <a:ext cx="9994391" cy="4160520"/>
        </p:xfrm>
        <a:graphic>
          <a:graphicData uri="http://schemas.openxmlformats.org/drawingml/2006/table">
            <a:tbl>
              <a:tblPr firstRow="1">
                <a:tableStyleId>{5C22544A-7EE6-4342-B048-85BDC9FD1C3A}</a:tableStyleId>
              </a:tblPr>
              <a:tblGrid>
                <a:gridCol w="2057400"/>
                <a:gridCol w="1965960"/>
                <a:gridCol w="2057400"/>
                <a:gridCol w="2057400"/>
                <a:gridCol w="1856231"/>
              </a:tblGrid>
              <a:tr h="502920">
                <a:tc>
                  <a:txBody>
                    <a:bodyPr wrap="square"/>
                    <a:lstStyle/>
                    <a:p>
                      <a:r>
                        <a:rPr sz="1400" b="1">
                          <a:solidFill>
                            <a:schemeClr val="bg1"/>
                          </a:solidFill>
                        </a:rPr>
                        <a:t>Klasa</a:t>
                      </a:r>
                    </a:p>
                  </a:txBody>
                  <a:tcPr marL="91440" marR="91440" marT="45720" marB="45720" anchor="ctr">
                    <a:solidFill>
                      <a:schemeClr val="tx2"/>
                    </a:solidFill>
                  </a:tcPr>
                </a:tc>
                <a:tc>
                  <a:txBody>
                    <a:bodyPr wrap="square"/>
                    <a:lstStyle/>
                    <a:p>
                      <a:r>
                        <a:rPr sz="1400" b="1">
                          <a:solidFill>
                            <a:schemeClr val="bg1"/>
                          </a:solidFill>
                        </a:rPr>
                        <a:t>Wyczerpywany zasób</a:t>
                      </a:r>
                    </a:p>
                  </a:txBody>
                  <a:tcPr marL="91440" marR="91440" marT="45720" marB="45720" anchor="ctr">
                    <a:solidFill>
                      <a:schemeClr val="tx2"/>
                    </a:solidFill>
                  </a:tcPr>
                </a:tc>
                <a:tc>
                  <a:txBody>
                    <a:bodyPr wrap="square"/>
                    <a:lstStyle/>
                    <a:p>
                      <a:r>
                        <a:rPr sz="1400" b="1">
                          <a:solidFill>
                            <a:schemeClr val="bg1"/>
                          </a:solidFill>
                        </a:rPr>
                        <a:t>Przykłady</a:t>
                      </a:r>
                    </a:p>
                  </a:txBody>
                  <a:tcPr marL="91440" marR="91440" marT="45720" marB="45720" anchor="ctr">
                    <a:solidFill>
                      <a:schemeClr val="tx2"/>
                    </a:solidFill>
                  </a:tcPr>
                </a:tc>
                <a:tc>
                  <a:txBody>
                    <a:bodyPr wrap="square"/>
                    <a:lstStyle/>
                    <a:p>
                      <a:r>
                        <a:rPr sz="1400" b="1">
                          <a:solidFill>
                            <a:schemeClr val="bg1"/>
                          </a:solidFill>
                        </a:rPr>
                        <a:t>Atrybucja źródła</a:t>
                      </a:r>
                    </a:p>
                  </a:txBody>
                  <a:tcPr marL="91440" marR="91440" marT="45720" marB="45720" anchor="ctr">
                    <a:solidFill>
                      <a:schemeClr val="tx2"/>
                    </a:solidFill>
                  </a:tcPr>
                </a:tc>
                <a:tc>
                  <a:txBody>
                    <a:bodyPr wrap="square"/>
                    <a:lstStyle/>
                    <a:p>
                      <a:r>
                        <a:rPr sz="1400" b="1">
                          <a:solidFill>
                            <a:schemeClr val="bg1"/>
                          </a:solidFill>
                        </a:rPr>
                        <a:t>Sygnał detekcji</a:t>
                      </a:r>
                    </a:p>
                  </a:txBody>
                  <a:tcPr marL="91440" marR="91440" marT="45720" marB="45720" anchor="ctr">
                    <a:solidFill>
                      <a:schemeClr val="tx2"/>
                    </a:solidFill>
                  </a:tcPr>
                </a:tc>
              </a:tr>
              <a:tr h="731520">
                <a:tc>
                  <a:txBody>
                    <a:bodyPr wrap="square"/>
                    <a:lstStyle/>
                    <a:p>
                      <a:r>
                        <a:rPr sz="1400" b="1">
                          <a:solidFill>
                            <a:schemeClr val="bg2">
                              <a:lumMod val="10000"/>
                            </a:schemeClr>
                          </a:solidFill>
                        </a:rPr>
                        <a:t>Wolumetryczne bezpośrednie</a:t>
                      </a:r>
                    </a:p>
                  </a:txBody>
                  <a:tcPr marL="91440" marR="91440" marT="45720" marB="45720" anchor="ctr">
                    <a:solidFill>
                      <a:schemeClr val="bg2">
                        <a:lumMod val="50000"/>
                        <a:lumOff val="50000"/>
                      </a:schemeClr>
                    </a:solidFill>
                  </a:tcPr>
                </a:tc>
                <a:tc>
                  <a:txBody>
                    <a:bodyPr wrap="square"/>
                    <a:lstStyle/>
                    <a:p>
                      <a:r>
                        <a:rPr sz="1400" b="0">
                          <a:solidFill>
                            <a:schemeClr val="bg2">
                              <a:lumMod val="10000"/>
                            </a:schemeClr>
                          </a:solidFill>
                        </a:rPr>
                        <a:t>łącze, CPU stosu sieciowego</a:t>
                      </a:r>
                    </a:p>
                  </a:txBody>
                  <a:tcPr marL="91440" marR="91440" marT="45720" marB="45720" anchor="ctr">
                    <a:solidFill>
                      <a:schemeClr val="bg2">
                        <a:lumMod val="50000"/>
                        <a:lumOff val="50000"/>
                      </a:schemeClr>
                    </a:solidFill>
                  </a:tcPr>
                </a:tc>
                <a:tc>
                  <a:txBody>
                    <a:bodyPr wrap="square"/>
                    <a:lstStyle/>
                    <a:p>
                      <a:r>
                        <a:rPr sz="1400" b="0">
                          <a:solidFill>
                            <a:schemeClr val="bg2">
                              <a:lumMod val="10000"/>
                            </a:schemeClr>
                          </a:solidFill>
                        </a:rPr>
                        <a:t>UDP flood, ACK flood</a:t>
                      </a:r>
                    </a:p>
                  </a:txBody>
                  <a:tcPr marL="91440" marR="91440" marT="45720" marB="45720" anchor="ctr">
                    <a:solidFill>
                      <a:schemeClr val="bg2">
                        <a:lumMod val="50000"/>
                        <a:lumOff val="50000"/>
                      </a:schemeClr>
                    </a:solidFill>
                  </a:tcPr>
                </a:tc>
                <a:tc>
                  <a:txBody>
                    <a:bodyPr wrap="square"/>
                    <a:lstStyle/>
                    <a:p>
                      <a:r>
                        <a:rPr sz="1400" b="0">
                          <a:solidFill>
                            <a:schemeClr val="bg2">
                              <a:lumMod val="10000"/>
                            </a:schemeClr>
                          </a:solidFill>
                        </a:rPr>
                        <a:t>możliwa, gdy adresy nie są fałszowane</a:t>
                      </a:r>
                    </a:p>
                  </a:txBody>
                  <a:tcPr marL="91440" marR="91440" marT="45720" marB="45720" anchor="ctr">
                    <a:solidFill>
                      <a:schemeClr val="bg2">
                        <a:lumMod val="50000"/>
                        <a:lumOff val="50000"/>
                      </a:schemeClr>
                    </a:solidFill>
                  </a:tcPr>
                </a:tc>
                <a:tc>
                  <a:txBody>
                    <a:bodyPr wrap="square"/>
                    <a:lstStyle/>
                    <a:p>
                      <a:r>
                        <a:rPr sz="1400" b="0">
                          <a:solidFill>
                            <a:schemeClr val="bg2">
                              <a:lumMod val="10000"/>
                            </a:schemeClr>
                          </a:solidFill>
                        </a:rPr>
                        <a:t>pakiety i bity na sekundę</a:t>
                      </a:r>
                    </a:p>
                  </a:txBody>
                  <a:tcPr marL="91440" marR="91440" marT="45720" marB="45720" anchor="ctr">
                    <a:solidFill>
                      <a:schemeClr val="bg2">
                        <a:lumMod val="50000"/>
                        <a:lumOff val="50000"/>
                      </a:schemeClr>
                    </a:solidFill>
                  </a:tcPr>
                </a:tc>
              </a:tr>
              <a:tr h="731520">
                <a:tc>
                  <a:txBody>
                    <a:bodyPr wrap="square"/>
                    <a:lstStyle/>
                    <a:p>
                      <a:r>
                        <a:rPr sz="1400" b="1">
                          <a:solidFill>
                            <a:schemeClr val="bg2">
                              <a:lumMod val="10000"/>
                            </a:schemeClr>
                          </a:solidFill>
                        </a:rPr>
                        <a:t>Odbiciowo-wzmacniające</a:t>
                      </a:r>
                    </a:p>
                  </a:txBody>
                  <a:tcPr marL="91440" marR="91440" marT="45720" marB="45720" anchor="ctr">
                    <a:solidFill>
                      <a:schemeClr val="bg2">
                        <a:lumMod val="15000"/>
                        <a:lumOff val="85000"/>
                      </a:schemeClr>
                    </a:solidFill>
                  </a:tcPr>
                </a:tc>
                <a:tc>
                  <a:txBody>
                    <a:bodyPr wrap="square"/>
                    <a:lstStyle/>
                    <a:p>
                      <a:r>
                        <a:rPr sz="1400" b="0">
                          <a:solidFill>
                            <a:schemeClr val="bg2">
                              <a:lumMod val="10000"/>
                            </a:schemeClr>
                          </a:solidFill>
                        </a:rPr>
                        <a:t>łącze ofiary</a:t>
                      </a:r>
                    </a:p>
                  </a:txBody>
                  <a:tcPr marL="91440" marR="91440" marT="45720" marB="45720" anchor="ctr">
                    <a:solidFill>
                      <a:schemeClr val="bg2">
                        <a:lumMod val="15000"/>
                        <a:lumOff val="85000"/>
                      </a:schemeClr>
                    </a:solidFill>
                  </a:tcPr>
                </a:tc>
                <a:tc>
                  <a:txBody>
                    <a:bodyPr wrap="square"/>
                    <a:lstStyle/>
                    <a:p>
                      <a:r>
                        <a:rPr sz="1400" b="0">
                          <a:solidFill>
                            <a:schemeClr val="bg2">
                              <a:lumMod val="10000"/>
                            </a:schemeClr>
                          </a:solidFill>
                        </a:rPr>
                        <a:t>DNS amplification, odbicie TCP</a:t>
                      </a:r>
                    </a:p>
                  </a:txBody>
                  <a:tcPr marL="91440" marR="91440" marT="45720" marB="45720" anchor="ctr">
                    <a:solidFill>
                      <a:schemeClr val="bg2">
                        <a:lumMod val="15000"/>
                        <a:lumOff val="85000"/>
                      </a:schemeClr>
                    </a:solidFill>
                  </a:tcPr>
                </a:tc>
                <a:tc>
                  <a:txBody>
                    <a:bodyPr wrap="square"/>
                    <a:lstStyle/>
                    <a:p>
                      <a:r>
                        <a:rPr sz="1400" b="0">
                          <a:solidFill>
                            <a:schemeClr val="bg2">
                              <a:lumMod val="10000"/>
                            </a:schemeClr>
                          </a:solidFill>
                        </a:rPr>
                        <a:t>niemożliwa — źródłami są reflektory</a:t>
                      </a:r>
                    </a:p>
                  </a:txBody>
                  <a:tcPr marL="91440" marR="91440" marT="45720" marB="45720" anchor="ctr">
                    <a:solidFill>
                      <a:schemeClr val="bg2">
                        <a:lumMod val="15000"/>
                        <a:lumOff val="85000"/>
                      </a:schemeClr>
                    </a:solidFill>
                  </a:tcPr>
                </a:tc>
                <a:tc>
                  <a:txBody>
                    <a:bodyPr wrap="square"/>
                    <a:lstStyle/>
                    <a:p>
                      <a:r>
                        <a:rPr sz="1400" b="0">
                          <a:solidFill>
                            <a:schemeClr val="bg2">
                              <a:lumMod val="10000"/>
                            </a:schemeClr>
                          </a:solidFill>
                        </a:rPr>
                        <a:t>odpowiedzi bez zapytań</a:t>
                      </a:r>
                    </a:p>
                  </a:txBody>
                  <a:tcPr marL="91440" marR="91440" marT="45720" marB="45720" anchor="ctr">
                    <a:solidFill>
                      <a:schemeClr val="bg2">
                        <a:lumMod val="15000"/>
                        <a:lumOff val="85000"/>
                      </a:schemeClr>
                    </a:solidFill>
                  </a:tcPr>
                </a:tc>
              </a:tr>
              <a:tr h="731520">
                <a:tc>
                  <a:txBody>
                    <a:bodyPr wrap="square"/>
                    <a:lstStyle/>
                    <a:p>
                      <a:r>
                        <a:rPr sz="1400" b="1">
                          <a:solidFill>
                            <a:schemeClr val="bg2">
                              <a:lumMod val="10000"/>
                            </a:schemeClr>
                          </a:solidFill>
                        </a:rPr>
                        <a:t>Na stan protokołu</a:t>
                      </a:r>
                    </a:p>
                  </a:txBody>
                  <a:tcPr marL="91440" marR="91440" marT="45720" marB="45720" anchor="ctr">
                    <a:solidFill>
                      <a:schemeClr val="bg2">
                        <a:lumMod val="50000"/>
                        <a:lumOff val="50000"/>
                      </a:schemeClr>
                    </a:solidFill>
                  </a:tcPr>
                </a:tc>
                <a:tc>
                  <a:txBody>
                    <a:bodyPr wrap="square"/>
                    <a:lstStyle/>
                    <a:p>
                      <a:r>
                        <a:rPr sz="1400" b="0">
                          <a:solidFill>
                            <a:schemeClr val="bg2">
                              <a:lumMod val="10000"/>
                            </a:schemeClr>
                          </a:solidFill>
                        </a:rPr>
                        <a:t>tablice połączeń półotwartych</a:t>
                      </a:r>
                    </a:p>
                  </a:txBody>
                  <a:tcPr marL="91440" marR="91440" marT="45720" marB="45720" anchor="ctr">
                    <a:solidFill>
                      <a:schemeClr val="bg2">
                        <a:lumMod val="50000"/>
                        <a:lumOff val="50000"/>
                      </a:schemeClr>
                    </a:solidFill>
                  </a:tcPr>
                </a:tc>
                <a:tc>
                  <a:txBody>
                    <a:bodyPr wrap="square"/>
                    <a:lstStyle/>
                    <a:p>
                      <a:r>
                        <a:rPr sz="1400" b="0">
                          <a:solidFill>
                            <a:schemeClr val="bg2">
                              <a:lumMod val="10000"/>
                            </a:schemeClr>
                          </a:solidFill>
                        </a:rPr>
                        <a:t>SYN flood, zalewanie QUIC</a:t>
                      </a:r>
                    </a:p>
                  </a:txBody>
                  <a:tcPr marL="91440" marR="91440" marT="45720" marB="45720" anchor="ctr">
                    <a:solidFill>
                      <a:schemeClr val="bg2">
                        <a:lumMod val="50000"/>
                        <a:lumOff val="50000"/>
                      </a:schemeClr>
                    </a:solidFill>
                  </a:tcPr>
                </a:tc>
                <a:tc>
                  <a:txBody>
                    <a:bodyPr wrap="square"/>
                    <a:lstStyle/>
                    <a:p>
                      <a:r>
                        <a:rPr sz="1400" b="0">
                          <a:solidFill>
                            <a:schemeClr val="bg2">
                              <a:lumMod val="10000"/>
                            </a:schemeClr>
                          </a:solidFill>
                        </a:rPr>
                        <a:t>niemożliwa przy fałszowaniu</a:t>
                      </a:r>
                    </a:p>
                  </a:txBody>
                  <a:tcPr marL="91440" marR="91440" marT="45720" marB="45720" anchor="ctr">
                    <a:solidFill>
                      <a:schemeClr val="bg2">
                        <a:lumMod val="50000"/>
                        <a:lumOff val="50000"/>
                      </a:schemeClr>
                    </a:solidFill>
                  </a:tcPr>
                </a:tc>
                <a:tc>
                  <a:txBody>
                    <a:bodyPr wrap="square"/>
                    <a:lstStyle/>
                    <a:p>
                      <a:r>
                        <a:rPr sz="1400" b="0">
                          <a:solidFill>
                            <a:schemeClr val="bg2">
                              <a:lumMod val="10000"/>
                            </a:schemeClr>
                          </a:solidFill>
                        </a:rPr>
                        <a:t>nieukończone uzgodnienia</a:t>
                      </a:r>
                    </a:p>
                  </a:txBody>
                  <a:tcPr marL="91440" marR="91440" marT="45720" marB="45720" anchor="ctr">
                    <a:solidFill>
                      <a:schemeClr val="bg2">
                        <a:lumMod val="50000"/>
                        <a:lumOff val="50000"/>
                      </a:schemeClr>
                    </a:solidFill>
                  </a:tcPr>
                </a:tc>
              </a:tr>
              <a:tr h="731520">
                <a:tc>
                  <a:txBody>
                    <a:bodyPr wrap="square"/>
                    <a:lstStyle/>
                    <a:p>
                      <a:r>
                        <a:rPr sz="1400" b="1">
                          <a:solidFill>
                            <a:schemeClr val="bg2">
                              <a:lumMod val="10000"/>
                            </a:schemeClr>
                          </a:solidFill>
                        </a:rPr>
                        <a:t>Asymetryczne L7</a:t>
                      </a:r>
                    </a:p>
                  </a:txBody>
                  <a:tcPr marL="91440" marR="91440" marT="45720" marB="45720" anchor="ctr">
                    <a:solidFill>
                      <a:schemeClr val="bg2">
                        <a:lumMod val="15000"/>
                        <a:lumOff val="85000"/>
                      </a:schemeClr>
                    </a:solidFill>
                  </a:tcPr>
                </a:tc>
                <a:tc>
                  <a:txBody>
                    <a:bodyPr wrap="square"/>
                    <a:lstStyle/>
                    <a:p>
                      <a:r>
                        <a:rPr sz="1400" b="0">
                          <a:solidFill>
                            <a:schemeClr val="bg2">
                              <a:lumMod val="10000"/>
                            </a:schemeClr>
                          </a:solidFill>
                        </a:rPr>
                        <a:t>CPU i pamięć aplikacji</a:t>
                      </a:r>
                    </a:p>
                  </a:txBody>
                  <a:tcPr marL="91440" marR="91440" marT="45720" marB="45720" anchor="ctr">
                    <a:solidFill>
                      <a:schemeClr val="bg2">
                        <a:lumMod val="15000"/>
                        <a:lumOff val="85000"/>
                      </a:schemeClr>
                    </a:solidFill>
                  </a:tcPr>
                </a:tc>
                <a:tc>
                  <a:txBody>
                    <a:bodyPr wrap="square"/>
                    <a:lstStyle/>
                    <a:p>
                      <a:r>
                        <a:rPr sz="1400" b="0">
                          <a:solidFill>
                            <a:schemeClr val="bg2">
                              <a:lumMod val="10000"/>
                            </a:schemeClr>
                          </a:solidFill>
                        </a:rPr>
                        <a:t>HTTP flood, HTTP/2 Rapid Reset</a:t>
                      </a:r>
                    </a:p>
                  </a:txBody>
                  <a:tcPr marL="91440" marR="91440" marT="45720" marB="45720" anchor="ctr">
                    <a:solidFill>
                      <a:schemeClr val="bg2">
                        <a:lumMod val="15000"/>
                        <a:lumOff val="85000"/>
                      </a:schemeClr>
                    </a:solidFill>
                  </a:tcPr>
                </a:tc>
                <a:tc>
                  <a:txBody>
                    <a:bodyPr wrap="square"/>
                    <a:lstStyle/>
                    <a:p>
                      <a:r>
                        <a:rPr sz="1400" b="0">
                          <a:solidFill>
                            <a:schemeClr val="bg2">
                              <a:lumMod val="10000"/>
                            </a:schemeClr>
                          </a:solidFill>
                        </a:rPr>
                        <a:t>możliwa</a:t>
                      </a:r>
                    </a:p>
                  </a:txBody>
                  <a:tcPr marL="91440" marR="91440" marT="45720" marB="45720" anchor="ctr">
                    <a:solidFill>
                      <a:schemeClr val="bg2">
                        <a:lumMod val="15000"/>
                        <a:lumOff val="85000"/>
                      </a:schemeClr>
                    </a:solidFill>
                  </a:tcPr>
                </a:tc>
                <a:tc>
                  <a:txBody>
                    <a:bodyPr wrap="square"/>
                    <a:lstStyle/>
                    <a:p>
                      <a:r>
                        <a:rPr sz="1400" b="0">
                          <a:solidFill>
                            <a:schemeClr val="bg2">
                              <a:lumMod val="10000"/>
                            </a:schemeClr>
                          </a:solidFill>
                        </a:rPr>
                        <a:t>żądania i resety na połączenie</a:t>
                      </a:r>
                    </a:p>
                  </a:txBody>
                  <a:tcPr marL="91440" marR="91440" marT="45720" marB="45720" anchor="ctr">
                    <a:solidFill>
                      <a:schemeClr val="bg2">
                        <a:lumMod val="15000"/>
                        <a:lumOff val="85000"/>
                      </a:schemeClr>
                    </a:solidFill>
                  </a:tcPr>
                </a:tc>
              </a:tr>
              <a:tr h="731520">
                <a:tc>
                  <a:txBody>
                    <a:bodyPr wrap="square"/>
                    <a:lstStyle/>
                    <a:p>
                      <a:r>
                        <a:rPr sz="1400" b="1">
                          <a:solidFill>
                            <a:schemeClr val="bg2">
                              <a:lumMod val="10000"/>
                            </a:schemeClr>
                          </a:solidFill>
                        </a:rPr>
                        <a:t>Low-and-slow</a:t>
                      </a:r>
                    </a:p>
                  </a:txBody>
                  <a:tcPr marL="91440" marR="91440" marT="45720" marB="45720" anchor="ctr">
                    <a:solidFill>
                      <a:schemeClr val="bg2">
                        <a:lumMod val="50000"/>
                        <a:lumOff val="50000"/>
                      </a:schemeClr>
                    </a:solidFill>
                  </a:tcPr>
                </a:tc>
                <a:tc>
                  <a:txBody>
                    <a:bodyPr wrap="square"/>
                    <a:lstStyle/>
                    <a:p>
                      <a:r>
                        <a:rPr sz="1400" b="0">
                          <a:solidFill>
                            <a:schemeClr val="bg2">
                              <a:lumMod val="10000"/>
                            </a:schemeClr>
                          </a:solidFill>
                        </a:rPr>
                        <a:t>pule połączeń i wątków</a:t>
                      </a:r>
                    </a:p>
                  </a:txBody>
                  <a:tcPr marL="91440" marR="91440" marT="45720" marB="45720" anchor="ctr">
                    <a:solidFill>
                      <a:schemeClr val="bg2">
                        <a:lumMod val="50000"/>
                        <a:lumOff val="50000"/>
                      </a:schemeClr>
                    </a:solidFill>
                  </a:tcPr>
                </a:tc>
                <a:tc>
                  <a:txBody>
                    <a:bodyPr wrap="square"/>
                    <a:lstStyle/>
                    <a:p>
                      <a:r>
                        <a:rPr sz="1400" b="0">
                          <a:solidFill>
                            <a:schemeClr val="bg2">
                              <a:lumMod val="10000"/>
                            </a:schemeClr>
                          </a:solidFill>
                        </a:rPr>
                        <a:t>Slowloris, R.U.D.Y., Slow Read</a:t>
                      </a:r>
                    </a:p>
                  </a:txBody>
                  <a:tcPr marL="91440" marR="91440" marT="45720" marB="45720" anchor="ctr">
                    <a:solidFill>
                      <a:schemeClr val="bg2">
                        <a:lumMod val="50000"/>
                        <a:lumOff val="50000"/>
                      </a:schemeClr>
                    </a:solidFill>
                  </a:tcPr>
                </a:tc>
                <a:tc>
                  <a:txBody>
                    <a:bodyPr wrap="square"/>
                    <a:lstStyle/>
                    <a:p>
                      <a:r>
                        <a:rPr sz="1400" b="0">
                          <a:solidFill>
                            <a:schemeClr val="bg2">
                              <a:lumMod val="10000"/>
                            </a:schemeClr>
                          </a:solidFill>
                        </a:rPr>
                        <a:t>możliwa</a:t>
                      </a:r>
                    </a:p>
                  </a:txBody>
                  <a:tcPr marL="91440" marR="91440" marT="45720" marB="45720" anchor="ctr">
                    <a:solidFill>
                      <a:schemeClr val="bg2">
                        <a:lumMod val="50000"/>
                        <a:lumOff val="50000"/>
                      </a:schemeClr>
                    </a:solidFill>
                  </a:tcPr>
                </a:tc>
                <a:tc>
                  <a:txBody>
                    <a:bodyPr wrap="square"/>
                    <a:lstStyle/>
                    <a:p>
                      <a:r>
                        <a:rPr sz="1400" b="0">
                          <a:solidFill>
                            <a:schemeClr val="bg2">
                              <a:lumMod val="10000"/>
                            </a:schemeClr>
                          </a:solidFill>
                        </a:rPr>
                        <a:t>stan połączeń</a:t>
                      </a:r>
                    </a:p>
                  </a:txBody>
                  <a:tcPr marL="91440" marR="91440" marT="45720" marB="45720" anchor="ctr">
                    <a:solidFill>
                      <a:schemeClr val="bg2">
                        <a:lumMod val="50000"/>
                        <a:lumOff val="50000"/>
                      </a:schemeClr>
                    </a:solidFill>
                  </a:tcPr>
                </a:tc>
              </a:tr>
            </a:tbl>
          </a:graphicData>
        </a:graphic>
      </p:graphicFrame>
      <p:sp>
        <p:nvSpPr>
          <p:cNvPr id="23" name="Źródła"/>
          <p:cNvSpPr txBox="1"/>
          <p:nvPr/>
        </p:nvSpPr>
        <p:spPr>
          <a:xfrm>
            <a:off x="1097280" y="6272784"/>
            <a:ext cx="9994392" cy="329184"/>
          </a:xfrm>
          <a:prstGeom prst="rect">
            <a:avLst/>
          </a:prstGeom>
          <a:noFill/>
        </p:spPr>
        <p:txBody>
          <a:bodyPr wrap="square" anchor="t">
            <a:noAutofit/>
          </a:bodyPr>
          <a:lstStyle/>
          <a:p>
            <a:pPr algn="l">
              <a:spcBef>
                <a:spcPts val="0"/>
              </a:spcBef>
            </a:pPr>
            <a:r>
              <a:rPr sz="1100" b="0">
                <a:solidFill>
                  <a:schemeClr val="bg2">
                    <a:lumMod val="50000"/>
                  </a:schemeClr>
                </a:solidFill>
              </a:rPr>
              <a:t>Źródła (numeracja jak w pracy): [2], [3], [4], [6], [7], [8]</a:t>
            </a:r>
          </a:p>
        </p:txBody>
      </p:sp>
    </p:spTree>
    <p:extLst>
      <p:ext uri="{BB962C8B-B14F-4D97-AF65-F5344CB8AC3E}">
        <p14:creationId xmlns:p14="http://schemas.microsoft.com/office/powerpoint/2010/main" val="29785648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rostokąt 4">
            <a:extLst>
              <a:ext uri="{FF2B5EF4-FFF2-40B4-BE49-F238E27FC236}">
                <a16:creationId xmlns:a16="http://schemas.microsoft.com/office/drawing/2014/main" id="{7CA99EC4-3C2E-53F3-55A5-01E21A2FCB45}"/>
              </a:ext>
            </a:extLst>
          </p:cNvPr>
          <p:cNvSpPr>
            <a:spLocks noGrp="1" noRot="1" noMove="1" noResize="1" noEditPoints="1" noAdjustHandles="1" noChangeArrowheads="1" noChangeShapeType="1"/>
          </p:cNvSpPr>
          <p:nvPr/>
        </p:nvSpPr>
        <p:spPr>
          <a:xfrm>
            <a:off x="0" y="0"/>
            <a:ext cx="12192000" cy="804672"/>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0" name="pole tekstowe 19">
            <a:extLst>
              <a:ext uri="{FF2B5EF4-FFF2-40B4-BE49-F238E27FC236}">
                <a16:creationId xmlns:a16="http://schemas.microsoft.com/office/drawing/2014/main" id="{DA7C4B59-9B8D-C16D-1201-5FC12125EDF7}"/>
              </a:ext>
            </a:extLst>
          </p:cNvPr>
          <p:cNvSpPr txBox="1">
            <a:spLocks noGrp="1" noRot="1" noMove="1" noResize="1" noEditPoints="1" noAdjustHandles="1" noChangeArrowheads="1" noChangeShapeType="1"/>
          </p:cNvSpPr>
          <p:nvPr/>
        </p:nvSpPr>
        <p:spPr>
          <a:xfrm>
            <a:off x="2629588" y="160326"/>
            <a:ext cx="8229600" cy="400110"/>
          </a:xfrm>
          <a:prstGeom prst="rect">
            <a:avLst/>
          </a:prstGeom>
          <a:noFill/>
        </p:spPr>
        <p:txBody>
          <a:bodyPr wrap="square" rtlCol="0">
            <a:spAutoFit/>
          </a:bodyPr>
          <a:lstStyle/>
          <a:p>
            <a:r>
              <a:rPr lang="pl-PL" sz="2000" dirty="0">
                <a:solidFill>
                  <a:schemeClr val="bg1"/>
                </a:solidFill>
                <a:latin typeface="Source Sans Pro Light" panose="020B0403030403020204" pitchFamily="34" charset="0"/>
              </a:rPr>
              <a:t>Obrona przed atakami DDoS — przegląd stanu wiedzy</a:t>
            </a:r>
          </a:p>
        </p:txBody>
      </p:sp>
      <p:pic>
        <p:nvPicPr>
          <p:cNvPr id="4" name="Obraz 3" descr="Obraz zawierający linia, design, sztuka, czarne i białe&#10;&#10;Opis wygenerowany automatycznie">
            <a:extLst>
              <a:ext uri="{FF2B5EF4-FFF2-40B4-BE49-F238E27FC236}">
                <a16:creationId xmlns:a16="http://schemas.microsoft.com/office/drawing/2014/main" id="{FB556C9B-EF3C-CE33-30D5-4FF03A12E4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2866" y="25052"/>
            <a:ext cx="739156" cy="745299"/>
          </a:xfrm>
          <a:prstGeom prst="rect">
            <a:avLst/>
          </a:prstGeom>
        </p:spPr>
      </p:pic>
      <p:sp>
        <p:nvSpPr>
          <p:cNvPr id="21" name="Tytuł 21"/>
          <p:cNvSpPr>
            <a:spLocks noGrp="1"/>
          </p:cNvSpPr>
          <p:nvPr>
            <p:ph type="title"/>
          </p:nvPr>
        </p:nvSpPr>
        <p:spPr>
          <a:xfrm>
            <a:off x="1097280" y="987552"/>
            <a:ext cx="9994392" cy="777240"/>
          </a:xfrm>
        </p:spPr>
        <p:txBody>
          <a:bodyPr vert="horz" wrap="square" lIns="91440" tIns="45720" rIns="91440" bIns="45720" anchor="t">
            <a:noAutofit/>
          </a:bodyPr>
          <a:lstStyle/>
          <a:p>
            <a:r>
              <a:rPr lang="pl-PL" sz="3600" dirty="0">
                <a:solidFill>
                  <a:schemeClr val="bg2">
                    <a:lumMod val="10000"/>
                  </a:schemeClr>
                </a:solidFill>
                <a:latin typeface="Source Sans Pro Light" panose="020B0403030403020204" pitchFamily="34" charset="0"/>
              </a:rPr>
              <a:t>Ataki L3/L4: SYN flood i UDP flood</a:t>
            </a:r>
          </a:p>
        </p:txBody>
      </p:sp>
      <p:sp>
        <p:nvSpPr>
          <p:cNvPr id="22" name="TextBox 21"/>
          <p:cNvSpPr txBox="1"/>
          <p:nvPr/>
        </p:nvSpPr>
        <p:spPr>
          <a:xfrm>
            <a:off x="1097280" y="1874519"/>
            <a:ext cx="5852160" cy="411480"/>
          </a:xfrm>
          <a:prstGeom prst="rect">
            <a:avLst/>
          </a:prstGeom>
          <a:noFill/>
        </p:spPr>
        <p:txBody>
          <a:bodyPr wrap="square" anchor="t">
            <a:noAutofit/>
          </a:bodyPr>
          <a:lstStyle/>
          <a:p>
            <a:pPr algn="l">
              <a:spcBef>
                <a:spcPts val="0"/>
              </a:spcBef>
            </a:pPr>
            <a:r>
              <a:rPr sz="2000" b="0">
                <a:solidFill>
                  <a:schemeClr val="bg2">
                    <a:lumMod val="10000"/>
                  </a:schemeClr>
                </a:solidFill>
              </a:rPr>
              <a:t>SYN FLOOD I CIASTECZKA SYN</a:t>
            </a:r>
          </a:p>
        </p:txBody>
      </p:sp>
      <p:sp>
        <p:nvSpPr>
          <p:cNvPr id="23" name="TextBox 22"/>
          <p:cNvSpPr txBox="1"/>
          <p:nvPr/>
        </p:nvSpPr>
        <p:spPr>
          <a:xfrm>
            <a:off x="1097280" y="2286000"/>
            <a:ext cx="5852160" cy="2240280"/>
          </a:xfrm>
          <a:prstGeom prst="rect">
            <a:avLst/>
          </a:prstGeom>
          <a:noFill/>
        </p:spPr>
        <p:txBody>
          <a:bodyPr wrap="square" anchor="t">
            <a:noAutofit/>
          </a:bodyPr>
          <a:lstStyle/>
          <a:p>
            <a:pPr algn="l" marL="256032" indent="-256032">
              <a:spcBef>
                <a:spcPts val="0"/>
              </a:spcBef>
              <a:buClr>
                <a:schemeClr val="tx2"/>
              </a:buClr>
              <a:buFont typeface="Arial"/>
              <a:buChar char="•"/>
            </a:pPr>
            <a:r>
              <a:rPr sz="1600" b="0">
                <a:solidFill>
                  <a:schemeClr val="bg2">
                    <a:lumMod val="10000"/>
                  </a:schemeClr>
                </a:solidFill>
              </a:rPr>
              <a:t>Sfałszowane segmenty SYN zapełniają kolejkę połączeń półotwartych.</a:t>
            </a:r>
          </a:p>
          <a:p>
            <a:pPr algn="l" marL="256032" indent="-256032">
              <a:spcBef>
                <a:spcPts val="800"/>
              </a:spcBef>
              <a:buClr>
                <a:schemeClr val="tx2"/>
              </a:buClr>
              <a:buFont typeface="Arial"/>
              <a:buChar char="•"/>
            </a:pPr>
            <a:r>
              <a:rPr sz="1600" b="1">
                <a:solidFill>
                  <a:schemeClr val="bg2">
                    <a:lumMod val="10000"/>
                  </a:schemeClr>
                </a:solidFill>
              </a:rPr>
              <a:t>Ciasteczko SYN: </a:t>
            </a:r>
            <a:r>
              <a:rPr sz="1600" b="0">
                <a:solidFill>
                  <a:schemeClr val="bg2">
                    <a:lumMod val="10000"/>
                  </a:schemeClr>
                </a:solidFill>
              </a:rPr>
              <a:t>stan w numerze sekwencyjnym — 5 bitów licznika, 3 bity MSS, 24 bity skrótu.</a:t>
            </a:r>
          </a:p>
          <a:p>
            <a:pPr algn="l" marL="256032" indent="-256032">
              <a:spcBef>
                <a:spcPts val="800"/>
              </a:spcBef>
              <a:buClr>
                <a:schemeClr val="tx2"/>
              </a:buClr>
              <a:buFont typeface="Arial"/>
              <a:buChar char="•"/>
            </a:pPr>
            <a:r>
              <a:rPr sz="1600" b="1">
                <a:solidFill>
                  <a:schemeClr val="bg2">
                    <a:lumMod val="10000"/>
                  </a:schemeClr>
                </a:solidFill>
              </a:rPr>
              <a:t>Koszt: </a:t>
            </a:r>
            <a:r>
              <a:rPr sz="1600" b="0">
                <a:solidFill>
                  <a:schemeClr val="bg2">
                    <a:lumMod val="10000"/>
                  </a:schemeClr>
                </a:solidFill>
              </a:rPr>
              <a:t>utrata skalowania okna; Linux używa ciasteczek dopiero po przepełnieniu kolejki.</a:t>
            </a:r>
          </a:p>
        </p:txBody>
      </p:sp>
      <p:sp>
        <p:nvSpPr>
          <p:cNvPr id="24" name="TextBox 23"/>
          <p:cNvSpPr txBox="1"/>
          <p:nvPr/>
        </p:nvSpPr>
        <p:spPr>
          <a:xfrm>
            <a:off x="1097280" y="4572000"/>
            <a:ext cx="5852160" cy="411480"/>
          </a:xfrm>
          <a:prstGeom prst="rect">
            <a:avLst/>
          </a:prstGeom>
          <a:noFill/>
        </p:spPr>
        <p:txBody>
          <a:bodyPr wrap="square" anchor="t">
            <a:noAutofit/>
          </a:bodyPr>
          <a:lstStyle/>
          <a:p>
            <a:pPr algn="l">
              <a:spcBef>
                <a:spcPts val="0"/>
              </a:spcBef>
            </a:pPr>
            <a:r>
              <a:rPr sz="2000" b="0">
                <a:solidFill>
                  <a:schemeClr val="bg2">
                    <a:lumMod val="10000"/>
                  </a:schemeClr>
                </a:solidFill>
              </a:rPr>
              <a:t>UDP FLOOD</a:t>
            </a:r>
          </a:p>
        </p:txBody>
      </p:sp>
      <p:sp>
        <p:nvSpPr>
          <p:cNvPr id="25" name="TextBox 24"/>
          <p:cNvSpPr txBox="1"/>
          <p:nvPr/>
        </p:nvSpPr>
        <p:spPr>
          <a:xfrm>
            <a:off x="1097280" y="4983480"/>
            <a:ext cx="5852160" cy="1188720"/>
          </a:xfrm>
          <a:prstGeom prst="rect">
            <a:avLst/>
          </a:prstGeom>
          <a:noFill/>
        </p:spPr>
        <p:txBody>
          <a:bodyPr wrap="square" anchor="t">
            <a:noAutofit/>
          </a:bodyPr>
          <a:lstStyle/>
          <a:p>
            <a:pPr algn="l" marL="256032" indent="-256032">
              <a:spcBef>
                <a:spcPts val="0"/>
              </a:spcBef>
              <a:buClr>
                <a:schemeClr val="tx2"/>
              </a:buClr>
              <a:buFont typeface="Arial"/>
              <a:buChar char="•"/>
            </a:pPr>
            <a:r>
              <a:rPr sz="1600" b="0">
                <a:solidFill>
                  <a:schemeClr val="bg2">
                    <a:lumMod val="10000"/>
                  </a:schemeClr>
                </a:solidFill>
              </a:rPr>
              <a:t>Losowe porty wymuszają komunikaty ICMP i obciążają CPU.</a:t>
            </a:r>
          </a:p>
          <a:p>
            <a:pPr algn="l" marL="256032" indent="-256032">
              <a:spcBef>
                <a:spcPts val="600"/>
              </a:spcBef>
              <a:buClr>
                <a:schemeClr val="tx2"/>
              </a:buClr>
              <a:buFont typeface="Arial"/>
              <a:buChar char="•"/>
            </a:pPr>
            <a:r>
              <a:rPr sz="1600" b="0">
                <a:solidFill>
                  <a:schemeClr val="bg2">
                    <a:lumMod val="10000"/>
                  </a:schemeClr>
                </a:solidFill>
              </a:rPr>
              <a:t>Według raportów branżowych dominuje wśród ataków wolumetrycznych.</a:t>
            </a:r>
          </a:p>
        </p:txBody>
      </p:sp>
      <p:pic>
        <p:nvPicPr>
          <p:cNvPr id="26" name="Picture 25" descr="TCP-3-way-handshake.png"/>
          <p:cNvPicPr>
            <a:picLocks noChangeAspect="1"/>
          </p:cNvPicPr>
          <p:nvPr/>
        </p:nvPicPr>
        <p:blipFill>
          <a:blip r:embed="rId3"/>
          <a:stretch>
            <a:fillRect/>
          </a:stretch>
        </p:blipFill>
        <p:spPr>
          <a:xfrm>
            <a:off x="7452360" y="1874519"/>
            <a:ext cx="3590835" cy="3794760"/>
          </a:xfrm>
          <a:prstGeom prst="rect">
            <a:avLst/>
          </a:prstGeom>
        </p:spPr>
      </p:pic>
      <p:sp>
        <p:nvSpPr>
          <p:cNvPr id="27" name="TextBox 26"/>
          <p:cNvSpPr txBox="1"/>
          <p:nvPr/>
        </p:nvSpPr>
        <p:spPr>
          <a:xfrm>
            <a:off x="7315200" y="5715000"/>
            <a:ext cx="3840480" cy="457200"/>
          </a:xfrm>
          <a:prstGeom prst="rect">
            <a:avLst/>
          </a:prstGeom>
          <a:noFill/>
        </p:spPr>
        <p:txBody>
          <a:bodyPr wrap="square" anchor="t">
            <a:noAutofit/>
          </a:bodyPr>
          <a:lstStyle/>
          <a:p>
            <a:pPr algn="l">
              <a:spcBef>
                <a:spcPts val="0"/>
              </a:spcBef>
            </a:pPr>
            <a:r>
              <a:rPr sz="1100" b="0">
                <a:solidFill>
                  <a:schemeClr val="bg2">
                    <a:lumMod val="50000"/>
                  </a:schemeClr>
                </a:solidFill>
              </a:rPr>
              <a:t>Nawiązywanie połączenia TCP (opracowanie własne na podstawie RFC 9293)</a:t>
            </a:r>
          </a:p>
        </p:txBody>
      </p:sp>
      <p:sp>
        <p:nvSpPr>
          <p:cNvPr id="28" name="Źródła"/>
          <p:cNvSpPr txBox="1"/>
          <p:nvPr/>
        </p:nvSpPr>
        <p:spPr>
          <a:xfrm>
            <a:off x="1097280" y="6272784"/>
            <a:ext cx="9994392" cy="329184"/>
          </a:xfrm>
          <a:prstGeom prst="rect">
            <a:avLst/>
          </a:prstGeom>
          <a:noFill/>
        </p:spPr>
        <p:txBody>
          <a:bodyPr wrap="square" anchor="t">
            <a:noAutofit/>
          </a:bodyPr>
          <a:lstStyle/>
          <a:p>
            <a:pPr algn="l">
              <a:spcBef>
                <a:spcPts val="0"/>
              </a:spcBef>
            </a:pPr>
            <a:r>
              <a:rPr sz="1100" b="0">
                <a:solidFill>
                  <a:schemeClr val="bg2">
                    <a:lumMod val="50000"/>
                  </a:schemeClr>
                </a:solidFill>
              </a:rPr>
              <a:t>Źródła (numeracja jak w pracy): [1], [5], [11], [12]</a:t>
            </a:r>
          </a:p>
        </p:txBody>
      </p:sp>
    </p:spTree>
    <p:extLst>
      <p:ext uri="{BB962C8B-B14F-4D97-AF65-F5344CB8AC3E}">
        <p14:creationId xmlns:p14="http://schemas.microsoft.com/office/powerpoint/2010/main" val="29785648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rostokąt 4">
            <a:extLst>
              <a:ext uri="{FF2B5EF4-FFF2-40B4-BE49-F238E27FC236}">
                <a16:creationId xmlns:a16="http://schemas.microsoft.com/office/drawing/2014/main" id="{7CA99EC4-3C2E-53F3-55A5-01E21A2FCB45}"/>
              </a:ext>
            </a:extLst>
          </p:cNvPr>
          <p:cNvSpPr>
            <a:spLocks noGrp="1" noRot="1" noMove="1" noResize="1" noEditPoints="1" noAdjustHandles="1" noChangeArrowheads="1" noChangeShapeType="1"/>
          </p:cNvSpPr>
          <p:nvPr/>
        </p:nvSpPr>
        <p:spPr>
          <a:xfrm>
            <a:off x="0" y="0"/>
            <a:ext cx="12192000" cy="804672"/>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0" name="pole tekstowe 19">
            <a:extLst>
              <a:ext uri="{FF2B5EF4-FFF2-40B4-BE49-F238E27FC236}">
                <a16:creationId xmlns:a16="http://schemas.microsoft.com/office/drawing/2014/main" id="{DA7C4B59-9B8D-C16D-1201-5FC12125EDF7}"/>
              </a:ext>
            </a:extLst>
          </p:cNvPr>
          <p:cNvSpPr txBox="1">
            <a:spLocks noGrp="1" noRot="1" noMove="1" noResize="1" noEditPoints="1" noAdjustHandles="1" noChangeArrowheads="1" noChangeShapeType="1"/>
          </p:cNvSpPr>
          <p:nvPr/>
        </p:nvSpPr>
        <p:spPr>
          <a:xfrm>
            <a:off x="2629588" y="160326"/>
            <a:ext cx="8229600" cy="400110"/>
          </a:xfrm>
          <a:prstGeom prst="rect">
            <a:avLst/>
          </a:prstGeom>
          <a:noFill/>
        </p:spPr>
        <p:txBody>
          <a:bodyPr wrap="square" rtlCol="0">
            <a:spAutoFit/>
          </a:bodyPr>
          <a:lstStyle/>
          <a:p>
            <a:r>
              <a:rPr lang="pl-PL" sz="2000" dirty="0">
                <a:solidFill>
                  <a:schemeClr val="bg1"/>
                </a:solidFill>
                <a:latin typeface="Source Sans Pro Light" panose="020B0403030403020204" pitchFamily="34" charset="0"/>
              </a:rPr>
              <a:t>Obrona przed atakami DDoS — przegląd stanu wiedzy</a:t>
            </a:r>
          </a:p>
        </p:txBody>
      </p:sp>
      <p:pic>
        <p:nvPicPr>
          <p:cNvPr id="4" name="Obraz 3" descr="Obraz zawierający linia, design, sztuka, czarne i białe&#10;&#10;Opis wygenerowany automatycznie">
            <a:extLst>
              <a:ext uri="{FF2B5EF4-FFF2-40B4-BE49-F238E27FC236}">
                <a16:creationId xmlns:a16="http://schemas.microsoft.com/office/drawing/2014/main" id="{FB556C9B-EF3C-CE33-30D5-4FF03A12E4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2866" y="25052"/>
            <a:ext cx="739156" cy="745299"/>
          </a:xfrm>
          <a:prstGeom prst="rect">
            <a:avLst/>
          </a:prstGeom>
        </p:spPr>
      </p:pic>
      <p:sp>
        <p:nvSpPr>
          <p:cNvPr id="21" name="Tytuł 21"/>
          <p:cNvSpPr>
            <a:spLocks noGrp="1"/>
          </p:cNvSpPr>
          <p:nvPr>
            <p:ph type="title"/>
          </p:nvPr>
        </p:nvSpPr>
        <p:spPr>
          <a:xfrm>
            <a:off x="1097280" y="987552"/>
            <a:ext cx="9994392" cy="777240"/>
          </a:xfrm>
        </p:spPr>
        <p:txBody>
          <a:bodyPr vert="horz" wrap="square" lIns="91440" tIns="45720" rIns="91440" bIns="45720" anchor="t">
            <a:noAutofit/>
          </a:bodyPr>
          <a:lstStyle/>
          <a:p>
            <a:r>
              <a:rPr lang="pl-PL" sz="3600" dirty="0">
                <a:solidFill>
                  <a:schemeClr val="bg2">
                    <a:lumMod val="10000"/>
                  </a:schemeClr>
                </a:solidFill>
                <a:latin typeface="Source Sans Pro Light" panose="020B0403030403020204" pitchFamily="34" charset="0"/>
              </a:rPr>
              <a:t>Odbicie i wzmocnienie: DNS i TCP</a:t>
            </a:r>
          </a:p>
        </p:txBody>
      </p:sp>
      <p:pic>
        <p:nvPicPr>
          <p:cNvPr id="22" name="Picture 21" descr="DNS-Amplification.png"/>
          <p:cNvPicPr>
            <a:picLocks noChangeAspect="1"/>
          </p:cNvPicPr>
          <p:nvPr/>
        </p:nvPicPr>
        <p:blipFill>
          <a:blip r:embed="rId3"/>
          <a:stretch>
            <a:fillRect/>
          </a:stretch>
        </p:blipFill>
        <p:spPr>
          <a:xfrm>
            <a:off x="1097280" y="1874519"/>
            <a:ext cx="5486400" cy="3247401"/>
          </a:xfrm>
          <a:prstGeom prst="rect">
            <a:avLst/>
          </a:prstGeom>
        </p:spPr>
      </p:pic>
      <p:sp>
        <p:nvSpPr>
          <p:cNvPr id="23" name="TextBox 22"/>
          <p:cNvSpPr txBox="1"/>
          <p:nvPr/>
        </p:nvSpPr>
        <p:spPr>
          <a:xfrm>
            <a:off x="1097280" y="5167641"/>
            <a:ext cx="5486400" cy="365760"/>
          </a:xfrm>
          <a:prstGeom prst="rect">
            <a:avLst/>
          </a:prstGeom>
          <a:noFill/>
        </p:spPr>
        <p:txBody>
          <a:bodyPr wrap="square" anchor="t">
            <a:noAutofit/>
          </a:bodyPr>
          <a:lstStyle/>
          <a:p>
            <a:pPr algn="l">
              <a:spcBef>
                <a:spcPts val="0"/>
              </a:spcBef>
            </a:pPr>
            <a:r>
              <a:rPr sz="1100" b="0">
                <a:solidFill>
                  <a:schemeClr val="bg2">
                    <a:lumMod val="50000"/>
                  </a:schemeClr>
                </a:solidFill>
              </a:rPr>
              <a:t>Atak DNS Amplification (opracowanie własne)</a:t>
            </a:r>
          </a:p>
        </p:txBody>
      </p:sp>
      <p:sp>
        <p:nvSpPr>
          <p:cNvPr id="24" name="TextBox 23"/>
          <p:cNvSpPr txBox="1"/>
          <p:nvPr/>
        </p:nvSpPr>
        <p:spPr>
          <a:xfrm>
            <a:off x="6995160" y="1828800"/>
            <a:ext cx="4114800" cy="685800"/>
          </a:xfrm>
          <a:prstGeom prst="rect">
            <a:avLst/>
          </a:prstGeom>
          <a:noFill/>
        </p:spPr>
        <p:txBody>
          <a:bodyPr wrap="square" anchor="t">
            <a:noAutofit/>
          </a:bodyPr>
          <a:lstStyle/>
          <a:p>
            <a:pPr algn="l">
              <a:spcBef>
                <a:spcPts val="0"/>
              </a:spcBef>
            </a:pPr>
            <a:r>
              <a:rPr sz="4000" b="0">
                <a:solidFill>
                  <a:schemeClr val="tx2"/>
                </a:solidFill>
                <a:latin typeface="Source Sans Pro Light"/>
              </a:rPr>
              <a:t>96%</a:t>
            </a:r>
          </a:p>
        </p:txBody>
      </p:sp>
      <p:sp>
        <p:nvSpPr>
          <p:cNvPr id="25" name="TextBox 24"/>
          <p:cNvSpPr txBox="1"/>
          <p:nvPr/>
        </p:nvSpPr>
        <p:spPr>
          <a:xfrm>
            <a:off x="6995160" y="2487168"/>
            <a:ext cx="4114800" cy="777240"/>
          </a:xfrm>
          <a:prstGeom prst="rect">
            <a:avLst/>
          </a:prstGeom>
          <a:noFill/>
        </p:spPr>
        <p:txBody>
          <a:bodyPr wrap="square" anchor="t">
            <a:noAutofit/>
          </a:bodyPr>
          <a:lstStyle/>
          <a:p>
            <a:pPr algn="l">
              <a:spcBef>
                <a:spcPts val="0"/>
              </a:spcBef>
            </a:pPr>
            <a:r>
              <a:rPr sz="1600" b="0">
                <a:solidFill>
                  <a:schemeClr val="bg2">
                    <a:lumMod val="10000"/>
                  </a:schemeClr>
                </a:solidFill>
              </a:rPr>
              <a:t>ataków widocznych w punkcie wymiany ruchu (IXP) nie widziały honeypoty</a:t>
            </a:r>
          </a:p>
        </p:txBody>
      </p:sp>
      <p:sp>
        <p:nvSpPr>
          <p:cNvPr id="26" name="TextBox 25"/>
          <p:cNvSpPr txBox="1"/>
          <p:nvPr/>
        </p:nvSpPr>
        <p:spPr>
          <a:xfrm>
            <a:off x="6995160" y="3337560"/>
            <a:ext cx="4114800" cy="685800"/>
          </a:xfrm>
          <a:prstGeom prst="rect">
            <a:avLst/>
          </a:prstGeom>
          <a:noFill/>
        </p:spPr>
        <p:txBody>
          <a:bodyPr wrap="square" anchor="t">
            <a:noAutofit/>
          </a:bodyPr>
          <a:lstStyle/>
          <a:p>
            <a:pPr algn="l">
              <a:spcBef>
                <a:spcPts val="0"/>
              </a:spcBef>
            </a:pPr>
            <a:r>
              <a:rPr sz="4000" b="0">
                <a:solidFill>
                  <a:schemeClr val="tx2"/>
                </a:solidFill>
                <a:latin typeface="Source Sans Pro Light"/>
              </a:rPr>
              <a:t>386 187</a:t>
            </a:r>
          </a:p>
        </p:txBody>
      </p:sp>
      <p:sp>
        <p:nvSpPr>
          <p:cNvPr id="27" name="TextBox 26"/>
          <p:cNvSpPr txBox="1"/>
          <p:nvPr/>
        </p:nvSpPr>
        <p:spPr>
          <a:xfrm>
            <a:off x="6995160" y="3995928"/>
            <a:ext cx="4114800" cy="777240"/>
          </a:xfrm>
          <a:prstGeom prst="rect">
            <a:avLst/>
          </a:prstGeom>
          <a:noFill/>
        </p:spPr>
        <p:txBody>
          <a:bodyPr wrap="square" anchor="t">
            <a:noAutofit/>
          </a:bodyPr>
          <a:lstStyle/>
          <a:p>
            <a:pPr algn="l">
              <a:spcBef>
                <a:spcPts val="0"/>
              </a:spcBef>
            </a:pPr>
            <a:r>
              <a:rPr sz="1600" b="0">
                <a:solidFill>
                  <a:schemeClr val="bg2">
                    <a:lumMod val="10000"/>
                  </a:schemeClr>
                </a:solidFill>
              </a:rPr>
              <a:t>adresów IPv4 wzmacnia ruch TCP co najmniej 100-krotnie (middleboxy)</a:t>
            </a:r>
          </a:p>
        </p:txBody>
      </p:sp>
      <p:sp>
        <p:nvSpPr>
          <p:cNvPr id="28" name="TextBox 27"/>
          <p:cNvSpPr txBox="1"/>
          <p:nvPr/>
        </p:nvSpPr>
        <p:spPr>
          <a:xfrm>
            <a:off x="6995160" y="4892040"/>
            <a:ext cx="4114800" cy="1234440"/>
          </a:xfrm>
          <a:prstGeom prst="rect">
            <a:avLst/>
          </a:prstGeom>
          <a:noFill/>
        </p:spPr>
        <p:txBody>
          <a:bodyPr wrap="square" anchor="t">
            <a:noAutofit/>
          </a:bodyPr>
          <a:lstStyle/>
          <a:p>
            <a:pPr algn="l">
              <a:spcBef>
                <a:spcPts val="0"/>
              </a:spcBef>
            </a:pPr>
            <a:r>
              <a:rPr sz="1600" b="1">
                <a:solidFill>
                  <a:schemeClr val="bg2">
                    <a:lumMod val="10000"/>
                  </a:schemeClr>
                </a:solidFill>
              </a:rPr>
              <a:t>Wniosek: </a:t>
            </a:r>
            <a:r>
              <a:rPr sz="1600" b="0">
                <a:solidFill>
                  <a:schemeClr val="bg2">
                    <a:lumMod val="10000"/>
                  </a:schemeClr>
                </a:solidFill>
              </a:rPr>
              <a:t>ofiara widzi reflektory, nie atakującego — blokada adresu źródłowego trafia w infrastrukturę pośredniczącą.</a:t>
            </a:r>
          </a:p>
        </p:txBody>
      </p:sp>
      <p:sp>
        <p:nvSpPr>
          <p:cNvPr id="29" name="Źródła"/>
          <p:cNvSpPr txBox="1"/>
          <p:nvPr/>
        </p:nvSpPr>
        <p:spPr>
          <a:xfrm>
            <a:off x="1097280" y="6272784"/>
            <a:ext cx="9994392" cy="329184"/>
          </a:xfrm>
          <a:prstGeom prst="rect">
            <a:avLst/>
          </a:prstGeom>
          <a:noFill/>
        </p:spPr>
        <p:txBody>
          <a:bodyPr wrap="square" anchor="t">
            <a:noAutofit/>
          </a:bodyPr>
          <a:lstStyle/>
          <a:p>
            <a:pPr algn="l">
              <a:spcBef>
                <a:spcPts val="0"/>
              </a:spcBef>
            </a:pPr>
            <a:r>
              <a:rPr sz="1100" b="0">
                <a:solidFill>
                  <a:schemeClr val="bg2">
                    <a:lumMod val="50000"/>
                  </a:schemeClr>
                </a:solidFill>
              </a:rPr>
              <a:t>Źródła (numeracja jak w pracy): [3], [4], [20], [21]</a:t>
            </a:r>
          </a:p>
        </p:txBody>
      </p:sp>
    </p:spTree>
    <p:extLst>
      <p:ext uri="{BB962C8B-B14F-4D97-AF65-F5344CB8AC3E}">
        <p14:creationId xmlns:p14="http://schemas.microsoft.com/office/powerpoint/2010/main" val="29785648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rostokąt 4">
            <a:extLst>
              <a:ext uri="{FF2B5EF4-FFF2-40B4-BE49-F238E27FC236}">
                <a16:creationId xmlns:a16="http://schemas.microsoft.com/office/drawing/2014/main" id="{7CA99EC4-3C2E-53F3-55A5-01E21A2FCB45}"/>
              </a:ext>
            </a:extLst>
          </p:cNvPr>
          <p:cNvSpPr>
            <a:spLocks noGrp="1" noRot="1" noMove="1" noResize="1" noEditPoints="1" noAdjustHandles="1" noChangeArrowheads="1" noChangeShapeType="1"/>
          </p:cNvSpPr>
          <p:nvPr/>
        </p:nvSpPr>
        <p:spPr>
          <a:xfrm>
            <a:off x="0" y="0"/>
            <a:ext cx="12192000" cy="804672"/>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0" name="pole tekstowe 19">
            <a:extLst>
              <a:ext uri="{FF2B5EF4-FFF2-40B4-BE49-F238E27FC236}">
                <a16:creationId xmlns:a16="http://schemas.microsoft.com/office/drawing/2014/main" id="{DA7C4B59-9B8D-C16D-1201-5FC12125EDF7}"/>
              </a:ext>
            </a:extLst>
          </p:cNvPr>
          <p:cNvSpPr txBox="1">
            <a:spLocks noGrp="1" noRot="1" noMove="1" noResize="1" noEditPoints="1" noAdjustHandles="1" noChangeArrowheads="1" noChangeShapeType="1"/>
          </p:cNvSpPr>
          <p:nvPr/>
        </p:nvSpPr>
        <p:spPr>
          <a:xfrm>
            <a:off x="2629588" y="160326"/>
            <a:ext cx="8229600" cy="400110"/>
          </a:xfrm>
          <a:prstGeom prst="rect">
            <a:avLst/>
          </a:prstGeom>
          <a:noFill/>
        </p:spPr>
        <p:txBody>
          <a:bodyPr wrap="square" rtlCol="0">
            <a:spAutoFit/>
          </a:bodyPr>
          <a:lstStyle/>
          <a:p>
            <a:r>
              <a:rPr lang="pl-PL" sz="2000" dirty="0">
                <a:solidFill>
                  <a:schemeClr val="bg1"/>
                </a:solidFill>
                <a:latin typeface="Source Sans Pro Light" panose="020B0403030403020204" pitchFamily="34" charset="0"/>
              </a:rPr>
              <a:t>Obrona przed atakami DDoS — przegląd stanu wiedzy</a:t>
            </a:r>
          </a:p>
        </p:txBody>
      </p:sp>
      <p:pic>
        <p:nvPicPr>
          <p:cNvPr id="4" name="Obraz 3" descr="Obraz zawierający linia, design, sztuka, czarne i białe&#10;&#10;Opis wygenerowany automatycznie">
            <a:extLst>
              <a:ext uri="{FF2B5EF4-FFF2-40B4-BE49-F238E27FC236}">
                <a16:creationId xmlns:a16="http://schemas.microsoft.com/office/drawing/2014/main" id="{FB556C9B-EF3C-CE33-30D5-4FF03A12E4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2866" y="25052"/>
            <a:ext cx="739156" cy="745299"/>
          </a:xfrm>
          <a:prstGeom prst="rect">
            <a:avLst/>
          </a:prstGeom>
        </p:spPr>
      </p:pic>
      <p:sp>
        <p:nvSpPr>
          <p:cNvPr id="21" name="Tytuł 21"/>
          <p:cNvSpPr>
            <a:spLocks noGrp="1"/>
          </p:cNvSpPr>
          <p:nvPr>
            <p:ph type="title"/>
          </p:nvPr>
        </p:nvSpPr>
        <p:spPr>
          <a:xfrm>
            <a:off x="1097280" y="987552"/>
            <a:ext cx="9994392" cy="777240"/>
          </a:xfrm>
        </p:spPr>
        <p:txBody>
          <a:bodyPr vert="horz" wrap="square" lIns="91440" tIns="45720" rIns="91440" bIns="45720" anchor="t">
            <a:noAutofit/>
          </a:bodyPr>
          <a:lstStyle/>
          <a:p>
            <a:r>
              <a:rPr lang="pl-PL" sz="3600" dirty="0">
                <a:solidFill>
                  <a:schemeClr val="bg2">
                    <a:lumMod val="10000"/>
                  </a:schemeClr>
                </a:solidFill>
                <a:latin typeface="Source Sans Pro Light" panose="020B0403030403020204" pitchFamily="34" charset="0"/>
              </a:rPr>
              <a:t>Ataki low-and-slow: Slowloris, R.U.D.Y., Slow Read</a:t>
            </a:r>
          </a:p>
        </p:txBody>
      </p:sp>
      <p:sp>
        <p:nvSpPr>
          <p:cNvPr id="22" name="TextBox 21"/>
          <p:cNvSpPr txBox="1"/>
          <p:nvPr/>
        </p:nvSpPr>
        <p:spPr>
          <a:xfrm>
            <a:off x="1051560" y="1801367"/>
            <a:ext cx="548640" cy="731520"/>
          </a:xfrm>
          <a:prstGeom prst="rect">
            <a:avLst/>
          </a:prstGeom>
          <a:noFill/>
        </p:spPr>
        <p:txBody>
          <a:bodyPr wrap="square" anchor="t">
            <a:noAutofit/>
          </a:bodyPr>
          <a:lstStyle/>
          <a:p>
            <a:pPr algn="l">
              <a:spcBef>
                <a:spcPts val="0"/>
              </a:spcBef>
            </a:pPr>
            <a:r>
              <a:rPr sz="4000" b="0">
                <a:solidFill>
                  <a:schemeClr val="tx2"/>
                </a:solidFill>
                <a:latin typeface="Source Sans Pro Light"/>
              </a:rPr>
              <a:t>1</a:t>
            </a:r>
          </a:p>
        </p:txBody>
      </p:sp>
      <p:sp>
        <p:nvSpPr>
          <p:cNvPr id="23" name="TextBox 22"/>
          <p:cNvSpPr txBox="1"/>
          <p:nvPr/>
        </p:nvSpPr>
        <p:spPr>
          <a:xfrm>
            <a:off x="1600200" y="1874519"/>
            <a:ext cx="4937760" cy="411480"/>
          </a:xfrm>
          <a:prstGeom prst="rect">
            <a:avLst/>
          </a:prstGeom>
          <a:noFill/>
        </p:spPr>
        <p:txBody>
          <a:bodyPr wrap="square" anchor="t">
            <a:noAutofit/>
          </a:bodyPr>
          <a:lstStyle/>
          <a:p>
            <a:pPr algn="l">
              <a:spcBef>
                <a:spcPts val="0"/>
              </a:spcBef>
            </a:pPr>
            <a:r>
              <a:rPr sz="2000" b="0">
                <a:solidFill>
                  <a:schemeClr val="bg2">
                    <a:lumMod val="10000"/>
                  </a:schemeClr>
                </a:solidFill>
              </a:rPr>
              <a:t>SLOWLORIS (SLOW GET)</a:t>
            </a:r>
          </a:p>
        </p:txBody>
      </p:sp>
      <p:sp>
        <p:nvSpPr>
          <p:cNvPr id="24" name="TextBox 23"/>
          <p:cNvSpPr txBox="1"/>
          <p:nvPr/>
        </p:nvSpPr>
        <p:spPr>
          <a:xfrm>
            <a:off x="1600200" y="2267712"/>
            <a:ext cx="4937760" cy="777240"/>
          </a:xfrm>
          <a:prstGeom prst="rect">
            <a:avLst/>
          </a:prstGeom>
          <a:noFill/>
        </p:spPr>
        <p:txBody>
          <a:bodyPr wrap="square" anchor="t">
            <a:noAutofit/>
          </a:bodyPr>
          <a:lstStyle/>
          <a:p>
            <a:pPr algn="l">
              <a:spcBef>
                <a:spcPts val="0"/>
              </a:spcBef>
            </a:pPr>
            <a:r>
              <a:rPr sz="1600" b="0">
                <a:solidFill>
                  <a:schemeClr val="bg2">
                    <a:lumMod val="10000"/>
                  </a:schemeClr>
                </a:solidFill>
              </a:rPr>
              <a:t>Niepełne nagłówki bez końcowego \r\n\r\n; kolejne fragmenty tuż przed upływem limitu czasu.</a:t>
            </a:r>
          </a:p>
        </p:txBody>
      </p:sp>
      <p:sp>
        <p:nvSpPr>
          <p:cNvPr id="25" name="TextBox 24"/>
          <p:cNvSpPr txBox="1"/>
          <p:nvPr/>
        </p:nvSpPr>
        <p:spPr>
          <a:xfrm>
            <a:off x="1051560" y="2990087"/>
            <a:ext cx="548640" cy="731520"/>
          </a:xfrm>
          <a:prstGeom prst="rect">
            <a:avLst/>
          </a:prstGeom>
          <a:noFill/>
        </p:spPr>
        <p:txBody>
          <a:bodyPr wrap="square" anchor="t">
            <a:noAutofit/>
          </a:bodyPr>
          <a:lstStyle/>
          <a:p>
            <a:pPr algn="l">
              <a:spcBef>
                <a:spcPts val="0"/>
              </a:spcBef>
            </a:pPr>
            <a:r>
              <a:rPr sz="4000" b="0">
                <a:solidFill>
                  <a:schemeClr val="tx2"/>
                </a:solidFill>
                <a:latin typeface="Source Sans Pro Light"/>
              </a:rPr>
              <a:t>2</a:t>
            </a:r>
          </a:p>
        </p:txBody>
      </p:sp>
      <p:sp>
        <p:nvSpPr>
          <p:cNvPr id="26" name="TextBox 25"/>
          <p:cNvSpPr txBox="1"/>
          <p:nvPr/>
        </p:nvSpPr>
        <p:spPr>
          <a:xfrm>
            <a:off x="1600200" y="3063239"/>
            <a:ext cx="4937760" cy="411480"/>
          </a:xfrm>
          <a:prstGeom prst="rect">
            <a:avLst/>
          </a:prstGeom>
          <a:noFill/>
        </p:spPr>
        <p:txBody>
          <a:bodyPr wrap="square" anchor="t">
            <a:noAutofit/>
          </a:bodyPr>
          <a:lstStyle/>
          <a:p>
            <a:pPr algn="l">
              <a:spcBef>
                <a:spcPts val="0"/>
              </a:spcBef>
            </a:pPr>
            <a:r>
              <a:rPr sz="2000" b="0">
                <a:solidFill>
                  <a:schemeClr val="bg2">
                    <a:lumMod val="10000"/>
                  </a:schemeClr>
                </a:solidFill>
              </a:rPr>
              <a:t>R.U.D.Y. (SLOW POST)</a:t>
            </a:r>
          </a:p>
        </p:txBody>
      </p:sp>
      <p:sp>
        <p:nvSpPr>
          <p:cNvPr id="27" name="TextBox 26"/>
          <p:cNvSpPr txBox="1"/>
          <p:nvPr/>
        </p:nvSpPr>
        <p:spPr>
          <a:xfrm>
            <a:off x="1600200" y="3456432"/>
            <a:ext cx="4937760" cy="777240"/>
          </a:xfrm>
          <a:prstGeom prst="rect">
            <a:avLst/>
          </a:prstGeom>
          <a:noFill/>
        </p:spPr>
        <p:txBody>
          <a:bodyPr wrap="square" anchor="t">
            <a:noAutofit/>
          </a:bodyPr>
          <a:lstStyle/>
          <a:p>
            <a:pPr algn="l">
              <a:spcBef>
                <a:spcPts val="0"/>
              </a:spcBef>
            </a:pPr>
            <a:r>
              <a:rPr sz="1600" b="0">
                <a:solidFill>
                  <a:schemeClr val="bg2">
                    <a:lumMod val="10000"/>
                  </a:schemeClr>
                </a:solidFill>
              </a:rPr>
              <a:t>Zawyżony Content-Length i ciało żądania przesyłane po kilka bajtów.</a:t>
            </a:r>
          </a:p>
        </p:txBody>
      </p:sp>
      <p:sp>
        <p:nvSpPr>
          <p:cNvPr id="28" name="TextBox 27"/>
          <p:cNvSpPr txBox="1"/>
          <p:nvPr/>
        </p:nvSpPr>
        <p:spPr>
          <a:xfrm>
            <a:off x="1051560" y="4178808"/>
            <a:ext cx="548640" cy="731520"/>
          </a:xfrm>
          <a:prstGeom prst="rect">
            <a:avLst/>
          </a:prstGeom>
          <a:noFill/>
        </p:spPr>
        <p:txBody>
          <a:bodyPr wrap="square" anchor="t">
            <a:noAutofit/>
          </a:bodyPr>
          <a:lstStyle/>
          <a:p>
            <a:pPr algn="l">
              <a:spcBef>
                <a:spcPts val="0"/>
              </a:spcBef>
            </a:pPr>
            <a:r>
              <a:rPr sz="4000" b="0">
                <a:solidFill>
                  <a:schemeClr val="tx2"/>
                </a:solidFill>
                <a:latin typeface="Source Sans Pro Light"/>
              </a:rPr>
              <a:t>3</a:t>
            </a:r>
          </a:p>
        </p:txBody>
      </p:sp>
      <p:sp>
        <p:nvSpPr>
          <p:cNvPr id="29" name="TextBox 28"/>
          <p:cNvSpPr txBox="1"/>
          <p:nvPr/>
        </p:nvSpPr>
        <p:spPr>
          <a:xfrm>
            <a:off x="1600200" y="4251960"/>
            <a:ext cx="4937760" cy="411480"/>
          </a:xfrm>
          <a:prstGeom prst="rect">
            <a:avLst/>
          </a:prstGeom>
          <a:noFill/>
        </p:spPr>
        <p:txBody>
          <a:bodyPr wrap="square" anchor="t">
            <a:noAutofit/>
          </a:bodyPr>
          <a:lstStyle/>
          <a:p>
            <a:pPr algn="l">
              <a:spcBef>
                <a:spcPts val="0"/>
              </a:spcBef>
            </a:pPr>
            <a:r>
              <a:rPr sz="2000" b="0">
                <a:solidFill>
                  <a:schemeClr val="bg2">
                    <a:lumMod val="10000"/>
                  </a:schemeClr>
                </a:solidFill>
              </a:rPr>
              <a:t>SLOW READ</a:t>
            </a:r>
          </a:p>
        </p:txBody>
      </p:sp>
      <p:sp>
        <p:nvSpPr>
          <p:cNvPr id="30" name="TextBox 29"/>
          <p:cNvSpPr txBox="1"/>
          <p:nvPr/>
        </p:nvSpPr>
        <p:spPr>
          <a:xfrm>
            <a:off x="1600200" y="4645152"/>
            <a:ext cx="4937760" cy="777240"/>
          </a:xfrm>
          <a:prstGeom prst="rect">
            <a:avLst/>
          </a:prstGeom>
          <a:noFill/>
        </p:spPr>
        <p:txBody>
          <a:bodyPr wrap="square" anchor="t">
            <a:noAutofit/>
          </a:bodyPr>
          <a:lstStyle/>
          <a:p>
            <a:pPr algn="l">
              <a:spcBef>
                <a:spcPts val="0"/>
              </a:spcBef>
            </a:pPr>
            <a:r>
              <a:rPr sz="1600" b="0">
                <a:solidFill>
                  <a:schemeClr val="bg2">
                    <a:lumMod val="10000"/>
                  </a:schemeClr>
                </a:solidFill>
              </a:rPr>
              <a:t>Poprawne żądanie GET i bardzo małe okno odbiorcze TCP — odpowiedź płynie w drobnych częściach.</a:t>
            </a:r>
          </a:p>
        </p:txBody>
      </p:sp>
      <p:sp>
        <p:nvSpPr>
          <p:cNvPr id="31" name="TextBox 30"/>
          <p:cNvSpPr txBox="1"/>
          <p:nvPr/>
        </p:nvSpPr>
        <p:spPr>
          <a:xfrm>
            <a:off x="1097280" y="5440680"/>
            <a:ext cx="5486400" cy="731520"/>
          </a:xfrm>
          <a:prstGeom prst="rect">
            <a:avLst/>
          </a:prstGeom>
          <a:noFill/>
        </p:spPr>
        <p:txBody>
          <a:bodyPr wrap="square" anchor="t">
            <a:noAutofit/>
          </a:bodyPr>
          <a:lstStyle/>
          <a:p>
            <a:pPr algn="l">
              <a:spcBef>
                <a:spcPts val="0"/>
              </a:spcBef>
            </a:pPr>
            <a:r>
              <a:rPr sz="1600" b="1">
                <a:solidFill>
                  <a:schemeClr val="bg2">
                    <a:lumMod val="10000"/>
                  </a:schemeClr>
                </a:solidFill>
              </a:rPr>
              <a:t>Wspólna cecha: </a:t>
            </a:r>
            <a:r>
              <a:rPr sz="1600" b="0">
                <a:solidFill>
                  <a:schemeClr val="bg2">
                    <a:lumMod val="10000"/>
                  </a:schemeClr>
                </a:solidFill>
              </a:rPr>
              <a:t>minimalny wolumen, ruch podobny do wolnych klientów.</a:t>
            </a:r>
          </a:p>
        </p:txBody>
      </p:sp>
      <p:pic>
        <p:nvPicPr>
          <p:cNvPr id="32" name="Picture 31" descr="SlowLoris.png"/>
          <p:cNvPicPr>
            <a:picLocks noChangeAspect="1"/>
          </p:cNvPicPr>
          <p:nvPr/>
        </p:nvPicPr>
        <p:blipFill>
          <a:blip r:embed="rId3"/>
          <a:stretch>
            <a:fillRect/>
          </a:stretch>
        </p:blipFill>
        <p:spPr>
          <a:xfrm>
            <a:off x="6903720" y="1874519"/>
            <a:ext cx="4160520" cy="1669344"/>
          </a:xfrm>
          <a:prstGeom prst="rect">
            <a:avLst/>
          </a:prstGeom>
        </p:spPr>
      </p:pic>
      <p:sp>
        <p:nvSpPr>
          <p:cNvPr id="33" name="TextBox 32"/>
          <p:cNvSpPr txBox="1"/>
          <p:nvPr/>
        </p:nvSpPr>
        <p:spPr>
          <a:xfrm>
            <a:off x="6903720" y="3543864"/>
            <a:ext cx="4160520" cy="320040"/>
          </a:xfrm>
          <a:prstGeom prst="rect">
            <a:avLst/>
          </a:prstGeom>
          <a:noFill/>
        </p:spPr>
        <p:txBody>
          <a:bodyPr wrap="square" anchor="t">
            <a:noAutofit/>
          </a:bodyPr>
          <a:lstStyle/>
          <a:p>
            <a:pPr algn="l">
              <a:spcBef>
                <a:spcPts val="0"/>
              </a:spcBef>
            </a:pPr>
            <a:r>
              <a:rPr sz="1100" b="0">
                <a:solidFill>
                  <a:schemeClr val="bg2">
                    <a:lumMod val="50000"/>
                  </a:schemeClr>
                </a:solidFill>
              </a:rPr>
              <a:t>Slowloris (opracowanie własne)</a:t>
            </a:r>
          </a:p>
        </p:txBody>
      </p:sp>
      <p:pic>
        <p:nvPicPr>
          <p:cNvPr id="34" name="Picture 33" descr="RUDY.png"/>
          <p:cNvPicPr>
            <a:picLocks noChangeAspect="1"/>
          </p:cNvPicPr>
          <p:nvPr/>
        </p:nvPicPr>
        <p:blipFill>
          <a:blip r:embed="rId4"/>
          <a:stretch>
            <a:fillRect/>
          </a:stretch>
        </p:blipFill>
        <p:spPr>
          <a:xfrm>
            <a:off x="6903720" y="3977639"/>
            <a:ext cx="4160520" cy="1669344"/>
          </a:xfrm>
          <a:prstGeom prst="rect">
            <a:avLst/>
          </a:prstGeom>
        </p:spPr>
      </p:pic>
      <p:sp>
        <p:nvSpPr>
          <p:cNvPr id="35" name="TextBox 34"/>
          <p:cNvSpPr txBox="1"/>
          <p:nvPr/>
        </p:nvSpPr>
        <p:spPr>
          <a:xfrm>
            <a:off x="6903720" y="5646984"/>
            <a:ext cx="4160520" cy="320040"/>
          </a:xfrm>
          <a:prstGeom prst="rect">
            <a:avLst/>
          </a:prstGeom>
          <a:noFill/>
        </p:spPr>
        <p:txBody>
          <a:bodyPr wrap="square" anchor="t">
            <a:noAutofit/>
          </a:bodyPr>
          <a:lstStyle/>
          <a:p>
            <a:pPr algn="l">
              <a:spcBef>
                <a:spcPts val="0"/>
              </a:spcBef>
            </a:pPr>
            <a:r>
              <a:rPr sz="1100" b="0">
                <a:solidFill>
                  <a:schemeClr val="bg2">
                    <a:lumMod val="50000"/>
                  </a:schemeClr>
                </a:solidFill>
              </a:rPr>
              <a:t>R.U.D.Y. (opracowanie własne)</a:t>
            </a:r>
          </a:p>
        </p:txBody>
      </p:sp>
      <p:sp>
        <p:nvSpPr>
          <p:cNvPr id="36" name="Źródła"/>
          <p:cNvSpPr txBox="1"/>
          <p:nvPr/>
        </p:nvSpPr>
        <p:spPr>
          <a:xfrm>
            <a:off x="1097280" y="6272784"/>
            <a:ext cx="9994392" cy="329184"/>
          </a:xfrm>
          <a:prstGeom prst="rect">
            <a:avLst/>
          </a:prstGeom>
          <a:noFill/>
        </p:spPr>
        <p:txBody>
          <a:bodyPr wrap="square" anchor="t">
            <a:noAutofit/>
          </a:bodyPr>
          <a:lstStyle/>
          <a:p>
            <a:pPr algn="l">
              <a:spcBef>
                <a:spcPts val="0"/>
              </a:spcBef>
            </a:pPr>
            <a:r>
              <a:rPr sz="1100" b="0">
                <a:solidFill>
                  <a:schemeClr val="bg2">
                    <a:lumMod val="50000"/>
                  </a:schemeClr>
                </a:solidFill>
              </a:rPr>
              <a:t>Źródła (numeracja jak w pracy): [8]</a:t>
            </a:r>
          </a:p>
        </p:txBody>
      </p:sp>
    </p:spTree>
    <p:extLst>
      <p:ext uri="{BB962C8B-B14F-4D97-AF65-F5344CB8AC3E}">
        <p14:creationId xmlns:p14="http://schemas.microsoft.com/office/powerpoint/2010/main" val="29785648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rostokąt 4">
            <a:extLst>
              <a:ext uri="{FF2B5EF4-FFF2-40B4-BE49-F238E27FC236}">
                <a16:creationId xmlns:a16="http://schemas.microsoft.com/office/drawing/2014/main" id="{7CA99EC4-3C2E-53F3-55A5-01E21A2FCB45}"/>
              </a:ext>
            </a:extLst>
          </p:cNvPr>
          <p:cNvSpPr>
            <a:spLocks noGrp="1" noRot="1" noMove="1" noResize="1" noEditPoints="1" noAdjustHandles="1" noChangeArrowheads="1" noChangeShapeType="1"/>
          </p:cNvSpPr>
          <p:nvPr/>
        </p:nvSpPr>
        <p:spPr>
          <a:xfrm>
            <a:off x="0" y="0"/>
            <a:ext cx="12192000" cy="804672"/>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0" name="pole tekstowe 19">
            <a:extLst>
              <a:ext uri="{FF2B5EF4-FFF2-40B4-BE49-F238E27FC236}">
                <a16:creationId xmlns:a16="http://schemas.microsoft.com/office/drawing/2014/main" id="{DA7C4B59-9B8D-C16D-1201-5FC12125EDF7}"/>
              </a:ext>
            </a:extLst>
          </p:cNvPr>
          <p:cNvSpPr txBox="1">
            <a:spLocks noGrp="1" noRot="1" noMove="1" noResize="1" noEditPoints="1" noAdjustHandles="1" noChangeArrowheads="1" noChangeShapeType="1"/>
          </p:cNvSpPr>
          <p:nvPr/>
        </p:nvSpPr>
        <p:spPr>
          <a:xfrm>
            <a:off x="2629588" y="160326"/>
            <a:ext cx="8229600" cy="400110"/>
          </a:xfrm>
          <a:prstGeom prst="rect">
            <a:avLst/>
          </a:prstGeom>
          <a:noFill/>
        </p:spPr>
        <p:txBody>
          <a:bodyPr wrap="square" rtlCol="0">
            <a:spAutoFit/>
          </a:bodyPr>
          <a:lstStyle/>
          <a:p>
            <a:r>
              <a:rPr lang="pl-PL" sz="2000" dirty="0">
                <a:solidFill>
                  <a:schemeClr val="bg1"/>
                </a:solidFill>
                <a:latin typeface="Source Sans Pro Light" panose="020B0403030403020204" pitchFamily="34" charset="0"/>
              </a:rPr>
              <a:t>Obrona przed atakami DDoS — przegląd stanu wiedzy</a:t>
            </a:r>
          </a:p>
        </p:txBody>
      </p:sp>
      <p:pic>
        <p:nvPicPr>
          <p:cNvPr id="4" name="Obraz 3" descr="Obraz zawierający linia, design, sztuka, czarne i białe&#10;&#10;Opis wygenerowany automatycznie">
            <a:extLst>
              <a:ext uri="{FF2B5EF4-FFF2-40B4-BE49-F238E27FC236}">
                <a16:creationId xmlns:a16="http://schemas.microsoft.com/office/drawing/2014/main" id="{FB556C9B-EF3C-CE33-30D5-4FF03A12E4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2866" y="25052"/>
            <a:ext cx="739156" cy="745299"/>
          </a:xfrm>
          <a:prstGeom prst="rect">
            <a:avLst/>
          </a:prstGeom>
        </p:spPr>
      </p:pic>
      <p:sp>
        <p:nvSpPr>
          <p:cNvPr id="21" name="Tytuł 21"/>
          <p:cNvSpPr>
            <a:spLocks noGrp="1"/>
          </p:cNvSpPr>
          <p:nvPr>
            <p:ph type="title"/>
          </p:nvPr>
        </p:nvSpPr>
        <p:spPr>
          <a:xfrm>
            <a:off x="1097280" y="987552"/>
            <a:ext cx="9994392" cy="777240"/>
          </a:xfrm>
        </p:spPr>
        <p:txBody>
          <a:bodyPr vert="horz" wrap="square" lIns="91440" tIns="45720" rIns="91440" bIns="45720" anchor="t">
            <a:noAutofit/>
          </a:bodyPr>
          <a:lstStyle/>
          <a:p>
            <a:r>
              <a:rPr lang="pl-PL" sz="3600" dirty="0">
                <a:solidFill>
                  <a:schemeClr val="bg2">
                    <a:lumMod val="10000"/>
                  </a:schemeClr>
                </a:solidFill>
                <a:latin typeface="Source Sans Pro Light" panose="020B0403030403020204" pitchFamily="34" charset="0"/>
              </a:rPr>
              <a:t>Dlaczego progi wolumenu zawodzą</a:t>
            </a:r>
          </a:p>
        </p:txBody>
      </p:sp>
      <p:sp>
        <p:nvSpPr>
          <p:cNvPr id="22" name="TextBox 21"/>
          <p:cNvSpPr txBox="1"/>
          <p:nvPr/>
        </p:nvSpPr>
        <p:spPr>
          <a:xfrm>
            <a:off x="1097280" y="1783080"/>
            <a:ext cx="3154680" cy="685800"/>
          </a:xfrm>
          <a:prstGeom prst="rect">
            <a:avLst/>
          </a:prstGeom>
          <a:noFill/>
        </p:spPr>
        <p:txBody>
          <a:bodyPr wrap="square" anchor="t">
            <a:noAutofit/>
          </a:bodyPr>
          <a:lstStyle/>
          <a:p>
            <a:pPr algn="l">
              <a:spcBef>
                <a:spcPts val="0"/>
              </a:spcBef>
            </a:pPr>
            <a:r>
              <a:rPr sz="4000" b="0">
                <a:solidFill>
                  <a:schemeClr val="tx2"/>
                </a:solidFill>
                <a:latin typeface="Source Sans Pro Light"/>
              </a:rPr>
              <a:t>11 / 11</a:t>
            </a:r>
          </a:p>
        </p:txBody>
      </p:sp>
      <p:sp>
        <p:nvSpPr>
          <p:cNvPr id="23" name="TextBox 22"/>
          <p:cNvSpPr txBox="1"/>
          <p:nvPr/>
        </p:nvSpPr>
        <p:spPr>
          <a:xfrm>
            <a:off x="1097280" y="2441448"/>
            <a:ext cx="3154680" cy="777240"/>
          </a:xfrm>
          <a:prstGeom prst="rect">
            <a:avLst/>
          </a:prstGeom>
          <a:noFill/>
        </p:spPr>
        <p:txBody>
          <a:bodyPr wrap="square" anchor="t">
            <a:noAutofit/>
          </a:bodyPr>
          <a:lstStyle/>
          <a:p>
            <a:pPr algn="l">
              <a:spcBef>
                <a:spcPts val="0"/>
              </a:spcBef>
            </a:pPr>
            <a:r>
              <a:rPr sz="1600" b="0">
                <a:solidFill>
                  <a:schemeClr val="bg2">
                    <a:lumMod val="10000"/>
                  </a:schemeClr>
                </a:solidFill>
              </a:rPr>
              <a:t>wariantów skutecznych wobec Apache 2.4.17</a:t>
            </a:r>
          </a:p>
        </p:txBody>
      </p:sp>
      <p:sp>
        <p:nvSpPr>
          <p:cNvPr id="24" name="TextBox 23"/>
          <p:cNvSpPr txBox="1"/>
          <p:nvPr/>
        </p:nvSpPr>
        <p:spPr>
          <a:xfrm>
            <a:off x="4480560" y="1783080"/>
            <a:ext cx="3154680" cy="685800"/>
          </a:xfrm>
          <a:prstGeom prst="rect">
            <a:avLst/>
          </a:prstGeom>
          <a:noFill/>
        </p:spPr>
        <p:txBody>
          <a:bodyPr wrap="square" anchor="t">
            <a:noAutofit/>
          </a:bodyPr>
          <a:lstStyle/>
          <a:p>
            <a:pPr algn="l">
              <a:spcBef>
                <a:spcPts val="0"/>
              </a:spcBef>
            </a:pPr>
            <a:r>
              <a:rPr sz="4000" b="0">
                <a:solidFill>
                  <a:schemeClr val="tx2"/>
                </a:solidFill>
                <a:latin typeface="Source Sans Pro Light"/>
              </a:rPr>
              <a:t>2 / 11</a:t>
            </a:r>
          </a:p>
        </p:txBody>
      </p:sp>
      <p:sp>
        <p:nvSpPr>
          <p:cNvPr id="25" name="TextBox 24"/>
          <p:cNvSpPr txBox="1"/>
          <p:nvPr/>
        </p:nvSpPr>
        <p:spPr>
          <a:xfrm>
            <a:off x="4480560" y="2441448"/>
            <a:ext cx="3154680" cy="777240"/>
          </a:xfrm>
          <a:prstGeom prst="rect">
            <a:avLst/>
          </a:prstGeom>
          <a:noFill/>
        </p:spPr>
        <p:txBody>
          <a:bodyPr wrap="square" anchor="t">
            <a:noAutofit/>
          </a:bodyPr>
          <a:lstStyle/>
          <a:p>
            <a:pPr algn="l">
              <a:spcBef>
                <a:spcPts val="0"/>
              </a:spcBef>
            </a:pPr>
            <a:r>
              <a:rPr sz="1600" b="0">
                <a:solidFill>
                  <a:schemeClr val="bg2">
                    <a:lumMod val="10000"/>
                  </a:schemeClr>
                </a:solidFill>
              </a:rPr>
              <a:t>wobec Nginx 1.14.0 (Slow Read i Slowcomm)</a:t>
            </a:r>
          </a:p>
        </p:txBody>
      </p:sp>
      <p:sp>
        <p:nvSpPr>
          <p:cNvPr id="26" name="TextBox 25"/>
          <p:cNvSpPr txBox="1"/>
          <p:nvPr/>
        </p:nvSpPr>
        <p:spPr>
          <a:xfrm>
            <a:off x="7863840" y="1783080"/>
            <a:ext cx="3154680" cy="685800"/>
          </a:xfrm>
          <a:prstGeom prst="rect">
            <a:avLst/>
          </a:prstGeom>
          <a:noFill/>
        </p:spPr>
        <p:txBody>
          <a:bodyPr wrap="square" anchor="t">
            <a:noAutofit/>
          </a:bodyPr>
          <a:lstStyle/>
          <a:p>
            <a:pPr algn="l">
              <a:spcBef>
                <a:spcPts val="0"/>
              </a:spcBef>
            </a:pPr>
            <a:r>
              <a:rPr sz="4000" b="0">
                <a:solidFill>
                  <a:schemeClr val="tx2"/>
                </a:solidFill>
                <a:latin typeface="Source Sans Pro Light"/>
              </a:rPr>
              <a:t>≈50%</a:t>
            </a:r>
          </a:p>
        </p:txBody>
      </p:sp>
      <p:sp>
        <p:nvSpPr>
          <p:cNvPr id="27" name="TextBox 26"/>
          <p:cNvSpPr txBox="1"/>
          <p:nvPr/>
        </p:nvSpPr>
        <p:spPr>
          <a:xfrm>
            <a:off x="7863840" y="2441448"/>
            <a:ext cx="3154680" cy="777240"/>
          </a:xfrm>
          <a:prstGeom prst="rect">
            <a:avLst/>
          </a:prstGeom>
          <a:noFill/>
        </p:spPr>
        <p:txBody>
          <a:bodyPr wrap="square" anchor="t">
            <a:noAutofit/>
          </a:bodyPr>
          <a:lstStyle/>
          <a:p>
            <a:pPr algn="l">
              <a:spcBef>
                <a:spcPts val="0"/>
              </a:spcBef>
            </a:pPr>
            <a:r>
              <a:rPr sz="1600" b="0">
                <a:solidFill>
                  <a:schemeClr val="bg2">
                    <a:lumMod val="10000"/>
                  </a:schemeClr>
                </a:solidFill>
              </a:rPr>
              <a:t>serwerów HTTP/2 czekało ponad 360 s na niekompletne żądanie</a:t>
            </a:r>
          </a:p>
        </p:txBody>
      </p:sp>
      <p:sp>
        <p:nvSpPr>
          <p:cNvPr id="28" name="TextBox 27"/>
          <p:cNvSpPr txBox="1"/>
          <p:nvPr/>
        </p:nvSpPr>
        <p:spPr>
          <a:xfrm>
            <a:off x="1097280" y="3566160"/>
            <a:ext cx="4846320" cy="411480"/>
          </a:xfrm>
          <a:prstGeom prst="rect">
            <a:avLst/>
          </a:prstGeom>
          <a:noFill/>
        </p:spPr>
        <p:txBody>
          <a:bodyPr wrap="square" anchor="t">
            <a:noAutofit/>
          </a:bodyPr>
          <a:lstStyle/>
          <a:p>
            <a:pPr algn="l">
              <a:spcBef>
                <a:spcPts val="0"/>
              </a:spcBef>
            </a:pPr>
            <a:r>
              <a:rPr sz="2000" b="0">
                <a:solidFill>
                  <a:schemeClr val="bg2">
                    <a:lumMod val="10000"/>
                  </a:schemeClr>
                </a:solidFill>
              </a:rPr>
              <a:t>LIMITY CZASU</a:t>
            </a:r>
          </a:p>
        </p:txBody>
      </p:sp>
      <p:sp>
        <p:nvSpPr>
          <p:cNvPr id="29" name="TextBox 28"/>
          <p:cNvSpPr txBox="1"/>
          <p:nvPr/>
        </p:nvSpPr>
        <p:spPr>
          <a:xfrm>
            <a:off x="1097280" y="3977639"/>
            <a:ext cx="4846320" cy="2194560"/>
          </a:xfrm>
          <a:prstGeom prst="rect">
            <a:avLst/>
          </a:prstGeom>
          <a:noFill/>
        </p:spPr>
        <p:txBody>
          <a:bodyPr wrap="square" anchor="t">
            <a:noAutofit/>
          </a:bodyPr>
          <a:lstStyle/>
          <a:p>
            <a:pPr algn="l" marL="256032" indent="-256032">
              <a:spcBef>
                <a:spcPts val="0"/>
              </a:spcBef>
              <a:buClr>
                <a:schemeClr val="tx2"/>
              </a:buClr>
              <a:buFont typeface="Arial"/>
              <a:buChar char="•"/>
            </a:pPr>
            <a:r>
              <a:rPr sz="1600" b="1">
                <a:solidFill>
                  <a:schemeClr val="bg2">
                    <a:lumMod val="10000"/>
                  </a:schemeClr>
                </a:solidFill>
              </a:rPr>
              <a:t>client_header_timeout</a:t>
            </a:r>
            <a:r>
              <a:rPr sz="1600" b="0">
                <a:solidFill>
                  <a:schemeClr val="bg2">
                    <a:lumMod val="10000"/>
                  </a:schemeClr>
                </a:solidFill>
              </a:rPr>
              <a:t> w Nginx obejmuje cały nagłówek (domyślnie 60 s).</a:t>
            </a:r>
          </a:p>
          <a:p>
            <a:pPr algn="l" marL="256032" indent="-256032">
              <a:spcBef>
                <a:spcPts val="600"/>
              </a:spcBef>
              <a:buClr>
                <a:schemeClr val="tx2"/>
              </a:buClr>
              <a:buFont typeface="Arial"/>
              <a:buChar char="•"/>
            </a:pPr>
            <a:r>
              <a:rPr sz="1600" b="1">
                <a:solidFill>
                  <a:schemeClr val="bg2">
                    <a:lumMod val="10000"/>
                  </a:schemeClr>
                </a:solidFill>
              </a:rPr>
              <a:t>client_body_timeout</a:t>
            </a:r>
            <a:r>
              <a:rPr sz="1600" b="0">
                <a:solidFill>
                  <a:schemeClr val="bg2">
                    <a:lumMod val="10000"/>
                  </a:schemeClr>
                </a:solidFill>
              </a:rPr>
              <a:t> liczy czas między kolejnymi odczytami.</a:t>
            </a:r>
          </a:p>
          <a:p>
            <a:pPr algn="l" marL="256032" indent="-256032">
              <a:spcBef>
                <a:spcPts val="600"/>
              </a:spcBef>
              <a:buClr>
                <a:schemeClr val="tx2"/>
              </a:buClr>
              <a:buFont typeface="Arial"/>
              <a:buChar char="•"/>
            </a:pPr>
            <a:r>
              <a:rPr sz="1600" b="0">
                <a:solidFill>
                  <a:schemeClr val="bg2">
                    <a:lumMod val="10000"/>
                  </a:schemeClr>
                </a:solidFill>
              </a:rPr>
              <a:t>Atak wolniejszy niż limit działa tylko przez część czasu.</a:t>
            </a:r>
          </a:p>
        </p:txBody>
      </p:sp>
      <p:sp>
        <p:nvSpPr>
          <p:cNvPr id="30" name="TextBox 29"/>
          <p:cNvSpPr txBox="1"/>
          <p:nvPr/>
        </p:nvSpPr>
        <p:spPr>
          <a:xfrm>
            <a:off x="6245352" y="3566160"/>
            <a:ext cx="4846320" cy="411480"/>
          </a:xfrm>
          <a:prstGeom prst="rect">
            <a:avLst/>
          </a:prstGeom>
          <a:noFill/>
        </p:spPr>
        <p:txBody>
          <a:bodyPr wrap="square" anchor="t">
            <a:noAutofit/>
          </a:bodyPr>
          <a:lstStyle/>
          <a:p>
            <a:pPr algn="l">
              <a:spcBef>
                <a:spcPts val="0"/>
              </a:spcBef>
            </a:pPr>
            <a:r>
              <a:rPr sz="2000" b="0">
                <a:solidFill>
                  <a:schemeClr val="bg2">
                    <a:lumMod val="10000"/>
                  </a:schemeClr>
                </a:solidFill>
              </a:rPr>
              <a:t>PROGI LICZBY POŁĄCZEŃ</a:t>
            </a:r>
          </a:p>
        </p:txBody>
      </p:sp>
      <p:sp>
        <p:nvSpPr>
          <p:cNvPr id="31" name="TextBox 30"/>
          <p:cNvSpPr txBox="1"/>
          <p:nvPr/>
        </p:nvSpPr>
        <p:spPr>
          <a:xfrm>
            <a:off x="6245352" y="3977639"/>
            <a:ext cx="4846320" cy="2194560"/>
          </a:xfrm>
          <a:prstGeom prst="rect">
            <a:avLst/>
          </a:prstGeom>
          <a:noFill/>
        </p:spPr>
        <p:txBody>
          <a:bodyPr wrap="square" anchor="t">
            <a:noAutofit/>
          </a:bodyPr>
          <a:lstStyle/>
          <a:p>
            <a:pPr algn="l" marL="256032" indent="-256032">
              <a:spcBef>
                <a:spcPts val="0"/>
              </a:spcBef>
              <a:buClr>
                <a:schemeClr val="tx2"/>
              </a:buClr>
              <a:buFont typeface="Arial"/>
              <a:buChar char="•"/>
            </a:pPr>
            <a:r>
              <a:rPr sz="1600" b="0">
                <a:solidFill>
                  <a:schemeClr val="bg2">
                    <a:lumMod val="10000"/>
                  </a:schemeClr>
                </a:solidFill>
              </a:rPr>
              <a:t>Reguły „x połączeń w y sekund” łatwo ominąć.</a:t>
            </a:r>
          </a:p>
          <a:p>
            <a:pPr algn="l" marL="256032" indent="-256032">
              <a:spcBef>
                <a:spcPts val="600"/>
              </a:spcBef>
              <a:buClr>
                <a:schemeClr val="tx2"/>
              </a:buClr>
              <a:buFont typeface="Arial"/>
              <a:buChar char="•"/>
            </a:pPr>
            <a:r>
              <a:rPr sz="1600" b="0">
                <a:solidFill>
                  <a:schemeClr val="bg2">
                    <a:lumMod val="10000"/>
                  </a:schemeClr>
                </a:solidFill>
              </a:rPr>
              <a:t>Pojedynczy próg: ok. 10% niższa czułość niż reguła 8 parametrów.</a:t>
            </a:r>
          </a:p>
          <a:p>
            <a:pPr algn="l" marL="256032" indent="-256032">
              <a:spcBef>
                <a:spcPts val="600"/>
              </a:spcBef>
              <a:buClr>
                <a:schemeClr val="tx2"/>
              </a:buClr>
              <a:buFont typeface="Arial"/>
              <a:buChar char="•"/>
            </a:pPr>
            <a:r>
              <a:rPr sz="1600" b="0">
                <a:solidFill>
                  <a:schemeClr val="bg2">
                    <a:lumMod val="10000"/>
                  </a:schemeClr>
                </a:solidFill>
              </a:rPr>
              <a:t>Skuteczny atak: przerwa w dostępności dłuższa niż 6 s.</a:t>
            </a:r>
          </a:p>
        </p:txBody>
      </p:sp>
      <p:sp>
        <p:nvSpPr>
          <p:cNvPr id="32" name="Źródła"/>
          <p:cNvSpPr txBox="1"/>
          <p:nvPr/>
        </p:nvSpPr>
        <p:spPr>
          <a:xfrm>
            <a:off x="1097280" y="6272784"/>
            <a:ext cx="9994392" cy="329184"/>
          </a:xfrm>
          <a:prstGeom prst="rect">
            <a:avLst/>
          </a:prstGeom>
          <a:noFill/>
        </p:spPr>
        <p:txBody>
          <a:bodyPr wrap="square" anchor="t">
            <a:noAutofit/>
          </a:bodyPr>
          <a:lstStyle/>
          <a:p>
            <a:pPr algn="l">
              <a:spcBef>
                <a:spcPts val="0"/>
              </a:spcBef>
            </a:pPr>
            <a:r>
              <a:rPr sz="1100" b="0">
                <a:solidFill>
                  <a:schemeClr val="bg2">
                    <a:lumMod val="50000"/>
                  </a:schemeClr>
                </a:solidFill>
              </a:rPr>
              <a:t>Źródła (numeracja jak w pracy): [8], [9], [10], [26]</a:t>
            </a:r>
          </a:p>
        </p:txBody>
      </p:sp>
    </p:spTree>
    <p:extLst>
      <p:ext uri="{BB962C8B-B14F-4D97-AF65-F5344CB8AC3E}">
        <p14:creationId xmlns:p14="http://schemas.microsoft.com/office/powerpoint/2010/main" val="29785648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rostokąt 4">
            <a:extLst>
              <a:ext uri="{FF2B5EF4-FFF2-40B4-BE49-F238E27FC236}">
                <a16:creationId xmlns:a16="http://schemas.microsoft.com/office/drawing/2014/main" id="{7CA99EC4-3C2E-53F3-55A5-01E21A2FCB45}"/>
              </a:ext>
            </a:extLst>
          </p:cNvPr>
          <p:cNvSpPr>
            <a:spLocks noGrp="1" noRot="1" noMove="1" noResize="1" noEditPoints="1" noAdjustHandles="1" noChangeArrowheads="1" noChangeShapeType="1"/>
          </p:cNvSpPr>
          <p:nvPr/>
        </p:nvSpPr>
        <p:spPr>
          <a:xfrm>
            <a:off x="0" y="0"/>
            <a:ext cx="12192000" cy="804672"/>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0" name="pole tekstowe 19">
            <a:extLst>
              <a:ext uri="{FF2B5EF4-FFF2-40B4-BE49-F238E27FC236}">
                <a16:creationId xmlns:a16="http://schemas.microsoft.com/office/drawing/2014/main" id="{DA7C4B59-9B8D-C16D-1201-5FC12125EDF7}"/>
              </a:ext>
            </a:extLst>
          </p:cNvPr>
          <p:cNvSpPr txBox="1">
            <a:spLocks noGrp="1" noRot="1" noMove="1" noResize="1" noEditPoints="1" noAdjustHandles="1" noChangeArrowheads="1" noChangeShapeType="1"/>
          </p:cNvSpPr>
          <p:nvPr/>
        </p:nvSpPr>
        <p:spPr>
          <a:xfrm>
            <a:off x="2629588" y="160326"/>
            <a:ext cx="8229600" cy="400110"/>
          </a:xfrm>
          <a:prstGeom prst="rect">
            <a:avLst/>
          </a:prstGeom>
          <a:noFill/>
        </p:spPr>
        <p:txBody>
          <a:bodyPr wrap="square" rtlCol="0">
            <a:spAutoFit/>
          </a:bodyPr>
          <a:lstStyle/>
          <a:p>
            <a:r>
              <a:rPr lang="pl-PL" sz="2000" dirty="0">
                <a:solidFill>
                  <a:schemeClr val="bg1"/>
                </a:solidFill>
                <a:latin typeface="Source Sans Pro Light" panose="020B0403030403020204" pitchFamily="34" charset="0"/>
              </a:rPr>
              <a:t>Obrona przed atakami DDoS — przegląd stanu wiedzy</a:t>
            </a:r>
          </a:p>
        </p:txBody>
      </p:sp>
      <p:pic>
        <p:nvPicPr>
          <p:cNvPr id="4" name="Obraz 3" descr="Obraz zawierający linia, design, sztuka, czarne i białe&#10;&#10;Opis wygenerowany automatycznie">
            <a:extLst>
              <a:ext uri="{FF2B5EF4-FFF2-40B4-BE49-F238E27FC236}">
                <a16:creationId xmlns:a16="http://schemas.microsoft.com/office/drawing/2014/main" id="{FB556C9B-EF3C-CE33-30D5-4FF03A12E4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2866" y="25052"/>
            <a:ext cx="739156" cy="745299"/>
          </a:xfrm>
          <a:prstGeom prst="rect">
            <a:avLst/>
          </a:prstGeom>
        </p:spPr>
      </p:pic>
      <p:sp>
        <p:nvSpPr>
          <p:cNvPr id="21" name="Tytuł 21"/>
          <p:cNvSpPr>
            <a:spLocks noGrp="1"/>
          </p:cNvSpPr>
          <p:nvPr>
            <p:ph type="title"/>
          </p:nvPr>
        </p:nvSpPr>
        <p:spPr>
          <a:xfrm>
            <a:off x="1097280" y="987552"/>
            <a:ext cx="9994392" cy="777240"/>
          </a:xfrm>
        </p:spPr>
        <p:txBody>
          <a:bodyPr vert="horz" wrap="square" lIns="91440" tIns="45720" rIns="91440" bIns="45720" anchor="t">
            <a:noAutofit/>
          </a:bodyPr>
          <a:lstStyle/>
          <a:p>
            <a:r>
              <a:rPr lang="pl-PL" sz="3600" dirty="0">
                <a:solidFill>
                  <a:schemeClr val="bg2">
                    <a:lumMod val="10000"/>
                  </a:schemeClr>
                </a:solidFill>
                <a:latin typeface="Source Sans Pro Light" panose="020B0403030403020204" pitchFamily="34" charset="0"/>
              </a:rPr>
              <a:t>HTTP/2: Rapid Reset i powolne warianty</a:t>
            </a:r>
          </a:p>
        </p:txBody>
      </p:sp>
      <p:pic>
        <p:nvPicPr>
          <p:cNvPr id="22" name="Picture 21" descr="HTTP2-Rapid-Reset.png"/>
          <p:cNvPicPr>
            <a:picLocks noChangeAspect="1"/>
          </p:cNvPicPr>
          <p:nvPr/>
        </p:nvPicPr>
        <p:blipFill>
          <a:blip r:embed="rId3"/>
          <a:stretch>
            <a:fillRect/>
          </a:stretch>
        </p:blipFill>
        <p:spPr>
          <a:xfrm>
            <a:off x="1097280" y="1828800"/>
            <a:ext cx="9994392" cy="1647959"/>
          </a:xfrm>
          <a:prstGeom prst="rect">
            <a:avLst/>
          </a:prstGeom>
        </p:spPr>
      </p:pic>
      <p:sp>
        <p:nvSpPr>
          <p:cNvPr id="23" name="TextBox 22"/>
          <p:cNvSpPr txBox="1"/>
          <p:nvPr/>
        </p:nvSpPr>
        <p:spPr>
          <a:xfrm>
            <a:off x="1097280" y="3476759"/>
            <a:ext cx="9994392" cy="320040"/>
          </a:xfrm>
          <a:prstGeom prst="rect">
            <a:avLst/>
          </a:prstGeom>
          <a:noFill/>
        </p:spPr>
        <p:txBody>
          <a:bodyPr wrap="square" anchor="t">
            <a:noAutofit/>
          </a:bodyPr>
          <a:lstStyle/>
          <a:p>
            <a:pPr algn="l">
              <a:spcBef>
                <a:spcPts val="0"/>
              </a:spcBef>
            </a:pPr>
            <a:r>
              <a:rPr sz="1100" b="0">
                <a:solidFill>
                  <a:schemeClr val="bg2">
                    <a:lumMod val="50000"/>
                  </a:schemeClr>
                </a:solidFill>
              </a:rPr>
              <a:t>Mechanika ataku HTTP/2 Rapid Reset (opracowanie własne)</a:t>
            </a:r>
          </a:p>
        </p:txBody>
      </p:sp>
      <p:sp>
        <p:nvSpPr>
          <p:cNvPr id="24" name="TextBox 23"/>
          <p:cNvSpPr txBox="1"/>
          <p:nvPr/>
        </p:nvSpPr>
        <p:spPr>
          <a:xfrm>
            <a:off x="1097280" y="3886200"/>
            <a:ext cx="4846320" cy="411480"/>
          </a:xfrm>
          <a:prstGeom prst="rect">
            <a:avLst/>
          </a:prstGeom>
          <a:noFill/>
        </p:spPr>
        <p:txBody>
          <a:bodyPr wrap="square" anchor="t">
            <a:noAutofit/>
          </a:bodyPr>
          <a:lstStyle/>
          <a:p>
            <a:pPr algn="l">
              <a:spcBef>
                <a:spcPts val="0"/>
              </a:spcBef>
            </a:pPr>
            <a:r>
              <a:rPr sz="2000" b="0">
                <a:solidFill>
                  <a:schemeClr val="bg2">
                    <a:lumMod val="10000"/>
                  </a:schemeClr>
                </a:solidFill>
              </a:rPr>
              <a:t>MECHANIZM (CVE-2023-44487)</a:t>
            </a:r>
          </a:p>
        </p:txBody>
      </p:sp>
      <p:sp>
        <p:nvSpPr>
          <p:cNvPr id="25" name="TextBox 24"/>
          <p:cNvSpPr txBox="1"/>
          <p:nvPr/>
        </p:nvSpPr>
        <p:spPr>
          <a:xfrm>
            <a:off x="1097280" y="4297680"/>
            <a:ext cx="4846320" cy="1920240"/>
          </a:xfrm>
          <a:prstGeom prst="rect">
            <a:avLst/>
          </a:prstGeom>
          <a:noFill/>
        </p:spPr>
        <p:txBody>
          <a:bodyPr wrap="square" anchor="t">
            <a:noAutofit/>
          </a:bodyPr>
          <a:lstStyle/>
          <a:p>
            <a:pPr algn="l" marL="256032" indent="-256032">
              <a:spcBef>
                <a:spcPts val="0"/>
              </a:spcBef>
              <a:buClr>
                <a:schemeClr val="tx2"/>
              </a:buClr>
              <a:buFont typeface="Arial"/>
              <a:buChar char="•"/>
            </a:pPr>
            <a:r>
              <a:rPr sz="1600" b="0">
                <a:solidFill>
                  <a:schemeClr val="bg2">
                    <a:lumMod val="10000"/>
                  </a:schemeClr>
                </a:solidFill>
              </a:rPr>
              <a:t>Strumienie otwierane i natychmiast anulowane ramką RST_STREAM.</a:t>
            </a:r>
          </a:p>
          <a:p>
            <a:pPr algn="l" marL="256032" indent="-256032">
              <a:spcBef>
                <a:spcPts val="600"/>
              </a:spcBef>
              <a:buClr>
                <a:schemeClr val="tx2"/>
              </a:buClr>
              <a:buFont typeface="Arial"/>
              <a:buChar char="•"/>
            </a:pPr>
            <a:r>
              <a:rPr sz="1600" b="0">
                <a:solidFill>
                  <a:schemeClr val="bg2">
                    <a:lumMod val="10000"/>
                  </a:schemeClr>
                </a:solidFill>
              </a:rPr>
              <a:t>Zresetowane strumienie nie liczą się do limitu współbieżności.</a:t>
            </a:r>
          </a:p>
          <a:p>
            <a:pPr algn="l" marL="256032" indent="-256032">
              <a:spcBef>
                <a:spcPts val="600"/>
              </a:spcBef>
              <a:buClr>
                <a:schemeClr val="tx2"/>
              </a:buClr>
              <a:buFont typeface="Arial"/>
              <a:buChar char="•"/>
            </a:pPr>
            <a:r>
              <a:rPr sz="1600" b="1">
                <a:solidFill>
                  <a:schemeClr val="bg2">
                    <a:lumMod val="10000"/>
                  </a:schemeClr>
                </a:solidFill>
              </a:rPr>
              <a:t>Szczyt: </a:t>
            </a:r>
            <a:r>
              <a:rPr sz="1600" b="0">
                <a:solidFill>
                  <a:schemeClr val="bg2">
                    <a:lumMod val="10000"/>
                  </a:schemeClr>
                </a:solidFill>
              </a:rPr>
              <a:t>ponad 201 mln żądań na sekundę.</a:t>
            </a:r>
          </a:p>
        </p:txBody>
      </p:sp>
      <p:sp>
        <p:nvSpPr>
          <p:cNvPr id="26" name="TextBox 25"/>
          <p:cNvSpPr txBox="1"/>
          <p:nvPr/>
        </p:nvSpPr>
        <p:spPr>
          <a:xfrm>
            <a:off x="6245352" y="3886200"/>
            <a:ext cx="4846320" cy="411480"/>
          </a:xfrm>
          <a:prstGeom prst="rect">
            <a:avLst/>
          </a:prstGeom>
          <a:noFill/>
        </p:spPr>
        <p:txBody>
          <a:bodyPr wrap="square" anchor="t">
            <a:noAutofit/>
          </a:bodyPr>
          <a:lstStyle/>
          <a:p>
            <a:pPr algn="l">
              <a:spcBef>
                <a:spcPts val="0"/>
              </a:spcBef>
            </a:pPr>
            <a:r>
              <a:rPr sz="2000" b="0">
                <a:solidFill>
                  <a:schemeClr val="bg2">
                    <a:lumMod val="10000"/>
                  </a:schemeClr>
                </a:solidFill>
              </a:rPr>
              <a:t>MITYGACJA I WARIANTY POWOLNE</a:t>
            </a:r>
          </a:p>
        </p:txBody>
      </p:sp>
      <p:sp>
        <p:nvSpPr>
          <p:cNvPr id="27" name="TextBox 26"/>
          <p:cNvSpPr txBox="1"/>
          <p:nvPr/>
        </p:nvSpPr>
        <p:spPr>
          <a:xfrm>
            <a:off x="6245352" y="4297680"/>
            <a:ext cx="4846320" cy="1920240"/>
          </a:xfrm>
          <a:prstGeom prst="rect">
            <a:avLst/>
          </a:prstGeom>
          <a:noFill/>
        </p:spPr>
        <p:txBody>
          <a:bodyPr wrap="square" anchor="t">
            <a:noAutofit/>
          </a:bodyPr>
          <a:lstStyle/>
          <a:p>
            <a:pPr algn="l" marL="256032" indent="-256032">
              <a:spcBef>
                <a:spcPts val="0"/>
              </a:spcBef>
              <a:buClr>
                <a:schemeClr val="tx2"/>
              </a:buClr>
              <a:buFont typeface="Arial"/>
              <a:buChar char="•"/>
            </a:pPr>
            <a:r>
              <a:rPr sz="1600" b="0">
                <a:solidFill>
                  <a:schemeClr val="bg2">
                    <a:lumMod val="10000"/>
                  </a:schemeClr>
                </a:solidFill>
              </a:rPr>
              <a:t>Zliczanie resetów na połączenie → zamknięcie ramką GOAWAY.</a:t>
            </a:r>
          </a:p>
          <a:p>
            <a:pPr algn="l" marL="256032" indent="-256032">
              <a:spcBef>
                <a:spcPts val="600"/>
              </a:spcBef>
              <a:buClr>
                <a:schemeClr val="tx2"/>
              </a:buClr>
              <a:buFont typeface="Arial"/>
              <a:buChar char="•"/>
            </a:pPr>
            <a:r>
              <a:rPr sz="1600" b="0">
                <a:solidFill>
                  <a:schemeClr val="bg2">
                    <a:lumMod val="10000"/>
                  </a:schemeClr>
                </a:solidFill>
              </a:rPr>
              <a:t>Limit 64 strumieni i czasowa blokada adresów (IP Jail).</a:t>
            </a:r>
          </a:p>
          <a:p>
            <a:pPr algn="l" marL="256032" indent="-256032">
              <a:spcBef>
                <a:spcPts val="600"/>
              </a:spcBef>
              <a:buClr>
                <a:schemeClr val="tx2"/>
              </a:buClr>
              <a:buFont typeface="Arial"/>
              <a:buChar char="•"/>
            </a:pPr>
            <a:r>
              <a:rPr sz="1600" b="0">
                <a:solidFill>
                  <a:schemeClr val="bg2">
                    <a:lumMod val="10000"/>
                  </a:schemeClr>
                </a:solidFill>
              </a:rPr>
              <a:t>Powolne ataki HTTP/2 wykrywane sekwencjami ramek protokołu.</a:t>
            </a:r>
          </a:p>
        </p:txBody>
      </p:sp>
      <p:sp>
        <p:nvSpPr>
          <p:cNvPr id="28" name="Źródła"/>
          <p:cNvSpPr txBox="1"/>
          <p:nvPr/>
        </p:nvSpPr>
        <p:spPr>
          <a:xfrm>
            <a:off x="1097280" y="6272784"/>
            <a:ext cx="9994392" cy="329184"/>
          </a:xfrm>
          <a:prstGeom prst="rect">
            <a:avLst/>
          </a:prstGeom>
          <a:noFill/>
        </p:spPr>
        <p:txBody>
          <a:bodyPr wrap="square" anchor="t">
            <a:noAutofit/>
          </a:bodyPr>
          <a:lstStyle/>
          <a:p>
            <a:pPr algn="l">
              <a:spcBef>
                <a:spcPts val="0"/>
              </a:spcBef>
            </a:pPr>
            <a:r>
              <a:rPr sz="1100" b="0">
                <a:solidFill>
                  <a:schemeClr val="bg2">
                    <a:lumMod val="50000"/>
                  </a:schemeClr>
                </a:solidFill>
              </a:rPr>
              <a:t>Źródła (numeracja jak w pracy): [7], [10], [28], [29]</a:t>
            </a:r>
          </a:p>
        </p:txBody>
      </p:sp>
    </p:spTree>
    <p:extLst>
      <p:ext uri="{BB962C8B-B14F-4D97-AF65-F5344CB8AC3E}">
        <p14:creationId xmlns:p14="http://schemas.microsoft.com/office/powerpoint/2010/main" val="29785648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7" name="pole tekstowe 6">
            <a:extLst>
              <a:ext uri="{FF2B5EF4-FFF2-40B4-BE49-F238E27FC236}">
                <a16:creationId xmlns:a16="http://schemas.microsoft.com/office/drawing/2014/main" id="{0CBC331D-8069-B1C8-0B2C-BC64036C1009}"/>
              </a:ext>
            </a:extLst>
          </p:cNvPr>
          <p:cNvSpPr txBox="1"/>
          <p:nvPr/>
        </p:nvSpPr>
        <p:spPr>
          <a:xfrm>
            <a:off x="6195330" y="2331720"/>
            <a:ext cx="5699343" cy="1938992"/>
          </a:xfrm>
          <a:prstGeom prst="rect">
            <a:avLst/>
          </a:prstGeom>
          <a:noFill/>
        </p:spPr>
        <p:txBody>
          <a:bodyPr wrap="square" rtlCol="0">
            <a:spAutoFit/>
          </a:bodyPr>
          <a:lstStyle/>
          <a:p>
            <a:r>
              <a:rPr lang="pl-PL" sz="6000" dirty="0">
                <a:solidFill>
                  <a:schemeClr val="bg1"/>
                </a:solidFill>
                <a:latin typeface="Source Sans Pro Light" panose="020B0403030403020204" pitchFamily="34" charset="0"/>
              </a:rPr>
              <a:t>Filtrowanie</a:t>
            </a:r>
          </a:p>
          <a:p>
            <a:r>
              <a:rPr lang="pl-PL" sz="6000" dirty="0">
                <a:solidFill>
                  <a:schemeClr val="bg1"/>
                </a:solidFill>
                <a:latin typeface="Source Sans Pro Light" panose="020B0403030403020204" pitchFamily="34" charset="0"/>
              </a:rPr>
              <a:t>w jądrze</a:t>
            </a:r>
          </a:p>
        </p:txBody>
      </p:sp>
      <p:sp>
        <p:nvSpPr>
          <p:cNvPr id="8" name="pole tekstowe 7">
            <a:extLst>
              <a:ext uri="{FF2B5EF4-FFF2-40B4-BE49-F238E27FC236}">
                <a16:creationId xmlns:a16="http://schemas.microsoft.com/office/drawing/2014/main" id="{B6F5D76B-1818-C235-38F9-3C9C21303C79}"/>
              </a:ext>
            </a:extLst>
          </p:cNvPr>
          <p:cNvSpPr txBox="1"/>
          <p:nvPr/>
        </p:nvSpPr>
        <p:spPr>
          <a:xfrm>
            <a:off x="6195330" y="1874519"/>
            <a:ext cx="5699343" cy="400110"/>
          </a:xfrm>
          <a:prstGeom prst="rect">
            <a:avLst/>
          </a:prstGeom>
          <a:noFill/>
        </p:spPr>
        <p:txBody>
          <a:bodyPr wrap="square" rtlCol="0">
            <a:spAutoFit/>
          </a:bodyPr>
          <a:lstStyle/>
          <a:p>
            <a:r>
              <a:rPr lang="pl-PL" sz="2000" dirty="0">
                <a:solidFill>
                  <a:schemeClr val="bg1"/>
                </a:solidFill>
                <a:latin typeface="Source Sans Pro Light" panose="020B0403030403020204" pitchFamily="34" charset="0"/>
              </a:rPr>
              <a:t>Część II — eBPF i XDP</a:t>
            </a:r>
          </a:p>
        </p:txBody>
      </p:sp>
      <p:pic>
        <p:nvPicPr>
          <p:cNvPr id="4" name="Obraz 3" descr="Obraz zawierający linia, design, sztuka, czarne i białe&#10;&#10;Opis wygenerowany automatycznie">
            <a:extLst>
              <a:ext uri="{FF2B5EF4-FFF2-40B4-BE49-F238E27FC236}">
                <a16:creationId xmlns:a16="http://schemas.microsoft.com/office/drawing/2014/main" id="{583295B8-9380-5D37-9FB1-07A1D24A2108}"/>
              </a:ext>
            </a:extLst>
          </p:cNvPr>
          <p:cNvPicPr>
            <a:picLocks noChangeAspect="1"/>
          </p:cNvPicPr>
          <p:nvPr/>
        </p:nvPicPr>
        <p:blipFill>
          <a:blip r:embed="rId2">
            <a:alphaModFix amt="50000"/>
            <a:extLst>
              <a:ext uri="{28A0092B-C50C-407E-A947-70E740481C1C}">
                <a14:useLocalDpi xmlns:a14="http://schemas.microsoft.com/office/drawing/2010/main" val="0"/>
              </a:ext>
            </a:extLst>
          </a:blip>
          <a:stretch>
            <a:fillRect/>
          </a:stretch>
        </p:blipFill>
        <p:spPr>
          <a:xfrm>
            <a:off x="-1125177" y="-645091"/>
            <a:ext cx="6801478" cy="6858000"/>
          </a:xfrm>
          <a:prstGeom prst="rect">
            <a:avLst/>
          </a:prstGeom>
        </p:spPr>
      </p:pic>
    </p:spTree>
    <p:extLst>
      <p:ext uri="{BB962C8B-B14F-4D97-AF65-F5344CB8AC3E}">
        <p14:creationId xmlns:p14="http://schemas.microsoft.com/office/powerpoint/2010/main" val="6468721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rostokąt 4">
            <a:extLst>
              <a:ext uri="{FF2B5EF4-FFF2-40B4-BE49-F238E27FC236}">
                <a16:creationId xmlns:a16="http://schemas.microsoft.com/office/drawing/2014/main" id="{7CA99EC4-3C2E-53F3-55A5-01E21A2FCB45}"/>
              </a:ext>
            </a:extLst>
          </p:cNvPr>
          <p:cNvSpPr>
            <a:spLocks noGrp="1" noRot="1" noMove="1" noResize="1" noEditPoints="1" noAdjustHandles="1" noChangeArrowheads="1" noChangeShapeType="1"/>
          </p:cNvSpPr>
          <p:nvPr/>
        </p:nvSpPr>
        <p:spPr>
          <a:xfrm>
            <a:off x="0" y="0"/>
            <a:ext cx="12192000" cy="804672"/>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0" name="pole tekstowe 19">
            <a:extLst>
              <a:ext uri="{FF2B5EF4-FFF2-40B4-BE49-F238E27FC236}">
                <a16:creationId xmlns:a16="http://schemas.microsoft.com/office/drawing/2014/main" id="{DA7C4B59-9B8D-C16D-1201-5FC12125EDF7}"/>
              </a:ext>
            </a:extLst>
          </p:cNvPr>
          <p:cNvSpPr txBox="1">
            <a:spLocks noGrp="1" noRot="1" noMove="1" noResize="1" noEditPoints="1" noAdjustHandles="1" noChangeArrowheads="1" noChangeShapeType="1"/>
          </p:cNvSpPr>
          <p:nvPr/>
        </p:nvSpPr>
        <p:spPr>
          <a:xfrm>
            <a:off x="2629588" y="160326"/>
            <a:ext cx="8229600" cy="400110"/>
          </a:xfrm>
          <a:prstGeom prst="rect">
            <a:avLst/>
          </a:prstGeom>
          <a:noFill/>
        </p:spPr>
        <p:txBody>
          <a:bodyPr wrap="square" rtlCol="0">
            <a:spAutoFit/>
          </a:bodyPr>
          <a:lstStyle/>
          <a:p>
            <a:r>
              <a:rPr lang="pl-PL" sz="2000" dirty="0">
                <a:solidFill>
                  <a:schemeClr val="bg1"/>
                </a:solidFill>
                <a:latin typeface="Source Sans Pro Light" panose="020B0403030403020204" pitchFamily="34" charset="0"/>
              </a:rPr>
              <a:t>Obrona przed atakami DDoS — przegląd stanu wiedzy</a:t>
            </a:r>
          </a:p>
        </p:txBody>
      </p:sp>
      <p:pic>
        <p:nvPicPr>
          <p:cNvPr id="4" name="Obraz 3" descr="Obraz zawierający linia, design, sztuka, czarne i białe&#10;&#10;Opis wygenerowany automatycznie">
            <a:extLst>
              <a:ext uri="{FF2B5EF4-FFF2-40B4-BE49-F238E27FC236}">
                <a16:creationId xmlns:a16="http://schemas.microsoft.com/office/drawing/2014/main" id="{FB556C9B-EF3C-CE33-30D5-4FF03A12E4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2866" y="25052"/>
            <a:ext cx="739156" cy="745299"/>
          </a:xfrm>
          <a:prstGeom prst="rect">
            <a:avLst/>
          </a:prstGeom>
        </p:spPr>
      </p:pic>
      <p:sp>
        <p:nvSpPr>
          <p:cNvPr id="21" name="Tytuł 21"/>
          <p:cNvSpPr>
            <a:spLocks noGrp="1"/>
          </p:cNvSpPr>
          <p:nvPr>
            <p:ph type="title"/>
          </p:nvPr>
        </p:nvSpPr>
        <p:spPr>
          <a:xfrm>
            <a:off x="1097280" y="987552"/>
            <a:ext cx="9994392" cy="777240"/>
          </a:xfrm>
        </p:spPr>
        <p:txBody>
          <a:bodyPr vert="horz" wrap="square" lIns="91440" tIns="45720" rIns="91440" bIns="45720" anchor="t">
            <a:noAutofit/>
          </a:bodyPr>
          <a:lstStyle/>
          <a:p>
            <a:r>
              <a:rPr lang="pl-PL" sz="3600" dirty="0">
                <a:solidFill>
                  <a:schemeClr val="bg2">
                    <a:lumMod val="10000"/>
                  </a:schemeClr>
                </a:solidFill>
                <a:latin typeface="Source Sans Pro Light" panose="020B0403030403020204" pitchFamily="34" charset="0"/>
              </a:rPr>
              <a:t>Od Netfilter do XDP</a:t>
            </a:r>
          </a:p>
        </p:txBody>
      </p:sp>
      <p:graphicFrame>
        <p:nvGraphicFramePr>
          <p:cNvPr id="22" name="Chart 21"/>
          <p:cNvGraphicFramePr>
            <a:graphicFrameLocks noGrp="1"/>
          </p:cNvGraphicFramePr>
          <p:nvPr/>
        </p:nvGraphicFramePr>
        <p:xfrm>
          <a:off x="1097280" y="1828800"/>
          <a:ext cx="5394960" cy="3840480"/>
        </p:xfrm>
        <a:graphic>
          <a:graphicData uri="http://schemas.openxmlformats.org/drawingml/2006/chart">
            <c:chart xmlns:c="http://schemas.openxmlformats.org/drawingml/2006/chart" r:id="rId3"/>
          </a:graphicData>
        </a:graphic>
      </p:graphicFrame>
      <p:sp>
        <p:nvSpPr>
          <p:cNvPr id="23" name="TextBox 22"/>
          <p:cNvSpPr txBox="1"/>
          <p:nvPr/>
        </p:nvSpPr>
        <p:spPr>
          <a:xfrm>
            <a:off x="6812280" y="1828800"/>
            <a:ext cx="4297680" cy="4206240"/>
          </a:xfrm>
          <a:prstGeom prst="rect">
            <a:avLst/>
          </a:prstGeom>
          <a:noFill/>
        </p:spPr>
        <p:txBody>
          <a:bodyPr wrap="square" anchor="t">
            <a:noAutofit/>
          </a:bodyPr>
          <a:lstStyle/>
          <a:p>
            <a:pPr algn="l" marL="256032" indent="-256032">
              <a:spcBef>
                <a:spcPts val="0"/>
              </a:spcBef>
              <a:buClr>
                <a:schemeClr val="tx2"/>
              </a:buClr>
              <a:buFont typeface="Arial"/>
              <a:buChar char="•"/>
            </a:pPr>
            <a:r>
              <a:rPr sz="1600" b="1">
                <a:solidFill>
                  <a:schemeClr val="bg2">
                    <a:lumMod val="10000"/>
                  </a:schemeClr>
                </a:solidFill>
              </a:rPr>
              <a:t>Przed sk_buff: </a:t>
            </a:r>
            <a:r>
              <a:rPr sz="1600" b="0">
                <a:solidFill>
                  <a:schemeClr val="bg2">
                    <a:lumMod val="10000"/>
                  </a:schemeClr>
                </a:solidFill>
              </a:rPr>
              <a:t>XDP decyduje o pakiecie przed alokacją struktur jądra.</a:t>
            </a:r>
          </a:p>
          <a:p>
            <a:pPr algn="l" marL="256032" indent="-256032">
              <a:spcBef>
                <a:spcPts val="1000"/>
              </a:spcBef>
              <a:buClr>
                <a:schemeClr val="tx2"/>
              </a:buClr>
              <a:buFont typeface="Arial"/>
              <a:buChar char="•"/>
            </a:pPr>
            <a:r>
              <a:rPr sz="1600" b="1">
                <a:solidFill>
                  <a:schemeClr val="bg2">
                    <a:lumMod val="10000"/>
                  </a:schemeClr>
                </a:solidFill>
              </a:rPr>
              <a:t>Skalowanie reguł: </a:t>
            </a:r>
            <a:r>
              <a:rPr sz="1600" b="0">
                <a:solidFill>
                  <a:schemeClr val="bg2">
                    <a:lumMod val="10000"/>
                  </a:schemeClr>
                </a:solidFill>
              </a:rPr>
              <a:t>3000 reguł iptables → pięciokrotnie większe opóźnienie.</a:t>
            </a:r>
          </a:p>
          <a:p>
            <a:pPr algn="l" marL="256032" indent="-256032">
              <a:spcBef>
                <a:spcPts val="1000"/>
              </a:spcBef>
              <a:buClr>
                <a:schemeClr val="tx2"/>
              </a:buClr>
              <a:buFont typeface="Arial"/>
              <a:buChar char="•"/>
            </a:pPr>
            <a:r>
              <a:rPr sz="1600" b="1">
                <a:solidFill>
                  <a:schemeClr val="bg2">
                    <a:lumMod val="10000"/>
                  </a:schemeClr>
                </a:solidFill>
              </a:rPr>
              <a:t>Netdev 0x15: </a:t>
            </a:r>
            <a:r>
              <a:rPr sz="1600" b="0">
                <a:solidFill>
                  <a:schemeClr val="bg2">
                    <a:lumMod val="10000"/>
                  </a:schemeClr>
                </a:solidFill>
              </a:rPr>
              <a:t>eBPF w TC/XDP wydajniejszy od iptables/ipset; bez różnicy XDP–TC, gdy pakiet trafia do stosu.</a:t>
            </a:r>
          </a:p>
          <a:p>
            <a:pPr algn="l" marL="256032" indent="-256032">
              <a:spcBef>
                <a:spcPts val="1000"/>
              </a:spcBef>
              <a:buClr>
                <a:schemeClr val="tx2"/>
              </a:buClr>
              <a:buFont typeface="Arial"/>
              <a:buChar char="•"/>
            </a:pPr>
            <a:r>
              <a:rPr sz="1600" b="1">
                <a:solidFill>
                  <a:schemeClr val="bg2">
                    <a:lumMod val="10000"/>
                  </a:schemeClr>
                </a:solidFill>
              </a:rPr>
              <a:t>Zastrzeżenie: </a:t>
            </a:r>
            <a:r>
              <a:rPr sz="1600" b="0">
                <a:solidFill>
                  <a:schemeClr val="bg2">
                    <a:lumMod val="10000"/>
                  </a:schemeClr>
                </a:solidFill>
              </a:rPr>
              <a:t>pomiar na karcie 10 GbE — wartości nie przenoszą się wprost na interfejsy veth.</a:t>
            </a:r>
          </a:p>
        </p:txBody>
      </p:sp>
      <p:sp>
        <p:nvSpPr>
          <p:cNvPr id="24" name="Źródła"/>
          <p:cNvSpPr txBox="1"/>
          <p:nvPr/>
        </p:nvSpPr>
        <p:spPr>
          <a:xfrm>
            <a:off x="1097280" y="6272784"/>
            <a:ext cx="9994392" cy="329184"/>
          </a:xfrm>
          <a:prstGeom prst="rect">
            <a:avLst/>
          </a:prstGeom>
          <a:noFill/>
        </p:spPr>
        <p:txBody>
          <a:bodyPr wrap="square" anchor="t">
            <a:noAutofit/>
          </a:bodyPr>
          <a:lstStyle/>
          <a:p>
            <a:pPr algn="l">
              <a:spcBef>
                <a:spcPts val="0"/>
              </a:spcBef>
            </a:pPr>
            <a:r>
              <a:rPr sz="1100" b="0">
                <a:solidFill>
                  <a:schemeClr val="bg2">
                    <a:lumMod val="50000"/>
                  </a:schemeClr>
                </a:solidFill>
              </a:rPr>
              <a:t>Źródła (numeracja jak w pracy): [39], [41]</a:t>
            </a:r>
          </a:p>
        </p:txBody>
      </p:sp>
    </p:spTree>
    <p:extLst>
      <p:ext uri="{BB962C8B-B14F-4D97-AF65-F5344CB8AC3E}">
        <p14:creationId xmlns:p14="http://schemas.microsoft.com/office/powerpoint/2010/main" val="29785648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Grafika 18">
            <a:extLst>
              <a:ext uri="{FF2B5EF4-FFF2-40B4-BE49-F238E27FC236}">
                <a16:creationId xmlns:a16="http://schemas.microsoft.com/office/drawing/2014/main" id="{8C3CFF1F-52DC-3490-D293-D228F8DF6A01}"/>
              </a:ext>
            </a:extLst>
          </p:cNvPr>
          <p:cNvPicPr>
            <a:picLocks noGrp="1" noRot="1" noChangeAspect="1" noMove="1" noResize="1" noEditPoints="1" noAdjustHandles="1" noChangeArrowheads="1" noChangeShapeType="1" noCrop="1"/>
          </p:cNvPicPr>
          <p:nvPr/>
        </p:nvPicPr>
        <p:blipFill>
          <a:blip r:embed="rId2">
            <a:extLst>
              <a:ext uri="{96DAC541-7B7A-43D3-8B79-37D633B846F1}">
                <asvg:svgBlip xmlns:asvg="http://schemas.microsoft.com/office/drawing/2016/SVG/main" r:embed="rId3"/>
              </a:ext>
            </a:extLst>
          </a:blip>
          <a:stretch>
            <a:fillRect/>
          </a:stretch>
        </p:blipFill>
        <p:spPr>
          <a:xfrm>
            <a:off x="1096027" y="0"/>
            <a:ext cx="1252727" cy="1780736"/>
          </a:xfrm>
          <a:prstGeom prst="rect">
            <a:avLst/>
          </a:prstGeom>
        </p:spPr>
      </p:pic>
      <p:sp>
        <p:nvSpPr>
          <p:cNvPr id="20" name="pole tekstowe 19">
            <a:extLst>
              <a:ext uri="{FF2B5EF4-FFF2-40B4-BE49-F238E27FC236}">
                <a16:creationId xmlns:a16="http://schemas.microsoft.com/office/drawing/2014/main" id="{DA7C4B59-9B8D-C16D-1201-5FC12125EDF7}"/>
              </a:ext>
            </a:extLst>
          </p:cNvPr>
          <p:cNvSpPr txBox="1"/>
          <p:nvPr/>
        </p:nvSpPr>
        <p:spPr>
          <a:xfrm>
            <a:off x="2629588" y="160326"/>
            <a:ext cx="5699343" cy="400110"/>
          </a:xfrm>
          <a:prstGeom prst="rect">
            <a:avLst/>
          </a:prstGeom>
          <a:noFill/>
        </p:spPr>
        <p:txBody>
          <a:bodyPr wrap="square" rtlCol="0">
            <a:spAutoFit/>
          </a:bodyPr>
          <a:lstStyle/>
          <a:p>
            <a:r>
              <a:rPr lang="pl-PL" sz="2000" dirty="0">
                <a:solidFill>
                  <a:schemeClr val="bg1"/>
                </a:solidFill>
                <a:latin typeface="Source Sans Pro Light" panose="020B0403030403020204" pitchFamily="34" charset="0"/>
              </a:rPr>
              <a:t>Obrona przed atakami DDoS — przegląd stanu wiedzy</a:t>
            </a:r>
          </a:p>
        </p:txBody>
      </p:sp>
      <p:sp>
        <p:nvSpPr>
          <p:cNvPr id="2" name="Prostokąt 1">
            <a:extLst>
              <a:ext uri="{FF2B5EF4-FFF2-40B4-BE49-F238E27FC236}">
                <a16:creationId xmlns:a16="http://schemas.microsoft.com/office/drawing/2014/main" id="{6391DFB6-1690-7FB2-CC36-5A7329D4AD6F}"/>
              </a:ext>
            </a:extLst>
          </p:cNvPr>
          <p:cNvSpPr/>
          <p:nvPr/>
        </p:nvSpPr>
        <p:spPr>
          <a:xfrm>
            <a:off x="1097280" y="1828800"/>
            <a:ext cx="3108960" cy="3063240"/>
          </a:xfrm>
          <a:prstGeom prst="rect">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pl-PL" dirty="0"/>
          </a:p>
        </p:txBody>
      </p:sp>
      <p:sp>
        <p:nvSpPr>
          <p:cNvPr id="3" name="Prostokąt 2">
            <a:extLst>
              <a:ext uri="{FF2B5EF4-FFF2-40B4-BE49-F238E27FC236}">
                <a16:creationId xmlns:a16="http://schemas.microsoft.com/office/drawing/2014/main" id="{D6721F15-4DEA-99B9-2707-E63D463254C3}"/>
              </a:ext>
            </a:extLst>
          </p:cNvPr>
          <p:cNvSpPr/>
          <p:nvPr/>
        </p:nvSpPr>
        <p:spPr>
          <a:xfrm>
            <a:off x="4539996" y="1828800"/>
            <a:ext cx="3108960" cy="3063240"/>
          </a:xfrm>
          <a:prstGeom prst="rect">
            <a:avLst/>
          </a:prstGeom>
        </p:spPr>
        <p:style>
          <a:lnRef idx="2">
            <a:schemeClr val="dk1">
              <a:shade val="50000"/>
            </a:schemeClr>
          </a:lnRef>
          <a:fillRef idx="1001">
            <a:schemeClr val="dk2"/>
          </a:fillRef>
          <a:effectRef idx="0">
            <a:schemeClr val="dk1"/>
          </a:effectRef>
          <a:fontRef idx="minor">
            <a:schemeClr val="lt1"/>
          </a:fontRef>
        </p:style>
        <p:txBody>
          <a:bodyPr rtlCol="0" anchor="ctr"/>
          <a:lstStyle/>
          <a:p>
            <a:pPr algn="ctr"/>
            <a:endParaRPr lang="pl-PL" dirty="0"/>
          </a:p>
        </p:txBody>
      </p:sp>
      <p:sp>
        <p:nvSpPr>
          <p:cNvPr id="4" name="Prostokąt 3">
            <a:extLst>
              <a:ext uri="{FF2B5EF4-FFF2-40B4-BE49-F238E27FC236}">
                <a16:creationId xmlns:a16="http://schemas.microsoft.com/office/drawing/2014/main" id="{9ACFE09C-32A5-843C-FE7B-82F73E952EB8}"/>
              </a:ext>
            </a:extLst>
          </p:cNvPr>
          <p:cNvSpPr/>
          <p:nvPr/>
        </p:nvSpPr>
        <p:spPr>
          <a:xfrm>
            <a:off x="7982711" y="1828800"/>
            <a:ext cx="3108960" cy="3063240"/>
          </a:xfrm>
          <a:prstGeom prst="rect">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pl-PL" dirty="0"/>
          </a:p>
        </p:txBody>
      </p:sp>
      <p:sp>
        <p:nvSpPr>
          <p:cNvPr id="7" name="Prostokąt 6">
            <a:extLst>
              <a:ext uri="{FF2B5EF4-FFF2-40B4-BE49-F238E27FC236}">
                <a16:creationId xmlns:a16="http://schemas.microsoft.com/office/drawing/2014/main" id="{D10A9B8A-0720-36A1-6CC3-2794DB388A39}"/>
              </a:ext>
            </a:extLst>
          </p:cNvPr>
          <p:cNvSpPr/>
          <p:nvPr/>
        </p:nvSpPr>
        <p:spPr>
          <a:xfrm>
            <a:off x="0" y="0"/>
            <a:ext cx="12192000" cy="804672"/>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 name="pole tekstowe 7">
            <a:extLst>
              <a:ext uri="{FF2B5EF4-FFF2-40B4-BE49-F238E27FC236}">
                <a16:creationId xmlns:a16="http://schemas.microsoft.com/office/drawing/2014/main" id="{DCFAE159-0B0F-8544-504A-15AF974ED49E}"/>
              </a:ext>
            </a:extLst>
          </p:cNvPr>
          <p:cNvSpPr txBox="1"/>
          <p:nvPr/>
        </p:nvSpPr>
        <p:spPr>
          <a:xfrm>
            <a:off x="2629588" y="160326"/>
            <a:ext cx="8229600" cy="400110"/>
          </a:xfrm>
          <a:prstGeom prst="rect">
            <a:avLst/>
          </a:prstGeom>
          <a:noFill/>
        </p:spPr>
        <p:txBody>
          <a:bodyPr wrap="square" rtlCol="0">
            <a:spAutoFit/>
          </a:bodyPr>
          <a:lstStyle/>
          <a:p>
            <a:r>
              <a:rPr lang="pl-PL" sz="2000" dirty="0">
                <a:solidFill>
                  <a:schemeClr val="bg1"/>
                </a:solidFill>
                <a:latin typeface="Source Sans Pro Light" panose="020B0403030403020204" pitchFamily="34" charset="0"/>
              </a:rPr>
              <a:t>Obrona przed atakami DDoS — przegląd stanu wiedzy</a:t>
            </a:r>
          </a:p>
        </p:txBody>
      </p:sp>
      <p:pic>
        <p:nvPicPr>
          <p:cNvPr id="9" name="Obraz 8" descr="Obraz zawierający linia, design, sztuka, czarne i białe&#10;&#10;Opis wygenerowany automatycznie">
            <a:extLst>
              <a:ext uri="{FF2B5EF4-FFF2-40B4-BE49-F238E27FC236}">
                <a16:creationId xmlns:a16="http://schemas.microsoft.com/office/drawing/2014/main" id="{FC666009-64C2-A2E8-8A64-21655C7DA72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2866" y="25052"/>
            <a:ext cx="739156" cy="745299"/>
          </a:xfrm>
          <a:prstGeom prst="rect">
            <a:avLst/>
          </a:prstGeom>
        </p:spPr>
      </p:pic>
      <p:sp>
        <p:nvSpPr>
          <p:cNvPr id="21" name="Tytuł 21"/>
          <p:cNvSpPr>
            <a:spLocks noGrp="1"/>
          </p:cNvSpPr>
          <p:nvPr>
            <p:ph type="title"/>
          </p:nvPr>
        </p:nvSpPr>
        <p:spPr>
          <a:xfrm>
            <a:off x="1097280" y="987552"/>
            <a:ext cx="9994392" cy="777240"/>
          </a:xfrm>
        </p:spPr>
        <p:txBody>
          <a:bodyPr vert="horz" wrap="square" lIns="91440" tIns="45720" rIns="91440" bIns="45720" anchor="t">
            <a:noAutofit/>
          </a:bodyPr>
          <a:lstStyle/>
          <a:p>
            <a:r>
              <a:rPr lang="pl-PL" sz="3600" dirty="0">
                <a:solidFill>
                  <a:schemeClr val="bg2">
                    <a:lumMod val="10000"/>
                  </a:schemeClr>
                </a:solidFill>
                <a:latin typeface="Source Sans Pro Light" panose="020B0403030403020204" pitchFamily="34" charset="0"/>
              </a:rPr>
              <a:t>Koszt egzekwowania blokad</a:t>
            </a:r>
          </a:p>
        </p:txBody>
      </p:sp>
      <p:sp>
        <p:nvSpPr>
          <p:cNvPr id="22" name="TextBox 21"/>
          <p:cNvSpPr txBox="1"/>
          <p:nvPr/>
        </p:nvSpPr>
        <p:spPr>
          <a:xfrm>
            <a:off x="1325880" y="2057400"/>
            <a:ext cx="2651760" cy="411480"/>
          </a:xfrm>
          <a:prstGeom prst="rect">
            <a:avLst/>
          </a:prstGeom>
          <a:noFill/>
        </p:spPr>
        <p:txBody>
          <a:bodyPr wrap="square" anchor="t">
            <a:noAutofit/>
          </a:bodyPr>
          <a:lstStyle/>
          <a:p>
            <a:pPr algn="l">
              <a:spcBef>
                <a:spcPts val="0"/>
              </a:spcBef>
            </a:pPr>
            <a:r>
              <a:rPr sz="1800" b="0">
                <a:solidFill>
                  <a:schemeClr val="bg1"/>
                </a:solidFill>
              </a:rPr>
              <a:t>AKTUALIZACJA MAPY</a:t>
            </a:r>
          </a:p>
        </p:txBody>
      </p:sp>
      <p:sp>
        <p:nvSpPr>
          <p:cNvPr id="23" name="TextBox 22"/>
          <p:cNvSpPr txBox="1"/>
          <p:nvPr/>
        </p:nvSpPr>
        <p:spPr>
          <a:xfrm>
            <a:off x="1325880" y="2487168"/>
            <a:ext cx="2651760" cy="731520"/>
          </a:xfrm>
          <a:prstGeom prst="rect">
            <a:avLst/>
          </a:prstGeom>
          <a:noFill/>
        </p:spPr>
        <p:txBody>
          <a:bodyPr wrap="square" anchor="t">
            <a:noAutofit/>
          </a:bodyPr>
          <a:lstStyle/>
          <a:p>
            <a:pPr algn="l">
              <a:spcBef>
                <a:spcPts val="0"/>
              </a:spcBef>
            </a:pPr>
            <a:r>
              <a:rPr sz="3600" b="0">
                <a:solidFill>
                  <a:schemeClr val="bg1"/>
                </a:solidFill>
                <a:latin typeface="Source Sans Pro Light"/>
              </a:rPr>
              <a:t>≈4,5 µs</a:t>
            </a:r>
          </a:p>
        </p:txBody>
      </p:sp>
      <p:sp>
        <p:nvSpPr>
          <p:cNvPr id="24" name="TextBox 23"/>
          <p:cNvSpPr txBox="1"/>
          <p:nvPr/>
        </p:nvSpPr>
        <p:spPr>
          <a:xfrm>
            <a:off x="1325880" y="3246120"/>
            <a:ext cx="2651760" cy="1554480"/>
          </a:xfrm>
          <a:prstGeom prst="rect">
            <a:avLst/>
          </a:prstGeom>
          <a:noFill/>
        </p:spPr>
        <p:txBody>
          <a:bodyPr wrap="square" anchor="t">
            <a:noAutofit/>
          </a:bodyPr>
          <a:lstStyle/>
          <a:p>
            <a:pPr algn="l">
              <a:spcBef>
                <a:spcPts val="0"/>
              </a:spcBef>
            </a:pPr>
            <a:r>
              <a:rPr sz="1600" b="0">
                <a:solidFill>
                  <a:schemeClr val="bg1"/>
                </a:solidFill>
              </a:rPr>
              <a:t>dodanie reguły do mapy eBPF; przegląd literatury podaje 5–20 µs.</a:t>
            </a:r>
          </a:p>
        </p:txBody>
      </p:sp>
      <p:sp>
        <p:nvSpPr>
          <p:cNvPr id="25" name="TextBox 24"/>
          <p:cNvSpPr txBox="1"/>
          <p:nvPr/>
        </p:nvSpPr>
        <p:spPr>
          <a:xfrm>
            <a:off x="4768596" y="2057400"/>
            <a:ext cx="2651760" cy="411480"/>
          </a:xfrm>
          <a:prstGeom prst="rect">
            <a:avLst/>
          </a:prstGeom>
          <a:noFill/>
        </p:spPr>
        <p:txBody>
          <a:bodyPr wrap="square" anchor="t">
            <a:noAutofit/>
          </a:bodyPr>
          <a:lstStyle/>
          <a:p>
            <a:pPr algn="l">
              <a:spcBef>
                <a:spcPts val="0"/>
              </a:spcBef>
            </a:pPr>
            <a:r>
              <a:rPr sz="1800" b="0">
                <a:solidFill>
                  <a:schemeClr val="bg1"/>
                </a:solidFill>
              </a:rPr>
              <a:t>NARZUT CPU</a:t>
            </a:r>
          </a:p>
        </p:txBody>
      </p:sp>
      <p:sp>
        <p:nvSpPr>
          <p:cNvPr id="26" name="TextBox 25"/>
          <p:cNvSpPr txBox="1"/>
          <p:nvPr/>
        </p:nvSpPr>
        <p:spPr>
          <a:xfrm>
            <a:off x="4768596" y="2487168"/>
            <a:ext cx="2651760" cy="731520"/>
          </a:xfrm>
          <a:prstGeom prst="rect">
            <a:avLst/>
          </a:prstGeom>
          <a:noFill/>
        </p:spPr>
        <p:txBody>
          <a:bodyPr wrap="square" anchor="t">
            <a:noAutofit/>
          </a:bodyPr>
          <a:lstStyle/>
          <a:p>
            <a:pPr algn="l">
              <a:spcBef>
                <a:spcPts val="0"/>
              </a:spcBef>
            </a:pPr>
            <a:r>
              <a:rPr sz="3600" b="0">
                <a:solidFill>
                  <a:schemeClr val="bg1"/>
                </a:solidFill>
                <a:latin typeface="Source Sans Pro Light"/>
              </a:rPr>
              <a:t>2,4%</a:t>
            </a:r>
          </a:p>
        </p:txBody>
      </p:sp>
      <p:sp>
        <p:nvSpPr>
          <p:cNvPr id="27" name="TextBox 26"/>
          <p:cNvSpPr txBox="1"/>
          <p:nvPr/>
        </p:nvSpPr>
        <p:spPr>
          <a:xfrm>
            <a:off x="4768596" y="3246120"/>
            <a:ext cx="2651760" cy="1554480"/>
          </a:xfrm>
          <a:prstGeom prst="rect">
            <a:avLst/>
          </a:prstGeom>
          <a:noFill/>
        </p:spPr>
        <p:txBody>
          <a:bodyPr wrap="square" anchor="t">
            <a:noAutofit/>
          </a:bodyPr>
          <a:lstStyle/>
          <a:p>
            <a:pPr algn="l">
              <a:spcBef>
                <a:spcPts val="0"/>
              </a:spcBef>
            </a:pPr>
            <a:r>
              <a:rPr sz="1600" b="0">
                <a:solidFill>
                  <a:schemeClr val="bg1"/>
                </a:solidFill>
              </a:rPr>
              <a:t>mediana narzutu CPU w 54 pracach; koordynacja z modelem ML: 0,5–2 ms.</a:t>
            </a:r>
          </a:p>
        </p:txBody>
      </p:sp>
      <p:sp>
        <p:nvSpPr>
          <p:cNvPr id="28" name="TextBox 27"/>
          <p:cNvSpPr txBox="1"/>
          <p:nvPr/>
        </p:nvSpPr>
        <p:spPr>
          <a:xfrm>
            <a:off x="8211311" y="2057400"/>
            <a:ext cx="2651760" cy="411480"/>
          </a:xfrm>
          <a:prstGeom prst="rect">
            <a:avLst/>
          </a:prstGeom>
          <a:noFill/>
        </p:spPr>
        <p:txBody>
          <a:bodyPr wrap="square" anchor="t">
            <a:noAutofit/>
          </a:bodyPr>
          <a:lstStyle/>
          <a:p>
            <a:pPr algn="l">
              <a:spcBef>
                <a:spcPts val="0"/>
              </a:spcBef>
            </a:pPr>
            <a:r>
              <a:rPr sz="1800" b="0">
                <a:solidFill>
                  <a:schemeClr val="bg2">
                    <a:lumMod val="10000"/>
                  </a:schemeClr>
                </a:solidFill>
              </a:rPr>
              <a:t>SKALA WDROŻEŃ</a:t>
            </a:r>
          </a:p>
        </p:txBody>
      </p:sp>
      <p:sp>
        <p:nvSpPr>
          <p:cNvPr id="29" name="TextBox 28"/>
          <p:cNvSpPr txBox="1"/>
          <p:nvPr/>
        </p:nvSpPr>
        <p:spPr>
          <a:xfrm>
            <a:off x="8211311" y="2487168"/>
            <a:ext cx="2651760" cy="731520"/>
          </a:xfrm>
          <a:prstGeom prst="rect">
            <a:avLst/>
          </a:prstGeom>
          <a:noFill/>
        </p:spPr>
        <p:txBody>
          <a:bodyPr wrap="square" anchor="t">
            <a:noAutofit/>
          </a:bodyPr>
          <a:lstStyle/>
          <a:p>
            <a:pPr algn="l">
              <a:spcBef>
                <a:spcPts val="0"/>
              </a:spcBef>
            </a:pPr>
            <a:r>
              <a:rPr sz="3600" b="0">
                <a:solidFill>
                  <a:schemeClr val="bg2">
                    <a:lumMod val="10000"/>
                  </a:schemeClr>
                </a:solidFill>
                <a:latin typeface="Source Sans Pro Light"/>
              </a:rPr>
              <a:t>&gt;8 mln pps</a:t>
            </a:r>
          </a:p>
        </p:txBody>
      </p:sp>
      <p:sp>
        <p:nvSpPr>
          <p:cNvPr id="30" name="TextBox 29"/>
          <p:cNvSpPr txBox="1"/>
          <p:nvPr/>
        </p:nvSpPr>
        <p:spPr>
          <a:xfrm>
            <a:off x="8211311" y="3246120"/>
            <a:ext cx="2651760" cy="1554480"/>
          </a:xfrm>
          <a:prstGeom prst="rect">
            <a:avLst/>
          </a:prstGeom>
          <a:noFill/>
        </p:spPr>
        <p:txBody>
          <a:bodyPr wrap="square" anchor="t">
            <a:noAutofit/>
          </a:bodyPr>
          <a:lstStyle/>
          <a:p>
            <a:pPr algn="l">
              <a:spcBef>
                <a:spcPts val="0"/>
              </a:spcBef>
            </a:pPr>
            <a:r>
              <a:rPr sz="1600" b="0">
                <a:solidFill>
                  <a:schemeClr val="bg2">
                    <a:lumMod val="10000"/>
                  </a:schemeClr>
                </a:solidFill>
              </a:rPr>
              <a:t>odrzucanych przez jeden serwer z systemem L4Drop (raport branżowy).</a:t>
            </a:r>
          </a:p>
        </p:txBody>
      </p:sp>
      <p:sp>
        <p:nvSpPr>
          <p:cNvPr id="31" name="TextBox 30"/>
          <p:cNvSpPr txBox="1"/>
          <p:nvPr/>
        </p:nvSpPr>
        <p:spPr>
          <a:xfrm>
            <a:off x="1097280" y="5120640"/>
            <a:ext cx="9994392" cy="777240"/>
          </a:xfrm>
          <a:prstGeom prst="rect">
            <a:avLst/>
          </a:prstGeom>
          <a:noFill/>
        </p:spPr>
        <p:txBody>
          <a:bodyPr wrap="square" anchor="t">
            <a:noAutofit/>
          </a:bodyPr>
          <a:lstStyle/>
          <a:p>
            <a:pPr algn="l">
              <a:spcBef>
                <a:spcPts val="0"/>
              </a:spcBef>
            </a:pPr>
            <a:r>
              <a:rPr sz="1600" b="1">
                <a:solidFill>
                  <a:schemeClr val="bg2">
                    <a:lumMod val="10000"/>
                  </a:schemeClr>
                </a:solidFill>
              </a:rPr>
              <a:t>Wniosek: </a:t>
            </a:r>
            <a:r>
              <a:rPr sz="1600" b="0">
                <a:solidFill>
                  <a:schemeClr val="bg2">
                    <a:lumMod val="10000"/>
                  </a:schemeClr>
                </a:solidFill>
              </a:rPr>
              <a:t>o czasie reakcji decyduje detekcja, nie blokada. Limity liczone ze średniej odrzucały &gt;80% legalnego ruchu urządzenia, a liczone ze szczytów — &lt;1,5%.</a:t>
            </a:r>
          </a:p>
        </p:txBody>
      </p:sp>
      <p:sp>
        <p:nvSpPr>
          <p:cNvPr id="32" name="Źródła"/>
          <p:cNvSpPr txBox="1"/>
          <p:nvPr/>
        </p:nvSpPr>
        <p:spPr>
          <a:xfrm>
            <a:off x="1097280" y="6272784"/>
            <a:ext cx="9994392" cy="329184"/>
          </a:xfrm>
          <a:prstGeom prst="rect">
            <a:avLst/>
          </a:prstGeom>
          <a:noFill/>
        </p:spPr>
        <p:txBody>
          <a:bodyPr wrap="square" anchor="t">
            <a:noAutofit/>
          </a:bodyPr>
          <a:lstStyle/>
          <a:p>
            <a:pPr algn="l">
              <a:spcBef>
                <a:spcPts val="0"/>
              </a:spcBef>
            </a:pPr>
            <a:r>
              <a:rPr sz="1100" b="0">
                <a:solidFill>
                  <a:schemeClr val="bg2">
                    <a:lumMod val="50000"/>
                  </a:schemeClr>
                </a:solidFill>
              </a:rPr>
              <a:t>Źródła (numeracja jak w pracy): [37], [40], [42]</a:t>
            </a:r>
          </a:p>
        </p:txBody>
      </p:sp>
    </p:spTree>
    <p:extLst>
      <p:ext uri="{BB962C8B-B14F-4D97-AF65-F5344CB8AC3E}">
        <p14:creationId xmlns:p14="http://schemas.microsoft.com/office/powerpoint/2010/main" val="16721264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7" name="pole tekstowe 6">
            <a:extLst>
              <a:ext uri="{FF2B5EF4-FFF2-40B4-BE49-F238E27FC236}">
                <a16:creationId xmlns:a16="http://schemas.microsoft.com/office/drawing/2014/main" id="{0CBC331D-8069-B1C8-0B2C-BC64036C1009}"/>
              </a:ext>
            </a:extLst>
          </p:cNvPr>
          <p:cNvSpPr txBox="1"/>
          <p:nvPr/>
        </p:nvSpPr>
        <p:spPr>
          <a:xfrm>
            <a:off x="6195330" y="2331720"/>
            <a:ext cx="5699343" cy="1938992"/>
          </a:xfrm>
          <a:prstGeom prst="rect">
            <a:avLst/>
          </a:prstGeom>
          <a:noFill/>
        </p:spPr>
        <p:txBody>
          <a:bodyPr wrap="square" rtlCol="0">
            <a:spAutoFit/>
          </a:bodyPr>
          <a:lstStyle/>
          <a:p>
            <a:r>
              <a:rPr lang="pl-PL" sz="6000" dirty="0">
                <a:solidFill>
                  <a:schemeClr val="bg1"/>
                </a:solidFill>
                <a:latin typeface="Source Sans Pro Light" panose="020B0403030403020204" pitchFamily="34" charset="0"/>
              </a:rPr>
              <a:t>Uczenie</a:t>
            </a:r>
          </a:p>
          <a:p>
            <a:r>
              <a:rPr lang="pl-PL" sz="6000" dirty="0">
                <a:solidFill>
                  <a:schemeClr val="bg1"/>
                </a:solidFill>
                <a:latin typeface="Source Sans Pro Light" panose="020B0403030403020204" pitchFamily="34" charset="0"/>
              </a:rPr>
              <a:t>maszynowe</a:t>
            </a:r>
          </a:p>
        </p:txBody>
      </p:sp>
      <p:sp>
        <p:nvSpPr>
          <p:cNvPr id="8" name="pole tekstowe 7">
            <a:extLst>
              <a:ext uri="{FF2B5EF4-FFF2-40B4-BE49-F238E27FC236}">
                <a16:creationId xmlns:a16="http://schemas.microsoft.com/office/drawing/2014/main" id="{B6F5D76B-1818-C235-38F9-3C9C21303C79}"/>
              </a:ext>
            </a:extLst>
          </p:cNvPr>
          <p:cNvSpPr txBox="1"/>
          <p:nvPr/>
        </p:nvSpPr>
        <p:spPr>
          <a:xfrm>
            <a:off x="6195330" y="1874519"/>
            <a:ext cx="5699343" cy="400110"/>
          </a:xfrm>
          <a:prstGeom prst="rect">
            <a:avLst/>
          </a:prstGeom>
          <a:noFill/>
        </p:spPr>
        <p:txBody>
          <a:bodyPr wrap="square" rtlCol="0">
            <a:spAutoFit/>
          </a:bodyPr>
          <a:lstStyle/>
          <a:p>
            <a:r>
              <a:rPr lang="pl-PL" sz="2000" dirty="0">
                <a:solidFill>
                  <a:schemeClr val="bg1"/>
                </a:solidFill>
                <a:latin typeface="Source Sans Pro Light" panose="020B0403030403020204" pitchFamily="34" charset="0"/>
              </a:rPr>
              <a:t>Część III — modele sekwencyjne</a:t>
            </a:r>
          </a:p>
        </p:txBody>
      </p:sp>
      <p:pic>
        <p:nvPicPr>
          <p:cNvPr id="4" name="Obraz 3" descr="Obraz zawierający linia, design, sztuka, czarne i białe&#10;&#10;Opis wygenerowany automatycznie">
            <a:extLst>
              <a:ext uri="{FF2B5EF4-FFF2-40B4-BE49-F238E27FC236}">
                <a16:creationId xmlns:a16="http://schemas.microsoft.com/office/drawing/2014/main" id="{583295B8-9380-5D37-9FB1-07A1D24A2108}"/>
              </a:ext>
            </a:extLst>
          </p:cNvPr>
          <p:cNvPicPr>
            <a:picLocks noChangeAspect="1"/>
          </p:cNvPicPr>
          <p:nvPr/>
        </p:nvPicPr>
        <p:blipFill>
          <a:blip r:embed="rId2">
            <a:alphaModFix amt="50000"/>
            <a:extLst>
              <a:ext uri="{28A0092B-C50C-407E-A947-70E740481C1C}">
                <a14:useLocalDpi xmlns:a14="http://schemas.microsoft.com/office/drawing/2010/main" val="0"/>
              </a:ext>
            </a:extLst>
          </a:blip>
          <a:stretch>
            <a:fillRect/>
          </a:stretch>
        </p:blipFill>
        <p:spPr>
          <a:xfrm>
            <a:off x="-1125177" y="-645091"/>
            <a:ext cx="6801478" cy="6858000"/>
          </a:xfrm>
          <a:prstGeom prst="rect">
            <a:avLst/>
          </a:prstGeom>
        </p:spPr>
      </p:pic>
    </p:spTree>
    <p:extLst>
      <p:ext uri="{BB962C8B-B14F-4D97-AF65-F5344CB8AC3E}">
        <p14:creationId xmlns:p14="http://schemas.microsoft.com/office/powerpoint/2010/main" val="6468721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rostokąt 4">
            <a:extLst>
              <a:ext uri="{FF2B5EF4-FFF2-40B4-BE49-F238E27FC236}">
                <a16:creationId xmlns:a16="http://schemas.microsoft.com/office/drawing/2014/main" id="{7CA99EC4-3C2E-53F3-55A5-01E21A2FCB45}"/>
              </a:ext>
            </a:extLst>
          </p:cNvPr>
          <p:cNvSpPr>
            <a:spLocks noGrp="1" noRot="1" noMove="1" noResize="1" noEditPoints="1" noAdjustHandles="1" noChangeArrowheads="1" noChangeShapeType="1"/>
          </p:cNvSpPr>
          <p:nvPr/>
        </p:nvSpPr>
        <p:spPr>
          <a:xfrm>
            <a:off x="0" y="0"/>
            <a:ext cx="12192000" cy="804672"/>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0" name="pole tekstowe 19">
            <a:extLst>
              <a:ext uri="{FF2B5EF4-FFF2-40B4-BE49-F238E27FC236}">
                <a16:creationId xmlns:a16="http://schemas.microsoft.com/office/drawing/2014/main" id="{DA7C4B59-9B8D-C16D-1201-5FC12125EDF7}"/>
              </a:ext>
            </a:extLst>
          </p:cNvPr>
          <p:cNvSpPr txBox="1">
            <a:spLocks noGrp="1" noRot="1" noMove="1" noResize="1" noEditPoints="1" noAdjustHandles="1" noChangeArrowheads="1" noChangeShapeType="1"/>
          </p:cNvSpPr>
          <p:nvPr/>
        </p:nvSpPr>
        <p:spPr>
          <a:xfrm>
            <a:off x="2629588" y="160326"/>
            <a:ext cx="8229600" cy="400110"/>
          </a:xfrm>
          <a:prstGeom prst="rect">
            <a:avLst/>
          </a:prstGeom>
          <a:noFill/>
        </p:spPr>
        <p:txBody>
          <a:bodyPr wrap="square" rtlCol="0">
            <a:spAutoFit/>
          </a:bodyPr>
          <a:lstStyle/>
          <a:p>
            <a:r>
              <a:rPr lang="pl-PL" sz="2000" dirty="0">
                <a:solidFill>
                  <a:schemeClr val="bg1"/>
                </a:solidFill>
                <a:latin typeface="Source Sans Pro Light" panose="020B0403030403020204" pitchFamily="34" charset="0"/>
              </a:rPr>
              <a:t>Obrona przed atakami DDoS — przegląd stanu wiedzy</a:t>
            </a:r>
          </a:p>
        </p:txBody>
      </p:sp>
      <p:pic>
        <p:nvPicPr>
          <p:cNvPr id="4" name="Obraz 3" descr="Obraz zawierający linia, design, sztuka, czarne i białe&#10;&#10;Opis wygenerowany automatycznie">
            <a:extLst>
              <a:ext uri="{FF2B5EF4-FFF2-40B4-BE49-F238E27FC236}">
                <a16:creationId xmlns:a16="http://schemas.microsoft.com/office/drawing/2014/main" id="{FB556C9B-EF3C-CE33-30D5-4FF03A12E4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2866" y="25052"/>
            <a:ext cx="739156" cy="745299"/>
          </a:xfrm>
          <a:prstGeom prst="rect">
            <a:avLst/>
          </a:prstGeom>
        </p:spPr>
      </p:pic>
      <p:sp>
        <p:nvSpPr>
          <p:cNvPr id="21" name="Tytuł 21"/>
          <p:cNvSpPr>
            <a:spLocks noGrp="1"/>
          </p:cNvSpPr>
          <p:nvPr>
            <p:ph type="title"/>
          </p:nvPr>
        </p:nvSpPr>
        <p:spPr>
          <a:xfrm>
            <a:off x="1097280" y="987552"/>
            <a:ext cx="9994392" cy="777240"/>
          </a:xfrm>
        </p:spPr>
        <p:txBody>
          <a:bodyPr vert="horz" wrap="square" lIns="91440" tIns="45720" rIns="91440" bIns="45720" anchor="t">
            <a:noAutofit/>
          </a:bodyPr>
          <a:lstStyle/>
          <a:p>
            <a:r>
              <a:rPr lang="pl-PL" sz="3600" dirty="0">
                <a:solidFill>
                  <a:schemeClr val="bg2">
                    <a:lumMod val="10000"/>
                  </a:schemeClr>
                </a:solidFill>
                <a:latin typeface="Source Sans Pro Light" panose="020B0403030403020204" pitchFamily="34" charset="0"/>
              </a:rPr>
              <a:t>Modele klasyczne a rekurencyjne</a:t>
            </a:r>
          </a:p>
        </p:txBody>
      </p:sp>
      <p:graphicFrame>
        <p:nvGraphicFramePr>
          <p:cNvPr id="22" name="Table 21"/>
          <p:cNvGraphicFramePr>
            <a:graphicFrameLocks noGrp="1"/>
          </p:cNvGraphicFramePr>
          <p:nvPr/>
        </p:nvGraphicFramePr>
        <p:xfrm>
          <a:off x="1097280" y="1828800"/>
          <a:ext cx="9994392" cy="3520440"/>
        </p:xfrm>
        <a:graphic>
          <a:graphicData uri="http://schemas.openxmlformats.org/drawingml/2006/table">
            <a:tbl>
              <a:tblPr firstRow="1">
                <a:tableStyleId>{5C22544A-7EE6-4342-B048-85BDC9FD1C3A}</a:tableStyleId>
              </a:tblPr>
              <a:tblGrid>
                <a:gridCol w="2148840"/>
                <a:gridCol w="2240280"/>
                <a:gridCol w="3108960"/>
                <a:gridCol w="2496312"/>
              </a:tblGrid>
              <a:tr h="502920">
                <a:tc>
                  <a:txBody>
                    <a:bodyPr wrap="square"/>
                    <a:lstStyle/>
                    <a:p>
                      <a:r>
                        <a:rPr sz="1400" b="1">
                          <a:solidFill>
                            <a:schemeClr val="bg1"/>
                          </a:solidFill>
                        </a:rPr>
                        <a:t>Badanie</a:t>
                      </a:r>
                    </a:p>
                  </a:txBody>
                  <a:tcPr marL="91440" marR="91440" marT="45720" marB="45720" anchor="ctr">
                    <a:solidFill>
                      <a:schemeClr val="tx2"/>
                    </a:solidFill>
                  </a:tcPr>
                </a:tc>
                <a:tc>
                  <a:txBody>
                    <a:bodyPr wrap="square"/>
                    <a:lstStyle/>
                    <a:p>
                      <a:r>
                        <a:rPr sz="1400" b="1">
                          <a:solidFill>
                            <a:schemeClr val="bg1"/>
                          </a:solidFill>
                        </a:rPr>
                        <a:t>Porównanie</a:t>
                      </a:r>
                    </a:p>
                  </a:txBody>
                  <a:tcPr marL="91440" marR="91440" marT="45720" marB="45720" anchor="ctr">
                    <a:solidFill>
                      <a:schemeClr val="tx2"/>
                    </a:solidFill>
                  </a:tcPr>
                </a:tc>
                <a:tc>
                  <a:txBody>
                    <a:bodyPr wrap="square"/>
                    <a:lstStyle/>
                    <a:p>
                      <a:r>
                        <a:rPr sz="1400" b="1">
                          <a:solidFill>
                            <a:schemeClr val="bg1"/>
                          </a:solidFill>
                        </a:rPr>
                        <a:t>Wynik</a:t>
                      </a:r>
                    </a:p>
                  </a:txBody>
                  <a:tcPr marL="91440" marR="91440" marT="45720" marB="45720" anchor="ctr">
                    <a:solidFill>
                      <a:schemeClr val="tx2"/>
                    </a:solidFill>
                  </a:tcPr>
                </a:tc>
                <a:tc>
                  <a:txBody>
                    <a:bodyPr wrap="square"/>
                    <a:lstStyle/>
                    <a:p>
                      <a:r>
                        <a:rPr sz="1400" b="1">
                          <a:solidFill>
                            <a:schemeClr val="bg1"/>
                          </a:solidFill>
                        </a:rPr>
                        <a:t>Wniosek</a:t>
                      </a:r>
                    </a:p>
                  </a:txBody>
                  <a:tcPr marL="91440" marR="91440" marT="45720" marB="45720" anchor="ctr">
                    <a:solidFill>
                      <a:schemeClr val="tx2"/>
                    </a:solidFill>
                  </a:tcPr>
                </a:tc>
              </a:tr>
              <a:tr h="1005840">
                <a:tc>
                  <a:txBody>
                    <a:bodyPr wrap="square"/>
                    <a:lstStyle/>
                    <a:p>
                      <a:r>
                        <a:rPr sz="1400" b="1">
                          <a:solidFill>
                            <a:schemeClr val="bg2">
                              <a:lumMod val="10000"/>
                            </a:schemeClr>
                          </a:solidFill>
                        </a:rPr>
                        <a:t>Cantone i in.</a:t>
                      </a:r>
                    </a:p>
                  </a:txBody>
                  <a:tcPr marL="91440" marR="91440" marT="45720" marB="45720" anchor="ctr">
                    <a:solidFill>
                      <a:schemeClr val="bg2">
                        <a:lumMod val="50000"/>
                        <a:lumOff val="50000"/>
                      </a:schemeClr>
                    </a:solidFill>
                  </a:tcPr>
                </a:tc>
                <a:tc>
                  <a:txBody>
                    <a:bodyPr wrap="square"/>
                    <a:lstStyle/>
                    <a:p>
                      <a:r>
                        <a:rPr sz="1400" b="0">
                          <a:solidFill>
                            <a:schemeClr val="bg2">
                              <a:lumMod val="10000"/>
                            </a:schemeClr>
                          </a:solidFill>
                        </a:rPr>
                        <a:t>ten sam zbiór danych vs inny zbiór</a:t>
                      </a:r>
                    </a:p>
                  </a:txBody>
                  <a:tcPr marL="91440" marR="91440" marT="45720" marB="45720" anchor="ctr">
                    <a:solidFill>
                      <a:schemeClr val="bg2">
                        <a:lumMod val="50000"/>
                        <a:lumOff val="50000"/>
                      </a:schemeClr>
                    </a:solidFill>
                  </a:tcPr>
                </a:tc>
                <a:tc>
                  <a:txBody>
                    <a:bodyPr wrap="square"/>
                    <a:lstStyle/>
                    <a:p>
                      <a:r>
                        <a:rPr sz="1400" b="0">
                          <a:solidFill>
                            <a:schemeClr val="bg2">
                              <a:lumMod val="10000"/>
                            </a:schemeClr>
                          </a:solidFill>
                        </a:rPr>
                        <a:t>MCC 83,86% → 14,91%</a:t>
                      </a:r>
                    </a:p>
                  </a:txBody>
                  <a:tcPr marL="91440" marR="91440" marT="45720" marB="45720" anchor="ctr">
                    <a:solidFill>
                      <a:schemeClr val="bg2">
                        <a:lumMod val="50000"/>
                        <a:lumOff val="50000"/>
                      </a:schemeClr>
                    </a:solidFill>
                  </a:tcPr>
                </a:tc>
                <a:tc>
                  <a:txBody>
                    <a:bodyPr wrap="square"/>
                    <a:lstStyle/>
                    <a:p>
                      <a:r>
                        <a:rPr sz="1400" b="0">
                          <a:solidFill>
                            <a:schemeClr val="bg2">
                              <a:lumMod val="10000"/>
                            </a:schemeClr>
                          </a:solidFill>
                        </a:rPr>
                        <a:t>wyniki z jednego zbioru nie przenoszą się</a:t>
                      </a:r>
                    </a:p>
                  </a:txBody>
                  <a:tcPr marL="91440" marR="91440" marT="45720" marB="45720" anchor="ctr">
                    <a:solidFill>
                      <a:schemeClr val="bg2">
                        <a:lumMod val="50000"/>
                        <a:lumOff val="50000"/>
                      </a:schemeClr>
                    </a:solidFill>
                  </a:tcPr>
                </a:tc>
              </a:tr>
              <a:tr h="1005840">
                <a:tc>
                  <a:txBody>
                    <a:bodyPr wrap="square"/>
                    <a:lstStyle/>
                    <a:p>
                      <a:r>
                        <a:rPr sz="1400" b="1">
                          <a:solidFill>
                            <a:schemeClr val="bg2">
                              <a:lumMod val="10000"/>
                            </a:schemeClr>
                          </a:solidFill>
                        </a:rPr>
                        <a:t>Almaraz-Rivera i in.</a:t>
                      </a:r>
                    </a:p>
                  </a:txBody>
                  <a:tcPr marL="91440" marR="91440" marT="45720" marB="45720" anchor="ctr">
                    <a:solidFill>
                      <a:schemeClr val="bg2">
                        <a:lumMod val="15000"/>
                        <a:lumOff val="85000"/>
                      </a:schemeClr>
                    </a:solidFill>
                  </a:tcPr>
                </a:tc>
                <a:tc>
                  <a:txBody>
                    <a:bodyPr wrap="square"/>
                    <a:lstStyle/>
                    <a:p>
                      <a:r>
                        <a:rPr sz="1400" b="0">
                          <a:solidFill>
                            <a:schemeClr val="bg2">
                              <a:lumMod val="10000"/>
                            </a:schemeClr>
                          </a:solidFill>
                        </a:rPr>
                        <a:t>drzewa vs RNN / LSTM / GRU</a:t>
                      </a:r>
                    </a:p>
                  </a:txBody>
                  <a:tcPr marL="91440" marR="91440" marT="45720" marB="45720" anchor="ctr">
                    <a:solidFill>
                      <a:schemeClr val="bg2">
                        <a:lumMod val="15000"/>
                        <a:lumOff val="85000"/>
                      </a:schemeClr>
                    </a:solidFill>
                  </a:tcPr>
                </a:tc>
                <a:tc>
                  <a:txBody>
                    <a:bodyPr wrap="square"/>
                    <a:lstStyle/>
                    <a:p>
                      <a:r>
                        <a:rPr sz="1400" b="0">
                          <a:solidFill>
                            <a:schemeClr val="bg2">
                              <a:lumMod val="10000"/>
                            </a:schemeClr>
                          </a:solidFill>
                        </a:rPr>
                        <a:t>DT ≈30 tys. vs GRU &lt;3 tys. przepływów/s; GRU 99,862% → 96,23% bez znaczników czasu</a:t>
                      </a:r>
                    </a:p>
                  </a:txBody>
                  <a:tcPr marL="91440" marR="91440" marT="45720" marB="45720" anchor="ctr">
                    <a:solidFill>
                      <a:schemeClr val="bg2">
                        <a:lumMod val="15000"/>
                        <a:lumOff val="85000"/>
                      </a:schemeClr>
                    </a:solidFill>
                  </a:tcPr>
                </a:tc>
                <a:tc>
                  <a:txBody>
                    <a:bodyPr wrap="square"/>
                    <a:lstStyle/>
                    <a:p>
                      <a:r>
                        <a:rPr sz="1400" b="0">
                          <a:solidFill>
                            <a:schemeClr val="bg2">
                              <a:lumMod val="10000"/>
                            </a:schemeClr>
                          </a:solidFill>
                        </a:rPr>
                        <a:t>drzewa to wymagający punkt odniesienia; sekwencje o długości 1</a:t>
                      </a:r>
                    </a:p>
                  </a:txBody>
                  <a:tcPr marL="91440" marR="91440" marT="45720" marB="45720" anchor="ctr">
                    <a:solidFill>
                      <a:schemeClr val="bg2">
                        <a:lumMod val="15000"/>
                        <a:lumOff val="85000"/>
                      </a:schemeClr>
                    </a:solidFill>
                  </a:tcPr>
                </a:tc>
              </a:tr>
              <a:tr h="1005840">
                <a:tc>
                  <a:txBody>
                    <a:bodyPr wrap="square"/>
                    <a:lstStyle/>
                    <a:p>
                      <a:r>
                        <a:rPr sz="1400" b="1">
                          <a:solidFill>
                            <a:schemeClr val="bg2">
                              <a:lumMod val="10000"/>
                            </a:schemeClr>
                          </a:solidFill>
                        </a:rPr>
                        <a:t>LUCID (Doriguzzi-Corin i in.)</a:t>
                      </a:r>
                    </a:p>
                  </a:txBody>
                  <a:tcPr marL="91440" marR="91440" marT="45720" marB="45720" anchor="ctr">
                    <a:solidFill>
                      <a:schemeClr val="bg2">
                        <a:lumMod val="50000"/>
                        <a:lumOff val="50000"/>
                      </a:schemeClr>
                    </a:solidFill>
                  </a:tcPr>
                </a:tc>
                <a:tc>
                  <a:txBody>
                    <a:bodyPr wrap="square"/>
                    <a:lstStyle/>
                    <a:p>
                      <a:r>
                        <a:rPr sz="1400" b="0">
                          <a:solidFill>
                            <a:schemeClr val="bg2">
                              <a:lumMod val="10000"/>
                            </a:schemeClr>
                          </a:solidFill>
                        </a:rPr>
                        <a:t>CNN vs LSTM</a:t>
                      </a:r>
                    </a:p>
                  </a:txBody>
                  <a:tcPr marL="91440" marR="91440" marT="45720" marB="45720" anchor="ctr">
                    <a:solidFill>
                      <a:schemeClr val="bg2">
                        <a:lumMod val="50000"/>
                        <a:lumOff val="50000"/>
                      </a:schemeClr>
                    </a:solidFill>
                  </a:tcPr>
                </a:tc>
                <a:tc>
                  <a:txBody>
                    <a:bodyPr wrap="square"/>
                    <a:lstStyle/>
                    <a:p>
                      <a:r>
                        <a:rPr sz="1400" b="0">
                          <a:solidFill>
                            <a:schemeClr val="bg2">
                              <a:lumMod val="10000"/>
                            </a:schemeClr>
                          </a:solidFill>
                        </a:rPr>
                        <a:t>&gt;55 tys. próbek/s, 40× szybciej przy porównywalnym F1</a:t>
                      </a:r>
                    </a:p>
                  </a:txBody>
                  <a:tcPr marL="91440" marR="91440" marT="45720" marB="45720" anchor="ctr">
                    <a:solidFill>
                      <a:schemeClr val="bg2">
                        <a:lumMod val="50000"/>
                        <a:lumOff val="50000"/>
                      </a:schemeClr>
                    </a:solidFill>
                  </a:tcPr>
                </a:tc>
                <a:tc>
                  <a:txBody>
                    <a:bodyPr wrap="square"/>
                    <a:lstStyle/>
                    <a:p>
                      <a:r>
                        <a:rPr sz="1400" b="0">
                          <a:solidFill>
                            <a:schemeClr val="bg2">
                              <a:lumMod val="10000"/>
                            </a:schemeClr>
                          </a:solidFill>
                        </a:rPr>
                        <a:t>koszt wnioskowania RNN jest istotny</a:t>
                      </a:r>
                    </a:p>
                  </a:txBody>
                  <a:tcPr marL="91440" marR="91440" marT="45720" marB="45720" anchor="ctr">
                    <a:solidFill>
                      <a:schemeClr val="bg2">
                        <a:lumMod val="50000"/>
                        <a:lumOff val="50000"/>
                      </a:schemeClr>
                    </a:solidFill>
                  </a:tcPr>
                </a:tc>
              </a:tr>
            </a:tbl>
          </a:graphicData>
        </a:graphic>
      </p:graphicFrame>
      <p:sp>
        <p:nvSpPr>
          <p:cNvPr id="23" name="TextBox 22"/>
          <p:cNvSpPr txBox="1"/>
          <p:nvPr/>
        </p:nvSpPr>
        <p:spPr>
          <a:xfrm>
            <a:off x="1097280" y="5577840"/>
            <a:ext cx="9994392" cy="640080"/>
          </a:xfrm>
          <a:prstGeom prst="rect">
            <a:avLst/>
          </a:prstGeom>
          <a:noFill/>
        </p:spPr>
        <p:txBody>
          <a:bodyPr wrap="square" anchor="t">
            <a:noAutofit/>
          </a:bodyPr>
          <a:lstStyle/>
          <a:p>
            <a:pPr algn="l">
              <a:spcBef>
                <a:spcPts val="0"/>
              </a:spcBef>
            </a:pPr>
            <a:r>
              <a:rPr sz="1600" b="1">
                <a:solidFill>
                  <a:schemeClr val="bg2">
                    <a:lumMod val="10000"/>
                  </a:schemeClr>
                </a:solidFill>
              </a:rPr>
              <a:t>LSTM i GRU: </a:t>
            </a:r>
            <a:r>
              <a:rPr sz="1600" b="0">
                <a:solidFill>
                  <a:schemeClr val="bg2">
                    <a:lumMod val="10000"/>
                  </a:schemeClr>
                </a:solidFill>
              </a:rPr>
              <a:t>komórka pamięci i bramki pozwalają utrzymać kontekst w długich sekwencjach.</a:t>
            </a:r>
          </a:p>
        </p:txBody>
      </p:sp>
      <p:sp>
        <p:nvSpPr>
          <p:cNvPr id="24" name="Źródła"/>
          <p:cNvSpPr txBox="1"/>
          <p:nvPr/>
        </p:nvSpPr>
        <p:spPr>
          <a:xfrm>
            <a:off x="1097280" y="6272784"/>
            <a:ext cx="9994392" cy="329184"/>
          </a:xfrm>
          <a:prstGeom prst="rect">
            <a:avLst/>
          </a:prstGeom>
          <a:noFill/>
        </p:spPr>
        <p:txBody>
          <a:bodyPr wrap="square" anchor="t">
            <a:noAutofit/>
          </a:bodyPr>
          <a:lstStyle/>
          <a:p>
            <a:pPr algn="l">
              <a:spcBef>
                <a:spcPts val="0"/>
              </a:spcBef>
            </a:pPr>
            <a:r>
              <a:rPr sz="1100" b="0">
                <a:solidFill>
                  <a:schemeClr val="bg2">
                    <a:lumMod val="50000"/>
                  </a:schemeClr>
                </a:solidFill>
              </a:rPr>
              <a:t>Źródła (numeracja jak w pracy): [45], [46], [47], [48], [50]</a:t>
            </a:r>
          </a:p>
        </p:txBody>
      </p:sp>
    </p:spTree>
    <p:extLst>
      <p:ext uri="{BB962C8B-B14F-4D97-AF65-F5344CB8AC3E}">
        <p14:creationId xmlns:p14="http://schemas.microsoft.com/office/powerpoint/2010/main" val="29785648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rostokąt 4">
            <a:extLst>
              <a:ext uri="{FF2B5EF4-FFF2-40B4-BE49-F238E27FC236}">
                <a16:creationId xmlns:a16="http://schemas.microsoft.com/office/drawing/2014/main" id="{7CA99EC4-3C2E-53F3-55A5-01E21A2FCB45}"/>
              </a:ext>
            </a:extLst>
          </p:cNvPr>
          <p:cNvSpPr>
            <a:spLocks noGrp="1" noRot="1" noMove="1" noResize="1" noEditPoints="1" noAdjustHandles="1" noChangeArrowheads="1" noChangeShapeType="1"/>
          </p:cNvSpPr>
          <p:nvPr/>
        </p:nvSpPr>
        <p:spPr>
          <a:xfrm>
            <a:off x="0" y="0"/>
            <a:ext cx="12192000" cy="804672"/>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0" name="pole tekstowe 19">
            <a:extLst>
              <a:ext uri="{FF2B5EF4-FFF2-40B4-BE49-F238E27FC236}">
                <a16:creationId xmlns:a16="http://schemas.microsoft.com/office/drawing/2014/main" id="{DA7C4B59-9B8D-C16D-1201-5FC12125EDF7}"/>
              </a:ext>
            </a:extLst>
          </p:cNvPr>
          <p:cNvSpPr txBox="1">
            <a:spLocks noGrp="1" noRot="1" noMove="1" noResize="1" noEditPoints="1" noAdjustHandles="1" noChangeArrowheads="1" noChangeShapeType="1"/>
          </p:cNvSpPr>
          <p:nvPr/>
        </p:nvSpPr>
        <p:spPr>
          <a:xfrm>
            <a:off x="2629588" y="160326"/>
            <a:ext cx="8229600" cy="400110"/>
          </a:xfrm>
          <a:prstGeom prst="rect">
            <a:avLst/>
          </a:prstGeom>
          <a:noFill/>
        </p:spPr>
        <p:txBody>
          <a:bodyPr wrap="square" rtlCol="0">
            <a:spAutoFit/>
          </a:bodyPr>
          <a:lstStyle/>
          <a:p>
            <a:r>
              <a:rPr lang="pl-PL" sz="2000" dirty="0">
                <a:solidFill>
                  <a:schemeClr val="bg1"/>
                </a:solidFill>
                <a:latin typeface="Source Sans Pro Light" panose="020B0403030403020204" pitchFamily="34" charset="0"/>
              </a:rPr>
              <a:t>Obrona przed atakami DDoS — przegląd stanu wiedzy</a:t>
            </a:r>
          </a:p>
        </p:txBody>
      </p:sp>
      <p:pic>
        <p:nvPicPr>
          <p:cNvPr id="4" name="Obraz 3" descr="Obraz zawierający linia, design, sztuka, czarne i białe&#10;&#10;Opis wygenerowany automatycznie">
            <a:extLst>
              <a:ext uri="{FF2B5EF4-FFF2-40B4-BE49-F238E27FC236}">
                <a16:creationId xmlns:a16="http://schemas.microsoft.com/office/drawing/2014/main" id="{FB556C9B-EF3C-CE33-30D5-4FF03A12E4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2866" y="25052"/>
            <a:ext cx="739156" cy="745299"/>
          </a:xfrm>
          <a:prstGeom prst="rect">
            <a:avLst/>
          </a:prstGeom>
        </p:spPr>
      </p:pic>
      <p:sp>
        <p:nvSpPr>
          <p:cNvPr id="21" name="Tytuł 21"/>
          <p:cNvSpPr>
            <a:spLocks noGrp="1"/>
          </p:cNvSpPr>
          <p:nvPr>
            <p:ph type="title"/>
          </p:nvPr>
        </p:nvSpPr>
        <p:spPr>
          <a:xfrm>
            <a:off x="1097280" y="987552"/>
            <a:ext cx="9994392" cy="777240"/>
          </a:xfrm>
        </p:spPr>
        <p:txBody>
          <a:bodyPr vert="horz" wrap="square" lIns="91440" tIns="45720" rIns="91440" bIns="45720" anchor="t">
            <a:noAutofit/>
          </a:bodyPr>
          <a:lstStyle/>
          <a:p>
            <a:r>
              <a:rPr lang="pl-PL" sz="3600" dirty="0">
                <a:solidFill>
                  <a:schemeClr val="bg2">
                    <a:lumMod val="10000"/>
                  </a:schemeClr>
                </a:solidFill>
                <a:latin typeface="Source Sans Pro Light" panose="020B0403030403020204" pitchFamily="34" charset="0"/>
              </a:rPr>
              <a:t>Sekwencje zdarzeń i parametry behawioralne</a:t>
            </a:r>
          </a:p>
        </p:txBody>
      </p:sp>
      <p:sp>
        <p:nvSpPr>
          <p:cNvPr id="22" name="Rectangle 21"/>
          <p:cNvSpPr/>
          <p:nvPr/>
        </p:nvSpPr>
        <p:spPr>
          <a:xfrm>
            <a:off x="1097280" y="1828800"/>
            <a:ext cx="4832604" cy="38404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325880" y="2011680"/>
            <a:ext cx="4389120" cy="777240"/>
          </a:xfrm>
          <a:prstGeom prst="rect">
            <a:avLst/>
          </a:prstGeom>
          <a:noFill/>
        </p:spPr>
        <p:txBody>
          <a:bodyPr wrap="square" anchor="t">
            <a:noAutofit/>
          </a:bodyPr>
          <a:lstStyle/>
          <a:p>
            <a:pPr algn="l">
              <a:spcBef>
                <a:spcPts val="0"/>
              </a:spcBef>
            </a:pPr>
            <a:r>
              <a:rPr sz="1800" b="0">
                <a:solidFill>
                  <a:schemeClr val="bg1"/>
                </a:solidFill>
              </a:rPr>
              <a:t>SEKWENCJE RAMEK HTTP/2 — TRIPATHI</a:t>
            </a:r>
          </a:p>
        </p:txBody>
      </p:sp>
      <p:sp>
        <p:nvSpPr>
          <p:cNvPr id="24" name="TextBox 23"/>
          <p:cNvSpPr txBox="1"/>
          <p:nvPr/>
        </p:nvSpPr>
        <p:spPr>
          <a:xfrm>
            <a:off x="1325880" y="2788920"/>
            <a:ext cx="4389120" cy="2788920"/>
          </a:xfrm>
          <a:prstGeom prst="rect">
            <a:avLst/>
          </a:prstGeom>
          <a:noFill/>
        </p:spPr>
        <p:txBody>
          <a:bodyPr wrap="square" anchor="t">
            <a:noAutofit/>
          </a:bodyPr>
          <a:lstStyle/>
          <a:p>
            <a:pPr algn="l" marL="256032" indent="-256032">
              <a:spcBef>
                <a:spcPts val="0"/>
              </a:spcBef>
              <a:buClr>
                <a:schemeClr val="bg1"/>
              </a:buClr>
              <a:buFont typeface="Arial"/>
              <a:buChar char="•"/>
            </a:pPr>
            <a:r>
              <a:rPr sz="1600" b="0">
                <a:solidFill>
                  <a:schemeClr val="bg1"/>
                </a:solidFill>
              </a:rPr>
              <a:t>Model normalnego zachowania uczony wyłącznie na ruchu legalnym.</a:t>
            </a:r>
          </a:p>
          <a:p>
            <a:pPr algn="l" marL="256032" indent="-256032">
              <a:spcBef>
                <a:spcPts val="800"/>
              </a:spcBef>
              <a:buClr>
                <a:schemeClr val="bg1"/>
              </a:buClr>
              <a:buFont typeface="Arial"/>
              <a:buChar char="•"/>
            </a:pPr>
            <a:r>
              <a:rPr sz="1600" b="0">
                <a:solidFill>
                  <a:schemeClr val="bg1"/>
                </a:solidFill>
              </a:rPr>
              <a:t>Ocena po każdej ramce — decyzja przed zakończeniem żądania.</a:t>
            </a:r>
          </a:p>
          <a:p>
            <a:pPr algn="l" marL="256032" indent="-256032">
              <a:spcBef>
                <a:spcPts val="800"/>
              </a:spcBef>
              <a:buClr>
                <a:schemeClr val="bg1"/>
              </a:buClr>
              <a:buFont typeface="Arial"/>
              <a:buChar char="•"/>
            </a:pPr>
            <a:r>
              <a:rPr sz="1600" b="0">
                <a:solidFill>
                  <a:schemeClr val="bg1"/>
                </a:solidFill>
              </a:rPr>
              <a:t>Czułość 100%, odsetek fałszywych alarmów 1,71–1,83%.</a:t>
            </a:r>
          </a:p>
          <a:p>
            <a:pPr algn="l" marL="256032" indent="-256032">
              <a:spcBef>
                <a:spcPts val="800"/>
              </a:spcBef>
              <a:buClr>
                <a:schemeClr val="bg1"/>
              </a:buClr>
              <a:buFont typeface="Arial"/>
              <a:buChar char="•"/>
            </a:pPr>
            <a:r>
              <a:rPr sz="1600" b="0">
                <a:solidFill>
                  <a:schemeClr val="bg1"/>
                </a:solidFill>
              </a:rPr>
              <a:t>Wykrycie w &lt; 30 s, CPU zwykle &lt; 7%.</a:t>
            </a:r>
          </a:p>
        </p:txBody>
      </p:sp>
      <p:sp>
        <p:nvSpPr>
          <p:cNvPr id="25" name="Rectangle 24"/>
          <p:cNvSpPr/>
          <p:nvPr/>
        </p:nvSpPr>
        <p:spPr>
          <a:xfrm>
            <a:off x="6259068" y="1828800"/>
            <a:ext cx="4832604" cy="384048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487668" y="2011680"/>
            <a:ext cx="4389120" cy="777240"/>
          </a:xfrm>
          <a:prstGeom prst="rect">
            <a:avLst/>
          </a:prstGeom>
          <a:noFill/>
        </p:spPr>
        <p:txBody>
          <a:bodyPr wrap="square" anchor="t">
            <a:noAutofit/>
          </a:bodyPr>
          <a:lstStyle/>
          <a:p>
            <a:pPr algn="l">
              <a:spcBef>
                <a:spcPts val="0"/>
              </a:spcBef>
            </a:pPr>
            <a:r>
              <a:rPr sz="1800" b="0">
                <a:solidFill>
                  <a:schemeClr val="bg1"/>
                </a:solidFill>
              </a:rPr>
              <a:t>PARAMETRY BEHAWIORALNE — SLOWTRACK</a:t>
            </a:r>
          </a:p>
        </p:txBody>
      </p:sp>
      <p:sp>
        <p:nvSpPr>
          <p:cNvPr id="27" name="TextBox 26"/>
          <p:cNvSpPr txBox="1"/>
          <p:nvPr/>
        </p:nvSpPr>
        <p:spPr>
          <a:xfrm>
            <a:off x="6487668" y="2788920"/>
            <a:ext cx="4389120" cy="2788920"/>
          </a:xfrm>
          <a:prstGeom prst="rect">
            <a:avLst/>
          </a:prstGeom>
          <a:noFill/>
        </p:spPr>
        <p:txBody>
          <a:bodyPr wrap="square" anchor="t">
            <a:noAutofit/>
          </a:bodyPr>
          <a:lstStyle/>
          <a:p>
            <a:pPr algn="l" marL="256032" indent="-256032">
              <a:spcBef>
                <a:spcPts val="0"/>
              </a:spcBef>
              <a:buClr>
                <a:schemeClr val="bg1"/>
              </a:buClr>
              <a:buFont typeface="Arial"/>
              <a:buChar char="•"/>
            </a:pPr>
            <a:r>
              <a:rPr sz="1600" b="0">
                <a:solidFill>
                  <a:schemeClr val="bg1"/>
                </a:solidFill>
              </a:rPr>
              <a:t>8 parametrów serwera: niekompletne żądania, czas odpowiedzi, kody statusu, gniazda, procesy.</a:t>
            </a:r>
          </a:p>
          <a:p>
            <a:pPr algn="l" marL="256032" indent="-256032">
              <a:spcBef>
                <a:spcPts val="800"/>
              </a:spcBef>
              <a:buClr>
                <a:schemeClr val="bg1"/>
              </a:buClr>
              <a:buFont typeface="Arial"/>
              <a:buChar char="•"/>
            </a:pPr>
            <a:r>
              <a:rPr sz="1600" b="0">
                <a:solidFill>
                  <a:schemeClr val="bg1"/>
                </a:solidFill>
              </a:rPr>
              <a:t>Głosowanie większościowe lub drzewo decyzyjne.</a:t>
            </a:r>
          </a:p>
          <a:p>
            <a:pPr algn="l" marL="256032" indent="-256032">
              <a:spcBef>
                <a:spcPts val="800"/>
              </a:spcBef>
              <a:buClr>
                <a:schemeClr val="bg1"/>
              </a:buClr>
              <a:buFont typeface="Arial"/>
              <a:buChar char="•"/>
            </a:pPr>
            <a:r>
              <a:rPr sz="1600" b="0">
                <a:solidFill>
                  <a:schemeClr val="bg1"/>
                </a:solidFill>
              </a:rPr>
              <a:t>Czułość 99,92%, precyzja 99,66% na serwerze uczelnianym.</a:t>
            </a:r>
          </a:p>
          <a:p>
            <a:pPr algn="l" marL="256032" indent="-256032">
              <a:spcBef>
                <a:spcPts val="800"/>
              </a:spcBef>
              <a:buClr>
                <a:schemeClr val="bg1"/>
              </a:buClr>
              <a:buFont typeface="Arial"/>
              <a:buChar char="•"/>
            </a:pPr>
            <a:r>
              <a:rPr sz="1600" b="0">
                <a:solidFill>
                  <a:schemeClr val="bg1"/>
                </a:solidFill>
              </a:rPr>
              <a:t>Okna 15 s; wynik dotyczy serwera, nie adresu.</a:t>
            </a:r>
          </a:p>
        </p:txBody>
      </p:sp>
      <p:sp>
        <p:nvSpPr>
          <p:cNvPr id="28" name="TextBox 27"/>
          <p:cNvSpPr txBox="1"/>
          <p:nvPr/>
        </p:nvSpPr>
        <p:spPr>
          <a:xfrm>
            <a:off x="1097280" y="5760720"/>
            <a:ext cx="9994392" cy="457200"/>
          </a:xfrm>
          <a:prstGeom prst="rect">
            <a:avLst/>
          </a:prstGeom>
          <a:noFill/>
        </p:spPr>
        <p:txBody>
          <a:bodyPr wrap="square" anchor="t">
            <a:noAutofit/>
          </a:bodyPr>
          <a:lstStyle/>
          <a:p>
            <a:pPr algn="l">
              <a:spcBef>
                <a:spcPts val="0"/>
              </a:spcBef>
            </a:pPr>
            <a:r>
              <a:rPr sz="1600" b="1">
                <a:solidFill>
                  <a:schemeClr val="bg2">
                    <a:lumMod val="10000"/>
                  </a:schemeClr>
                </a:solidFill>
              </a:rPr>
              <a:t>Wspólne: </a:t>
            </a:r>
            <a:r>
              <a:rPr sz="1600" b="0">
                <a:solidFill>
                  <a:schemeClr val="bg2">
                    <a:lumMod val="10000"/>
                  </a:schemeClr>
                </a:solidFill>
              </a:rPr>
              <a:t>oba podejścia sprawdzono na działającym serwerze, nie tylko w laboratorium.</a:t>
            </a:r>
          </a:p>
        </p:txBody>
      </p:sp>
      <p:sp>
        <p:nvSpPr>
          <p:cNvPr id="29" name="Źródła"/>
          <p:cNvSpPr txBox="1"/>
          <p:nvPr/>
        </p:nvSpPr>
        <p:spPr>
          <a:xfrm>
            <a:off x="1097280" y="6272784"/>
            <a:ext cx="9994392" cy="329184"/>
          </a:xfrm>
          <a:prstGeom prst="rect">
            <a:avLst/>
          </a:prstGeom>
          <a:noFill/>
        </p:spPr>
        <p:txBody>
          <a:bodyPr wrap="square" anchor="t">
            <a:noAutofit/>
          </a:bodyPr>
          <a:lstStyle/>
          <a:p>
            <a:pPr algn="l">
              <a:spcBef>
                <a:spcPts val="0"/>
              </a:spcBef>
            </a:pPr>
            <a:r>
              <a:rPr sz="1100" b="0">
                <a:solidFill>
                  <a:schemeClr val="bg2">
                    <a:lumMod val="50000"/>
                  </a:schemeClr>
                </a:solidFill>
              </a:rPr>
              <a:t>Źródła (numeracja jak w pracy): [9], [10]</a:t>
            </a:r>
          </a:p>
        </p:txBody>
      </p:sp>
    </p:spTree>
    <p:extLst>
      <p:ext uri="{BB962C8B-B14F-4D97-AF65-F5344CB8AC3E}">
        <p14:creationId xmlns:p14="http://schemas.microsoft.com/office/powerpoint/2010/main" val="29785648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rostokąt 4">
            <a:extLst>
              <a:ext uri="{FF2B5EF4-FFF2-40B4-BE49-F238E27FC236}">
                <a16:creationId xmlns:a16="http://schemas.microsoft.com/office/drawing/2014/main" id="{7CA99EC4-3C2E-53F3-55A5-01E21A2FCB45}"/>
              </a:ext>
            </a:extLst>
          </p:cNvPr>
          <p:cNvSpPr>
            <a:spLocks noGrp="1" noRot="1" noMove="1" noResize="1" noEditPoints="1" noAdjustHandles="1" noChangeArrowheads="1" noChangeShapeType="1"/>
          </p:cNvSpPr>
          <p:nvPr/>
        </p:nvSpPr>
        <p:spPr>
          <a:xfrm>
            <a:off x="0" y="0"/>
            <a:ext cx="12192000" cy="804672"/>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0" name="pole tekstowe 19">
            <a:extLst>
              <a:ext uri="{FF2B5EF4-FFF2-40B4-BE49-F238E27FC236}">
                <a16:creationId xmlns:a16="http://schemas.microsoft.com/office/drawing/2014/main" id="{DA7C4B59-9B8D-C16D-1201-5FC12125EDF7}"/>
              </a:ext>
            </a:extLst>
          </p:cNvPr>
          <p:cNvSpPr txBox="1">
            <a:spLocks noGrp="1" noRot="1" noMove="1" noResize="1" noEditPoints="1" noAdjustHandles="1" noChangeArrowheads="1" noChangeShapeType="1"/>
          </p:cNvSpPr>
          <p:nvPr/>
        </p:nvSpPr>
        <p:spPr>
          <a:xfrm>
            <a:off x="2629588" y="160326"/>
            <a:ext cx="8229600" cy="400110"/>
          </a:xfrm>
          <a:prstGeom prst="rect">
            <a:avLst/>
          </a:prstGeom>
          <a:noFill/>
        </p:spPr>
        <p:txBody>
          <a:bodyPr wrap="square" rtlCol="0">
            <a:spAutoFit/>
          </a:bodyPr>
          <a:lstStyle/>
          <a:p>
            <a:r>
              <a:rPr lang="pl-PL" sz="2000" dirty="0">
                <a:solidFill>
                  <a:schemeClr val="bg1"/>
                </a:solidFill>
                <a:latin typeface="Source Sans Pro Light" panose="020B0403030403020204" pitchFamily="34" charset="0"/>
              </a:rPr>
              <a:t>Obrona przed atakami DDoS — przegląd stanu wiedzy</a:t>
            </a:r>
          </a:p>
        </p:txBody>
      </p:sp>
      <p:pic>
        <p:nvPicPr>
          <p:cNvPr id="4" name="Obraz 3" descr="Obraz zawierający linia, design, sztuka, czarne i białe&#10;&#10;Opis wygenerowany automatycznie">
            <a:extLst>
              <a:ext uri="{FF2B5EF4-FFF2-40B4-BE49-F238E27FC236}">
                <a16:creationId xmlns:a16="http://schemas.microsoft.com/office/drawing/2014/main" id="{FB556C9B-EF3C-CE33-30D5-4FF03A12E4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2866" y="25052"/>
            <a:ext cx="739156" cy="745299"/>
          </a:xfrm>
          <a:prstGeom prst="rect">
            <a:avLst/>
          </a:prstGeom>
        </p:spPr>
      </p:pic>
      <p:sp>
        <p:nvSpPr>
          <p:cNvPr id="21" name="Tytuł 21"/>
          <p:cNvSpPr>
            <a:spLocks noGrp="1"/>
          </p:cNvSpPr>
          <p:nvPr>
            <p:ph type="title"/>
          </p:nvPr>
        </p:nvSpPr>
        <p:spPr>
          <a:xfrm>
            <a:off x="1097280" y="987552"/>
            <a:ext cx="9994392" cy="777240"/>
          </a:xfrm>
        </p:spPr>
        <p:txBody>
          <a:bodyPr vert="horz" wrap="square" lIns="91440" tIns="45720" rIns="91440" bIns="45720" anchor="t">
            <a:noAutofit/>
          </a:bodyPr>
          <a:lstStyle/>
          <a:p>
            <a:r>
              <a:rPr lang="pl-PL" sz="3600" dirty="0">
                <a:solidFill>
                  <a:schemeClr val="bg2">
                    <a:lumMod val="10000"/>
                  </a:schemeClr>
                </a:solidFill>
                <a:latin typeface="Source Sans Pro Light" panose="020B0403030403020204" pitchFamily="34" charset="0"/>
              </a:rPr>
              <a:t>Architektury hybrydowe</a:t>
            </a:r>
          </a:p>
        </p:txBody>
      </p:sp>
      <p:sp>
        <p:nvSpPr>
          <p:cNvPr id="22" name="Rectangle 21"/>
          <p:cNvSpPr/>
          <p:nvPr/>
        </p:nvSpPr>
        <p:spPr>
          <a:xfrm>
            <a:off x="1097280" y="1874519"/>
            <a:ext cx="3657600" cy="1828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280160" y="2011680"/>
            <a:ext cx="3291840" cy="411480"/>
          </a:xfrm>
          <a:prstGeom prst="rect">
            <a:avLst/>
          </a:prstGeom>
          <a:noFill/>
        </p:spPr>
        <p:txBody>
          <a:bodyPr wrap="square" anchor="t">
            <a:noAutofit/>
          </a:bodyPr>
          <a:lstStyle/>
          <a:p>
            <a:pPr algn="l">
              <a:spcBef>
                <a:spcPts val="0"/>
              </a:spcBef>
            </a:pPr>
            <a:r>
              <a:rPr sz="1800" b="0">
                <a:solidFill>
                  <a:schemeClr val="bg1"/>
                </a:solidFill>
              </a:rPr>
              <a:t>PŁASZCZYZNA DANYCH</a:t>
            </a:r>
          </a:p>
        </p:txBody>
      </p:sp>
      <p:sp>
        <p:nvSpPr>
          <p:cNvPr id="24" name="TextBox 23"/>
          <p:cNvSpPr txBox="1"/>
          <p:nvPr/>
        </p:nvSpPr>
        <p:spPr>
          <a:xfrm>
            <a:off x="1280160" y="2468880"/>
            <a:ext cx="3291840" cy="1097280"/>
          </a:xfrm>
          <a:prstGeom prst="rect">
            <a:avLst/>
          </a:prstGeom>
          <a:noFill/>
        </p:spPr>
        <p:txBody>
          <a:bodyPr wrap="square" anchor="t">
            <a:noAutofit/>
          </a:bodyPr>
          <a:lstStyle/>
          <a:p>
            <a:pPr algn="l">
              <a:spcBef>
                <a:spcPts val="0"/>
              </a:spcBef>
            </a:pPr>
            <a:r>
              <a:rPr sz="1600" b="0">
                <a:solidFill>
                  <a:schemeClr val="bg1"/>
                </a:solidFill>
              </a:rPr>
              <a:t>XDP lub przełącznik P4: szybka decyzja i egzekwowanie blokad</a:t>
            </a:r>
          </a:p>
        </p:txBody>
      </p:sp>
      <p:sp>
        <p:nvSpPr>
          <p:cNvPr id="25" name="Rectangle 24"/>
          <p:cNvSpPr/>
          <p:nvPr/>
        </p:nvSpPr>
        <p:spPr>
          <a:xfrm>
            <a:off x="7434072" y="1874519"/>
            <a:ext cx="3657600" cy="182880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616952" y="2011680"/>
            <a:ext cx="3291840" cy="411480"/>
          </a:xfrm>
          <a:prstGeom prst="rect">
            <a:avLst/>
          </a:prstGeom>
          <a:noFill/>
        </p:spPr>
        <p:txBody>
          <a:bodyPr wrap="square" anchor="t">
            <a:noAutofit/>
          </a:bodyPr>
          <a:lstStyle/>
          <a:p>
            <a:pPr algn="l">
              <a:spcBef>
                <a:spcPts val="0"/>
              </a:spcBef>
            </a:pPr>
            <a:r>
              <a:rPr sz="1800" b="0">
                <a:solidFill>
                  <a:schemeClr val="bg1"/>
                </a:solidFill>
              </a:rPr>
              <a:t>PŁASZCZYZNA STEROWANIA</a:t>
            </a:r>
          </a:p>
        </p:txBody>
      </p:sp>
      <p:sp>
        <p:nvSpPr>
          <p:cNvPr id="27" name="TextBox 26"/>
          <p:cNvSpPr txBox="1"/>
          <p:nvPr/>
        </p:nvSpPr>
        <p:spPr>
          <a:xfrm>
            <a:off x="7616952" y="2468880"/>
            <a:ext cx="3291840" cy="1097280"/>
          </a:xfrm>
          <a:prstGeom prst="rect">
            <a:avLst/>
          </a:prstGeom>
          <a:noFill/>
        </p:spPr>
        <p:txBody>
          <a:bodyPr wrap="square" anchor="t">
            <a:noAutofit/>
          </a:bodyPr>
          <a:lstStyle/>
          <a:p>
            <a:pPr algn="l">
              <a:spcBef>
                <a:spcPts val="0"/>
              </a:spcBef>
            </a:pPr>
            <a:r>
              <a:rPr sz="1600" b="0">
                <a:solidFill>
                  <a:schemeClr val="bg1"/>
                </a:solidFill>
              </a:rPr>
              <a:t>model ML w przestrzeni użytkownika lub w kontrolerze SDN</a:t>
            </a:r>
          </a:p>
        </p:txBody>
      </p:sp>
      <p:sp>
        <p:nvSpPr>
          <p:cNvPr id="28" name="Right Arrow 27"/>
          <p:cNvSpPr/>
          <p:nvPr/>
        </p:nvSpPr>
        <p:spPr>
          <a:xfrm>
            <a:off x="4983480" y="2395727"/>
            <a:ext cx="2221992" cy="292608"/>
          </a:xfrm>
          <a:prstGeom prst="rightArrow">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46320" y="1993391"/>
            <a:ext cx="2496312" cy="411480"/>
          </a:xfrm>
          <a:prstGeom prst="rect">
            <a:avLst/>
          </a:prstGeom>
          <a:noFill/>
        </p:spPr>
        <p:txBody>
          <a:bodyPr wrap="square" anchor="t">
            <a:noAutofit/>
          </a:bodyPr>
          <a:lstStyle/>
          <a:p>
            <a:pPr algn="ctr">
              <a:spcBef>
                <a:spcPts val="0"/>
              </a:spcBef>
            </a:pPr>
            <a:r>
              <a:rPr sz="1200" b="0">
                <a:solidFill>
                  <a:schemeClr val="bg2">
                    <a:lumMod val="10000"/>
                  </a:schemeClr>
                </a:solidFill>
              </a:rPr>
              <a:t>cechy, niepewne przepływy</a:t>
            </a:r>
          </a:p>
        </p:txBody>
      </p:sp>
      <p:sp>
        <p:nvSpPr>
          <p:cNvPr id="30" name="Left Arrow 29"/>
          <p:cNvSpPr/>
          <p:nvPr/>
        </p:nvSpPr>
        <p:spPr>
          <a:xfrm>
            <a:off x="4983480" y="3264408"/>
            <a:ext cx="2221992" cy="292608"/>
          </a:xfrm>
          <a:prstGeom prst="leftArrow">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46320" y="2862072"/>
            <a:ext cx="2496312" cy="411480"/>
          </a:xfrm>
          <a:prstGeom prst="rect">
            <a:avLst/>
          </a:prstGeom>
          <a:noFill/>
        </p:spPr>
        <p:txBody>
          <a:bodyPr wrap="square" anchor="t">
            <a:noAutofit/>
          </a:bodyPr>
          <a:lstStyle/>
          <a:p>
            <a:pPr algn="ctr">
              <a:spcBef>
                <a:spcPts val="0"/>
              </a:spcBef>
            </a:pPr>
            <a:r>
              <a:rPr sz="1200" b="0">
                <a:solidFill>
                  <a:schemeClr val="bg2">
                    <a:lumMod val="10000"/>
                  </a:schemeClr>
                </a:solidFill>
              </a:rPr>
              <a:t>reguły blokujące</a:t>
            </a:r>
          </a:p>
        </p:txBody>
      </p:sp>
      <p:sp>
        <p:nvSpPr>
          <p:cNvPr id="32" name="TextBox 31"/>
          <p:cNvSpPr txBox="1"/>
          <p:nvPr/>
        </p:nvSpPr>
        <p:spPr>
          <a:xfrm>
            <a:off x="1097280" y="4069080"/>
            <a:ext cx="9994392" cy="2103120"/>
          </a:xfrm>
          <a:prstGeom prst="rect">
            <a:avLst/>
          </a:prstGeom>
          <a:noFill/>
        </p:spPr>
        <p:txBody>
          <a:bodyPr wrap="square" anchor="t">
            <a:noAutofit/>
          </a:bodyPr>
          <a:lstStyle/>
          <a:p>
            <a:pPr algn="l" marL="256032" indent="-256032">
              <a:spcBef>
                <a:spcPts val="0"/>
              </a:spcBef>
              <a:buClr>
                <a:schemeClr val="tx2"/>
              </a:buClr>
              <a:buFont typeface="Arial"/>
              <a:buChar char="•"/>
            </a:pPr>
            <a:r>
              <a:rPr sz="1600" b="1">
                <a:solidFill>
                  <a:schemeClr val="bg2">
                    <a:lumMod val="10000"/>
                  </a:schemeClr>
                </a:solidFill>
              </a:rPr>
              <a:t>Karrakchou i in.: </a:t>
            </a:r>
            <a:r>
              <a:rPr sz="1600" b="0">
                <a:solidFill>
                  <a:schemeClr val="bg2">
                    <a:lumMod val="10000"/>
                  </a:schemeClr>
                </a:solidFill>
              </a:rPr>
              <a:t>CNN INT8 z wczesnym wyjściem na przełączniku P4, GRU w kontrolerze SDN; F1 99,91% / 99,90% — w symulacji NS-3 przy łączach 1,5 Mb/s.</a:t>
            </a:r>
          </a:p>
          <a:p>
            <a:pPr algn="l" marL="256032" indent="-256032">
              <a:spcBef>
                <a:spcPts val="1000"/>
              </a:spcBef>
              <a:buClr>
                <a:schemeClr val="tx2"/>
              </a:buClr>
              <a:buFont typeface="Arial"/>
              <a:buChar char="•"/>
            </a:pPr>
            <a:r>
              <a:rPr sz="1600" b="1">
                <a:solidFill>
                  <a:schemeClr val="bg2">
                    <a:lumMod val="10000"/>
                  </a:schemeClr>
                </a:solidFill>
              </a:rPr>
              <a:t>Kostopoulos i in.: </a:t>
            </a:r>
            <a:r>
              <a:rPr sz="1600" b="0">
                <a:solidFill>
                  <a:schemeClr val="bg2">
                    <a:lumMod val="10000"/>
                  </a:schemeClr>
                </a:solidFill>
              </a:rPr>
              <a:t>wnioskowanie wewnątrz jądra tylko w 2 z 11 prac z ML — ograniczenia weryfikatora eBPF.</a:t>
            </a:r>
          </a:p>
          <a:p>
            <a:pPr algn="l" marL="256032" indent="-256032">
              <a:spcBef>
                <a:spcPts val="1000"/>
              </a:spcBef>
              <a:buClr>
                <a:schemeClr val="tx2"/>
              </a:buClr>
              <a:buFont typeface="Arial"/>
              <a:buChar char="•"/>
            </a:pPr>
            <a:r>
              <a:rPr sz="1600" b="1">
                <a:solidFill>
                  <a:schemeClr val="bg2">
                    <a:lumMod val="10000"/>
                  </a:schemeClr>
                </a:solidFill>
              </a:rPr>
              <a:t>Wniosek: </a:t>
            </a:r>
            <a:r>
              <a:rPr sz="1600" b="0">
                <a:solidFill>
                  <a:schemeClr val="bg2">
                    <a:lumMod val="10000"/>
                  </a:schemeClr>
                </a:solidFill>
              </a:rPr>
              <a:t>model w przestrzeni użytkownika, egzekwowanie w XDP — architektura przyjęta w pracy.</a:t>
            </a:r>
          </a:p>
        </p:txBody>
      </p:sp>
      <p:sp>
        <p:nvSpPr>
          <p:cNvPr id="33" name="Źródła"/>
          <p:cNvSpPr txBox="1"/>
          <p:nvPr/>
        </p:nvSpPr>
        <p:spPr>
          <a:xfrm>
            <a:off x="1097280" y="6272784"/>
            <a:ext cx="9994392" cy="329184"/>
          </a:xfrm>
          <a:prstGeom prst="rect">
            <a:avLst/>
          </a:prstGeom>
          <a:noFill/>
        </p:spPr>
        <p:txBody>
          <a:bodyPr wrap="square" anchor="t">
            <a:noAutofit/>
          </a:bodyPr>
          <a:lstStyle/>
          <a:p>
            <a:pPr algn="l">
              <a:spcBef>
                <a:spcPts val="0"/>
              </a:spcBef>
            </a:pPr>
            <a:r>
              <a:rPr sz="1100" b="0">
                <a:solidFill>
                  <a:schemeClr val="bg2">
                    <a:lumMod val="50000"/>
                  </a:schemeClr>
                </a:solidFill>
              </a:rPr>
              <a:t>Źródła (numeracja jak w pracy): [40], [43]</a:t>
            </a:r>
          </a:p>
        </p:txBody>
      </p:sp>
    </p:spTree>
    <p:extLst>
      <p:ext uri="{BB962C8B-B14F-4D97-AF65-F5344CB8AC3E}">
        <p14:creationId xmlns:p14="http://schemas.microsoft.com/office/powerpoint/2010/main" val="29785648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rostokąt 4">
            <a:extLst>
              <a:ext uri="{FF2B5EF4-FFF2-40B4-BE49-F238E27FC236}">
                <a16:creationId xmlns:a16="http://schemas.microsoft.com/office/drawing/2014/main" id="{7CA99EC4-3C2E-53F3-55A5-01E21A2FCB45}"/>
              </a:ext>
            </a:extLst>
          </p:cNvPr>
          <p:cNvSpPr>
            <a:spLocks noGrp="1" noRot="1" noMove="1" noResize="1" noEditPoints="1" noAdjustHandles="1" noChangeArrowheads="1" noChangeShapeType="1"/>
          </p:cNvSpPr>
          <p:nvPr/>
        </p:nvSpPr>
        <p:spPr>
          <a:xfrm>
            <a:off x="0" y="0"/>
            <a:ext cx="12192000" cy="804672"/>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0" name="pole tekstowe 19">
            <a:extLst>
              <a:ext uri="{FF2B5EF4-FFF2-40B4-BE49-F238E27FC236}">
                <a16:creationId xmlns:a16="http://schemas.microsoft.com/office/drawing/2014/main" id="{DA7C4B59-9B8D-C16D-1201-5FC12125EDF7}"/>
              </a:ext>
            </a:extLst>
          </p:cNvPr>
          <p:cNvSpPr txBox="1">
            <a:spLocks noGrp="1" noRot="1" noMove="1" noResize="1" noEditPoints="1" noAdjustHandles="1" noChangeArrowheads="1" noChangeShapeType="1"/>
          </p:cNvSpPr>
          <p:nvPr/>
        </p:nvSpPr>
        <p:spPr>
          <a:xfrm>
            <a:off x="2629588" y="160326"/>
            <a:ext cx="8229600" cy="400110"/>
          </a:xfrm>
          <a:prstGeom prst="rect">
            <a:avLst/>
          </a:prstGeom>
          <a:noFill/>
        </p:spPr>
        <p:txBody>
          <a:bodyPr wrap="square" rtlCol="0">
            <a:spAutoFit/>
          </a:bodyPr>
          <a:lstStyle/>
          <a:p>
            <a:r>
              <a:rPr lang="pl-PL" sz="2000" dirty="0">
                <a:solidFill>
                  <a:schemeClr val="bg1"/>
                </a:solidFill>
                <a:latin typeface="Source Sans Pro Light" panose="020B0403030403020204" pitchFamily="34" charset="0"/>
              </a:rPr>
              <a:t>Obrona przed atakami DDoS — przegląd stanu wiedzy</a:t>
            </a:r>
          </a:p>
        </p:txBody>
      </p:sp>
      <p:pic>
        <p:nvPicPr>
          <p:cNvPr id="4" name="Obraz 3" descr="Obraz zawierający linia, design, sztuka, czarne i białe&#10;&#10;Opis wygenerowany automatycznie">
            <a:extLst>
              <a:ext uri="{FF2B5EF4-FFF2-40B4-BE49-F238E27FC236}">
                <a16:creationId xmlns:a16="http://schemas.microsoft.com/office/drawing/2014/main" id="{FB556C9B-EF3C-CE33-30D5-4FF03A12E4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2866" y="25052"/>
            <a:ext cx="739156" cy="745299"/>
          </a:xfrm>
          <a:prstGeom prst="rect">
            <a:avLst/>
          </a:prstGeom>
        </p:spPr>
      </p:pic>
      <p:sp>
        <p:nvSpPr>
          <p:cNvPr id="21" name="Tytuł 21"/>
          <p:cNvSpPr>
            <a:spLocks noGrp="1"/>
          </p:cNvSpPr>
          <p:nvPr>
            <p:ph type="title"/>
          </p:nvPr>
        </p:nvSpPr>
        <p:spPr>
          <a:xfrm>
            <a:off x="1097280" y="987552"/>
            <a:ext cx="9994392" cy="777240"/>
          </a:xfrm>
        </p:spPr>
        <p:txBody>
          <a:bodyPr vert="horz" wrap="square" lIns="91440" tIns="45720" rIns="91440" bIns="45720" anchor="t">
            <a:noAutofit/>
          </a:bodyPr>
          <a:lstStyle/>
          <a:p>
            <a:r>
              <a:rPr lang="pl-PL" sz="3600" dirty="0">
                <a:solidFill>
                  <a:schemeClr val="bg2">
                    <a:lumMod val="10000"/>
                  </a:schemeClr>
                </a:solidFill>
                <a:latin typeface="Source Sans Pro Light" panose="020B0403030403020204" pitchFamily="34" charset="0"/>
              </a:rPr>
              <a:t>Otwarte kompromisy dla modelu GRU</a:t>
            </a:r>
          </a:p>
        </p:txBody>
      </p:sp>
      <p:sp>
        <p:nvSpPr>
          <p:cNvPr id="22" name="TextBox 21"/>
          <p:cNvSpPr txBox="1"/>
          <p:nvPr/>
        </p:nvSpPr>
        <p:spPr>
          <a:xfrm>
            <a:off x="1097280" y="1783080"/>
            <a:ext cx="9994392" cy="411480"/>
          </a:xfrm>
          <a:prstGeom prst="rect">
            <a:avLst/>
          </a:prstGeom>
          <a:noFill/>
        </p:spPr>
        <p:txBody>
          <a:bodyPr wrap="square" anchor="t">
            <a:noAutofit/>
          </a:bodyPr>
          <a:lstStyle/>
          <a:p>
            <a:pPr algn="l">
              <a:spcBef>
                <a:spcPts val="0"/>
              </a:spcBef>
            </a:pPr>
            <a:r>
              <a:rPr sz="1600" b="1">
                <a:solidFill>
                  <a:schemeClr val="bg2">
                    <a:lumMod val="10000"/>
                  </a:schemeClr>
                </a:solidFill>
              </a:rPr>
              <a:t>W pracy GRU jest komponentem eksperymentalnym, </a:t>
            </a:r>
            <a:r>
              <a:rPr sz="1600" b="0">
                <a:solidFill>
                  <a:schemeClr val="bg2">
                    <a:lumMod val="10000"/>
                  </a:schemeClr>
                </a:solidFill>
              </a:rPr>
              <a:t>ocenianym względem reguł deterministycznych.</a:t>
            </a:r>
          </a:p>
        </p:txBody>
      </p:sp>
      <p:sp>
        <p:nvSpPr>
          <p:cNvPr id="23" name="Rectangle 22"/>
          <p:cNvSpPr/>
          <p:nvPr/>
        </p:nvSpPr>
        <p:spPr>
          <a:xfrm>
            <a:off x="1097280" y="2286000"/>
            <a:ext cx="4832604" cy="1755648"/>
          </a:xfrm>
          <a:prstGeom prst="rect">
            <a:avLst/>
          </a:prstGeom>
          <a:solidFill>
            <a:schemeClr val="bg2">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234439" y="2395728"/>
            <a:ext cx="594360" cy="731520"/>
          </a:xfrm>
          <a:prstGeom prst="rect">
            <a:avLst/>
          </a:prstGeom>
          <a:noFill/>
        </p:spPr>
        <p:txBody>
          <a:bodyPr wrap="square" anchor="t">
            <a:noAutofit/>
          </a:bodyPr>
          <a:lstStyle/>
          <a:p>
            <a:pPr algn="l">
              <a:spcBef>
                <a:spcPts val="0"/>
              </a:spcBef>
            </a:pPr>
            <a:r>
              <a:rPr sz="4000" b="0">
                <a:solidFill>
                  <a:schemeClr val="tx2"/>
                </a:solidFill>
                <a:latin typeface="Source Sans Pro Light"/>
              </a:rPr>
              <a:t>1</a:t>
            </a:r>
          </a:p>
        </p:txBody>
      </p:sp>
      <p:sp>
        <p:nvSpPr>
          <p:cNvPr id="25" name="TextBox 24"/>
          <p:cNvSpPr txBox="1"/>
          <p:nvPr/>
        </p:nvSpPr>
        <p:spPr>
          <a:xfrm>
            <a:off x="1828800" y="2468880"/>
            <a:ext cx="3977639" cy="411480"/>
          </a:xfrm>
          <a:prstGeom prst="rect">
            <a:avLst/>
          </a:prstGeom>
          <a:noFill/>
        </p:spPr>
        <p:txBody>
          <a:bodyPr wrap="square" anchor="t">
            <a:noAutofit/>
          </a:bodyPr>
          <a:lstStyle/>
          <a:p>
            <a:pPr algn="l">
              <a:spcBef>
                <a:spcPts val="0"/>
              </a:spcBef>
            </a:pPr>
            <a:r>
              <a:rPr sz="1800" b="0">
                <a:solidFill>
                  <a:schemeClr val="bg2">
                    <a:lumMod val="10000"/>
                  </a:schemeClr>
                </a:solidFill>
              </a:rPr>
              <a:t>JEDNOSTKA SEKWENCJI</a:t>
            </a:r>
          </a:p>
        </p:txBody>
      </p:sp>
      <p:sp>
        <p:nvSpPr>
          <p:cNvPr id="26" name="TextBox 25"/>
          <p:cNvSpPr txBox="1"/>
          <p:nvPr/>
        </p:nvSpPr>
        <p:spPr>
          <a:xfrm>
            <a:off x="1828800" y="2889504"/>
            <a:ext cx="3977639" cy="1097280"/>
          </a:xfrm>
          <a:prstGeom prst="rect">
            <a:avLst/>
          </a:prstGeom>
          <a:noFill/>
        </p:spPr>
        <p:txBody>
          <a:bodyPr wrap="square" anchor="t">
            <a:noAutofit/>
          </a:bodyPr>
          <a:lstStyle/>
          <a:p>
            <a:pPr algn="l">
              <a:spcBef>
                <a:spcPts val="0"/>
              </a:spcBef>
            </a:pPr>
            <a:r>
              <a:rPr sz="1600" b="0">
                <a:solidFill>
                  <a:schemeClr val="bg2">
                    <a:lumMod val="10000"/>
                  </a:schemeClr>
                </a:solidFill>
              </a:rPr>
              <a:t>Zakończone żądania z logów serwera czy zdarzenia w trakcie połączenia?</a:t>
            </a:r>
          </a:p>
        </p:txBody>
      </p:sp>
      <p:sp>
        <p:nvSpPr>
          <p:cNvPr id="27" name="Rectangle 26"/>
          <p:cNvSpPr/>
          <p:nvPr/>
        </p:nvSpPr>
        <p:spPr>
          <a:xfrm>
            <a:off x="6259068" y="2286000"/>
            <a:ext cx="4832604" cy="1755648"/>
          </a:xfrm>
          <a:prstGeom prst="rect">
            <a:avLst/>
          </a:prstGeom>
          <a:solidFill>
            <a:schemeClr val="bg2">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396228" y="2395728"/>
            <a:ext cx="594360" cy="731520"/>
          </a:xfrm>
          <a:prstGeom prst="rect">
            <a:avLst/>
          </a:prstGeom>
          <a:noFill/>
        </p:spPr>
        <p:txBody>
          <a:bodyPr wrap="square" anchor="t">
            <a:noAutofit/>
          </a:bodyPr>
          <a:lstStyle/>
          <a:p>
            <a:pPr algn="l">
              <a:spcBef>
                <a:spcPts val="0"/>
              </a:spcBef>
            </a:pPr>
            <a:r>
              <a:rPr sz="4000" b="0">
                <a:solidFill>
                  <a:schemeClr val="tx2"/>
                </a:solidFill>
                <a:latin typeface="Source Sans Pro Light"/>
              </a:rPr>
              <a:t>2</a:t>
            </a:r>
          </a:p>
        </p:txBody>
      </p:sp>
      <p:sp>
        <p:nvSpPr>
          <p:cNvPr id="29" name="TextBox 28"/>
          <p:cNvSpPr txBox="1"/>
          <p:nvPr/>
        </p:nvSpPr>
        <p:spPr>
          <a:xfrm>
            <a:off x="6990588" y="2468880"/>
            <a:ext cx="3977639" cy="411480"/>
          </a:xfrm>
          <a:prstGeom prst="rect">
            <a:avLst/>
          </a:prstGeom>
          <a:noFill/>
        </p:spPr>
        <p:txBody>
          <a:bodyPr wrap="square" anchor="t">
            <a:noAutofit/>
          </a:bodyPr>
          <a:lstStyle/>
          <a:p>
            <a:pPr algn="l">
              <a:spcBef>
                <a:spcPts val="0"/>
              </a:spcBef>
            </a:pPr>
            <a:r>
              <a:rPr sz="1800" b="0">
                <a:solidFill>
                  <a:schemeClr val="bg2">
                    <a:lumMod val="10000"/>
                  </a:schemeClr>
                </a:solidFill>
              </a:rPr>
              <a:t>SPOSÓB UCZENIA</a:t>
            </a:r>
          </a:p>
        </p:txBody>
      </p:sp>
      <p:sp>
        <p:nvSpPr>
          <p:cNvPr id="30" name="TextBox 29"/>
          <p:cNvSpPr txBox="1"/>
          <p:nvPr/>
        </p:nvSpPr>
        <p:spPr>
          <a:xfrm>
            <a:off x="6990588" y="2889504"/>
            <a:ext cx="3977639" cy="1097280"/>
          </a:xfrm>
          <a:prstGeom prst="rect">
            <a:avLst/>
          </a:prstGeom>
          <a:noFill/>
        </p:spPr>
        <p:txBody>
          <a:bodyPr wrap="square" anchor="t">
            <a:noAutofit/>
          </a:bodyPr>
          <a:lstStyle/>
          <a:p>
            <a:pPr algn="l">
              <a:spcBef>
                <a:spcPts val="0"/>
              </a:spcBef>
            </a:pPr>
            <a:r>
              <a:rPr sz="1600" b="0">
                <a:solidFill>
                  <a:schemeClr val="bg2">
                    <a:lumMod val="10000"/>
                  </a:schemeClr>
                </a:solidFill>
              </a:rPr>
              <a:t>Znane rodziny ataków czy model wyłącznie ruchu legalnego?</a:t>
            </a:r>
          </a:p>
        </p:txBody>
      </p:sp>
      <p:sp>
        <p:nvSpPr>
          <p:cNvPr id="31" name="Rectangle 30"/>
          <p:cNvSpPr/>
          <p:nvPr/>
        </p:nvSpPr>
        <p:spPr>
          <a:xfrm>
            <a:off x="1097280" y="4224528"/>
            <a:ext cx="4832604" cy="1755648"/>
          </a:xfrm>
          <a:prstGeom prst="rect">
            <a:avLst/>
          </a:prstGeom>
          <a:solidFill>
            <a:schemeClr val="bg2">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234439" y="4334256"/>
            <a:ext cx="594360" cy="731520"/>
          </a:xfrm>
          <a:prstGeom prst="rect">
            <a:avLst/>
          </a:prstGeom>
          <a:noFill/>
        </p:spPr>
        <p:txBody>
          <a:bodyPr wrap="square" anchor="t">
            <a:noAutofit/>
          </a:bodyPr>
          <a:lstStyle/>
          <a:p>
            <a:pPr algn="l">
              <a:spcBef>
                <a:spcPts val="0"/>
              </a:spcBef>
            </a:pPr>
            <a:r>
              <a:rPr sz="4000" b="0">
                <a:solidFill>
                  <a:schemeClr val="tx2"/>
                </a:solidFill>
                <a:latin typeface="Source Sans Pro Light"/>
              </a:rPr>
              <a:t>3</a:t>
            </a:r>
          </a:p>
        </p:txBody>
      </p:sp>
      <p:sp>
        <p:nvSpPr>
          <p:cNvPr id="33" name="TextBox 32"/>
          <p:cNvSpPr txBox="1"/>
          <p:nvPr/>
        </p:nvSpPr>
        <p:spPr>
          <a:xfrm>
            <a:off x="1828800" y="4407408"/>
            <a:ext cx="3977639" cy="411480"/>
          </a:xfrm>
          <a:prstGeom prst="rect">
            <a:avLst/>
          </a:prstGeom>
          <a:noFill/>
        </p:spPr>
        <p:txBody>
          <a:bodyPr wrap="square" anchor="t">
            <a:noAutofit/>
          </a:bodyPr>
          <a:lstStyle/>
          <a:p>
            <a:pPr algn="l">
              <a:spcBef>
                <a:spcPts val="0"/>
              </a:spcBef>
            </a:pPr>
            <a:r>
              <a:rPr sz="1800" b="0">
                <a:solidFill>
                  <a:schemeClr val="bg2">
                    <a:lumMod val="10000"/>
                  </a:schemeClr>
                </a:solidFill>
              </a:rPr>
              <a:t>KOSZT WNIOSKOWANIA</a:t>
            </a:r>
          </a:p>
        </p:txBody>
      </p:sp>
      <p:sp>
        <p:nvSpPr>
          <p:cNvPr id="34" name="TextBox 33"/>
          <p:cNvSpPr txBox="1"/>
          <p:nvPr/>
        </p:nvSpPr>
        <p:spPr>
          <a:xfrm>
            <a:off x="1828800" y="4828032"/>
            <a:ext cx="3977639" cy="1097280"/>
          </a:xfrm>
          <a:prstGeom prst="rect">
            <a:avLst/>
          </a:prstGeom>
          <a:noFill/>
        </p:spPr>
        <p:txBody>
          <a:bodyPr wrap="square" anchor="t">
            <a:noAutofit/>
          </a:bodyPr>
          <a:lstStyle/>
          <a:p>
            <a:pPr algn="l">
              <a:spcBef>
                <a:spcPts val="0"/>
              </a:spcBef>
            </a:pPr>
            <a:r>
              <a:rPr sz="1600" b="0">
                <a:solidFill>
                  <a:schemeClr val="bg2">
                    <a:lumMod val="10000"/>
                  </a:schemeClr>
                </a:solidFill>
              </a:rPr>
              <a:t>Modele rekurencyjne przetwarzają o rząd wielkości mniej próbek/s niż CNN i drzewa.</a:t>
            </a:r>
          </a:p>
        </p:txBody>
      </p:sp>
      <p:sp>
        <p:nvSpPr>
          <p:cNvPr id="35" name="Rectangle 34"/>
          <p:cNvSpPr/>
          <p:nvPr/>
        </p:nvSpPr>
        <p:spPr>
          <a:xfrm>
            <a:off x="6259068" y="4224528"/>
            <a:ext cx="4832604" cy="1755648"/>
          </a:xfrm>
          <a:prstGeom prst="rect">
            <a:avLst/>
          </a:prstGeom>
          <a:solidFill>
            <a:schemeClr val="bg2">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396228" y="4334256"/>
            <a:ext cx="594360" cy="731520"/>
          </a:xfrm>
          <a:prstGeom prst="rect">
            <a:avLst/>
          </a:prstGeom>
          <a:noFill/>
        </p:spPr>
        <p:txBody>
          <a:bodyPr wrap="square" anchor="t">
            <a:noAutofit/>
          </a:bodyPr>
          <a:lstStyle/>
          <a:p>
            <a:pPr algn="l">
              <a:spcBef>
                <a:spcPts val="0"/>
              </a:spcBef>
            </a:pPr>
            <a:r>
              <a:rPr sz="4000" b="0">
                <a:solidFill>
                  <a:schemeClr val="tx2"/>
                </a:solidFill>
                <a:latin typeface="Source Sans Pro Light"/>
              </a:rPr>
              <a:t>4</a:t>
            </a:r>
          </a:p>
        </p:txBody>
      </p:sp>
      <p:sp>
        <p:nvSpPr>
          <p:cNvPr id="37" name="TextBox 36"/>
          <p:cNvSpPr txBox="1"/>
          <p:nvPr/>
        </p:nvSpPr>
        <p:spPr>
          <a:xfrm>
            <a:off x="6990588" y="4407408"/>
            <a:ext cx="3977639" cy="411480"/>
          </a:xfrm>
          <a:prstGeom prst="rect">
            <a:avLst/>
          </a:prstGeom>
          <a:noFill/>
        </p:spPr>
        <p:txBody>
          <a:bodyPr wrap="square" anchor="t">
            <a:noAutofit/>
          </a:bodyPr>
          <a:lstStyle/>
          <a:p>
            <a:pPr algn="l">
              <a:spcBef>
                <a:spcPts val="0"/>
              </a:spcBef>
            </a:pPr>
            <a:r>
              <a:rPr sz="1800" b="0">
                <a:solidFill>
                  <a:schemeClr val="bg2">
                    <a:lumMod val="10000"/>
                  </a:schemeClr>
                </a:solidFill>
              </a:rPr>
              <a:t>WSPÓŁPRACA Z HEURYSTYKAMI</a:t>
            </a:r>
          </a:p>
        </p:txBody>
      </p:sp>
      <p:sp>
        <p:nvSpPr>
          <p:cNvPr id="38" name="TextBox 37"/>
          <p:cNvSpPr txBox="1"/>
          <p:nvPr/>
        </p:nvSpPr>
        <p:spPr>
          <a:xfrm>
            <a:off x="6990588" y="4828032"/>
            <a:ext cx="3977639" cy="1097280"/>
          </a:xfrm>
          <a:prstGeom prst="rect">
            <a:avLst/>
          </a:prstGeom>
          <a:noFill/>
        </p:spPr>
        <p:txBody>
          <a:bodyPr wrap="square" anchor="t">
            <a:noAutofit/>
          </a:bodyPr>
          <a:lstStyle/>
          <a:p>
            <a:pPr algn="l">
              <a:spcBef>
                <a:spcPts val="0"/>
              </a:spcBef>
            </a:pPr>
            <a:r>
              <a:rPr sz="1600" b="0">
                <a:solidFill>
                  <a:schemeClr val="bg2">
                    <a:lumMod val="10000"/>
                  </a:schemeClr>
                </a:solidFill>
              </a:rPr>
              <a:t>Model musi wnosić informację, której nie mają reguły behawioralne.</a:t>
            </a:r>
          </a:p>
        </p:txBody>
      </p:sp>
      <p:sp>
        <p:nvSpPr>
          <p:cNvPr id="39" name="Źródła"/>
          <p:cNvSpPr txBox="1"/>
          <p:nvPr/>
        </p:nvSpPr>
        <p:spPr>
          <a:xfrm>
            <a:off x="1097280" y="6272784"/>
            <a:ext cx="9994392" cy="329184"/>
          </a:xfrm>
          <a:prstGeom prst="rect">
            <a:avLst/>
          </a:prstGeom>
          <a:noFill/>
        </p:spPr>
        <p:txBody>
          <a:bodyPr wrap="square" anchor="t">
            <a:noAutofit/>
          </a:bodyPr>
          <a:lstStyle/>
          <a:p>
            <a:pPr algn="l">
              <a:spcBef>
                <a:spcPts val="0"/>
              </a:spcBef>
            </a:pPr>
            <a:r>
              <a:rPr sz="1100" b="0">
                <a:solidFill>
                  <a:schemeClr val="bg2">
                    <a:lumMod val="50000"/>
                  </a:schemeClr>
                </a:solidFill>
              </a:rPr>
              <a:t>Źródła (numeracja jak w pracy): [9], [10], [46], [50], [51]</a:t>
            </a:r>
          </a:p>
        </p:txBody>
      </p:sp>
    </p:spTree>
    <p:extLst>
      <p:ext uri="{BB962C8B-B14F-4D97-AF65-F5344CB8AC3E}">
        <p14:creationId xmlns:p14="http://schemas.microsoft.com/office/powerpoint/2010/main" val="29785648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7" name="pole tekstowe 6">
            <a:extLst>
              <a:ext uri="{FF2B5EF4-FFF2-40B4-BE49-F238E27FC236}">
                <a16:creationId xmlns:a16="http://schemas.microsoft.com/office/drawing/2014/main" id="{0CBC331D-8069-B1C8-0B2C-BC64036C1009}"/>
              </a:ext>
            </a:extLst>
          </p:cNvPr>
          <p:cNvSpPr txBox="1"/>
          <p:nvPr/>
        </p:nvSpPr>
        <p:spPr>
          <a:xfrm>
            <a:off x="6195330" y="2331720"/>
            <a:ext cx="5699343" cy="1938992"/>
          </a:xfrm>
          <a:prstGeom prst="rect">
            <a:avLst/>
          </a:prstGeom>
          <a:noFill/>
        </p:spPr>
        <p:txBody>
          <a:bodyPr wrap="square" rtlCol="0">
            <a:spAutoFit/>
          </a:bodyPr>
          <a:lstStyle/>
          <a:p>
            <a:r>
              <a:rPr lang="pl-PL" sz="6000" dirty="0">
                <a:solidFill>
                  <a:schemeClr val="bg1"/>
                </a:solidFill>
                <a:latin typeface="Source Sans Pro Light" panose="020B0403030403020204" pitchFamily="34" charset="0"/>
              </a:rPr>
              <a:t>Metodyka</a:t>
            </a:r>
          </a:p>
          <a:p>
            <a:r>
              <a:rPr lang="pl-PL" sz="6000" dirty="0">
                <a:solidFill>
                  <a:schemeClr val="bg1"/>
                </a:solidFill>
                <a:latin typeface="Source Sans Pro Light" panose="020B0403030403020204" pitchFamily="34" charset="0"/>
              </a:rPr>
              <a:t>ewaluacji</a:t>
            </a:r>
          </a:p>
        </p:txBody>
      </p:sp>
      <p:sp>
        <p:nvSpPr>
          <p:cNvPr id="8" name="pole tekstowe 7">
            <a:extLst>
              <a:ext uri="{FF2B5EF4-FFF2-40B4-BE49-F238E27FC236}">
                <a16:creationId xmlns:a16="http://schemas.microsoft.com/office/drawing/2014/main" id="{B6F5D76B-1818-C235-38F9-3C9C21303C79}"/>
              </a:ext>
            </a:extLst>
          </p:cNvPr>
          <p:cNvSpPr txBox="1"/>
          <p:nvPr/>
        </p:nvSpPr>
        <p:spPr>
          <a:xfrm>
            <a:off x="6195330" y="1874519"/>
            <a:ext cx="5699343" cy="400110"/>
          </a:xfrm>
          <a:prstGeom prst="rect">
            <a:avLst/>
          </a:prstGeom>
          <a:noFill/>
        </p:spPr>
        <p:txBody>
          <a:bodyPr wrap="square" rtlCol="0">
            <a:spAutoFit/>
          </a:bodyPr>
          <a:lstStyle/>
          <a:p>
            <a:r>
              <a:rPr lang="pl-PL" sz="2000" dirty="0">
                <a:solidFill>
                  <a:schemeClr val="bg1"/>
                </a:solidFill>
                <a:latin typeface="Source Sans Pro Light" panose="020B0403030403020204" pitchFamily="34" charset="0"/>
              </a:rPr>
              <a:t>Część IV — testbedy i pułapki</a:t>
            </a:r>
          </a:p>
        </p:txBody>
      </p:sp>
      <p:pic>
        <p:nvPicPr>
          <p:cNvPr id="4" name="Obraz 3" descr="Obraz zawierający linia, design, sztuka, czarne i białe&#10;&#10;Opis wygenerowany automatycznie">
            <a:extLst>
              <a:ext uri="{FF2B5EF4-FFF2-40B4-BE49-F238E27FC236}">
                <a16:creationId xmlns:a16="http://schemas.microsoft.com/office/drawing/2014/main" id="{583295B8-9380-5D37-9FB1-07A1D24A2108}"/>
              </a:ext>
            </a:extLst>
          </p:cNvPr>
          <p:cNvPicPr>
            <a:picLocks noChangeAspect="1"/>
          </p:cNvPicPr>
          <p:nvPr/>
        </p:nvPicPr>
        <p:blipFill>
          <a:blip r:embed="rId2">
            <a:alphaModFix amt="50000"/>
            <a:extLst>
              <a:ext uri="{28A0092B-C50C-407E-A947-70E740481C1C}">
                <a14:useLocalDpi xmlns:a14="http://schemas.microsoft.com/office/drawing/2010/main" val="0"/>
              </a:ext>
            </a:extLst>
          </a:blip>
          <a:stretch>
            <a:fillRect/>
          </a:stretch>
        </p:blipFill>
        <p:spPr>
          <a:xfrm>
            <a:off x="-1125177" y="-645091"/>
            <a:ext cx="6801478" cy="6858000"/>
          </a:xfrm>
          <a:prstGeom prst="rect">
            <a:avLst/>
          </a:prstGeom>
        </p:spPr>
      </p:pic>
    </p:spTree>
    <p:extLst>
      <p:ext uri="{BB962C8B-B14F-4D97-AF65-F5344CB8AC3E}">
        <p14:creationId xmlns:p14="http://schemas.microsoft.com/office/powerpoint/2010/main" val="6468721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Grafika 18">
            <a:extLst>
              <a:ext uri="{FF2B5EF4-FFF2-40B4-BE49-F238E27FC236}">
                <a16:creationId xmlns:a16="http://schemas.microsoft.com/office/drawing/2014/main" id="{8C3CFF1F-52DC-3490-D293-D228F8DF6A01}"/>
              </a:ext>
            </a:extLst>
          </p:cNvPr>
          <p:cNvPicPr>
            <a:picLocks noGrp="1" noRot="1" noChangeAspect="1" noMove="1" noResize="1" noEditPoints="1" noAdjustHandles="1" noChangeArrowheads="1" noChangeShapeType="1" noCrop="1"/>
          </p:cNvPicPr>
          <p:nvPr/>
        </p:nvPicPr>
        <p:blipFill>
          <a:blip r:embed="rId2">
            <a:extLst>
              <a:ext uri="{96DAC541-7B7A-43D3-8B79-37D633B846F1}">
                <asvg:svgBlip xmlns:asvg="http://schemas.microsoft.com/office/drawing/2016/SVG/main" r:embed="rId3"/>
              </a:ext>
            </a:extLst>
          </a:blip>
          <a:stretch>
            <a:fillRect/>
          </a:stretch>
        </p:blipFill>
        <p:spPr>
          <a:xfrm>
            <a:off x="1096027" y="0"/>
            <a:ext cx="1252727" cy="1780736"/>
          </a:xfrm>
          <a:prstGeom prst="rect">
            <a:avLst/>
          </a:prstGeom>
        </p:spPr>
      </p:pic>
      <p:sp>
        <p:nvSpPr>
          <p:cNvPr id="20" name="pole tekstowe 19">
            <a:extLst>
              <a:ext uri="{FF2B5EF4-FFF2-40B4-BE49-F238E27FC236}">
                <a16:creationId xmlns:a16="http://schemas.microsoft.com/office/drawing/2014/main" id="{DA7C4B59-9B8D-C16D-1201-5FC12125EDF7}"/>
              </a:ext>
            </a:extLst>
          </p:cNvPr>
          <p:cNvSpPr txBox="1"/>
          <p:nvPr/>
        </p:nvSpPr>
        <p:spPr>
          <a:xfrm>
            <a:off x="2629588" y="160326"/>
            <a:ext cx="5699343" cy="400110"/>
          </a:xfrm>
          <a:prstGeom prst="rect">
            <a:avLst/>
          </a:prstGeom>
          <a:noFill/>
        </p:spPr>
        <p:txBody>
          <a:bodyPr wrap="square" rtlCol="0">
            <a:spAutoFit/>
          </a:bodyPr>
          <a:lstStyle/>
          <a:p>
            <a:r>
              <a:rPr lang="pl-PL" sz="2000" dirty="0">
                <a:solidFill>
                  <a:schemeClr val="bg1"/>
                </a:solidFill>
                <a:latin typeface="Source Sans Pro Light" panose="020B0403030403020204" pitchFamily="34" charset="0"/>
              </a:rPr>
              <a:t>Obrona przed atakami DDoS — przegląd stanu wiedzy</a:t>
            </a:r>
          </a:p>
        </p:txBody>
      </p:sp>
      <p:sp>
        <p:nvSpPr>
          <p:cNvPr id="2" name="Prostokąt 1">
            <a:extLst>
              <a:ext uri="{FF2B5EF4-FFF2-40B4-BE49-F238E27FC236}">
                <a16:creationId xmlns:a16="http://schemas.microsoft.com/office/drawing/2014/main" id="{6391DFB6-1690-7FB2-CC36-5A7329D4AD6F}"/>
              </a:ext>
            </a:extLst>
          </p:cNvPr>
          <p:cNvSpPr/>
          <p:nvPr/>
        </p:nvSpPr>
        <p:spPr>
          <a:xfrm>
            <a:off x="1097280" y="1828800"/>
            <a:ext cx="3108960" cy="3063240"/>
          </a:xfrm>
          <a:prstGeom prst="rect">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pl-PL" dirty="0"/>
          </a:p>
        </p:txBody>
      </p:sp>
      <p:sp>
        <p:nvSpPr>
          <p:cNvPr id="3" name="Prostokąt 2">
            <a:extLst>
              <a:ext uri="{FF2B5EF4-FFF2-40B4-BE49-F238E27FC236}">
                <a16:creationId xmlns:a16="http://schemas.microsoft.com/office/drawing/2014/main" id="{D6721F15-4DEA-99B9-2707-E63D463254C3}"/>
              </a:ext>
            </a:extLst>
          </p:cNvPr>
          <p:cNvSpPr/>
          <p:nvPr/>
        </p:nvSpPr>
        <p:spPr>
          <a:xfrm>
            <a:off x="4539996" y="1828800"/>
            <a:ext cx="3108960" cy="3063240"/>
          </a:xfrm>
          <a:prstGeom prst="rect">
            <a:avLst/>
          </a:prstGeom>
        </p:spPr>
        <p:style>
          <a:lnRef idx="2">
            <a:schemeClr val="dk1">
              <a:shade val="50000"/>
            </a:schemeClr>
          </a:lnRef>
          <a:fillRef idx="1001">
            <a:schemeClr val="dk2"/>
          </a:fillRef>
          <a:effectRef idx="0">
            <a:schemeClr val="dk1"/>
          </a:effectRef>
          <a:fontRef idx="minor">
            <a:schemeClr val="lt1"/>
          </a:fontRef>
        </p:style>
        <p:txBody>
          <a:bodyPr rtlCol="0" anchor="ctr"/>
          <a:lstStyle/>
          <a:p>
            <a:pPr algn="ctr"/>
            <a:endParaRPr lang="pl-PL" dirty="0"/>
          </a:p>
        </p:txBody>
      </p:sp>
      <p:sp>
        <p:nvSpPr>
          <p:cNvPr id="4" name="Prostokąt 3">
            <a:extLst>
              <a:ext uri="{FF2B5EF4-FFF2-40B4-BE49-F238E27FC236}">
                <a16:creationId xmlns:a16="http://schemas.microsoft.com/office/drawing/2014/main" id="{9ACFE09C-32A5-843C-FE7B-82F73E952EB8}"/>
              </a:ext>
            </a:extLst>
          </p:cNvPr>
          <p:cNvSpPr/>
          <p:nvPr/>
        </p:nvSpPr>
        <p:spPr>
          <a:xfrm>
            <a:off x="7982711" y="1828800"/>
            <a:ext cx="3108960" cy="3063240"/>
          </a:xfrm>
          <a:prstGeom prst="rect">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pl-PL" dirty="0"/>
          </a:p>
        </p:txBody>
      </p:sp>
      <p:sp>
        <p:nvSpPr>
          <p:cNvPr id="7" name="Prostokąt 6">
            <a:extLst>
              <a:ext uri="{FF2B5EF4-FFF2-40B4-BE49-F238E27FC236}">
                <a16:creationId xmlns:a16="http://schemas.microsoft.com/office/drawing/2014/main" id="{D10A9B8A-0720-36A1-6CC3-2794DB388A39}"/>
              </a:ext>
            </a:extLst>
          </p:cNvPr>
          <p:cNvSpPr/>
          <p:nvPr/>
        </p:nvSpPr>
        <p:spPr>
          <a:xfrm>
            <a:off x="0" y="0"/>
            <a:ext cx="12192000" cy="804672"/>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 name="pole tekstowe 7">
            <a:extLst>
              <a:ext uri="{FF2B5EF4-FFF2-40B4-BE49-F238E27FC236}">
                <a16:creationId xmlns:a16="http://schemas.microsoft.com/office/drawing/2014/main" id="{DCFAE159-0B0F-8544-504A-15AF974ED49E}"/>
              </a:ext>
            </a:extLst>
          </p:cNvPr>
          <p:cNvSpPr txBox="1"/>
          <p:nvPr/>
        </p:nvSpPr>
        <p:spPr>
          <a:xfrm>
            <a:off x="2629588" y="160326"/>
            <a:ext cx="8229600" cy="400110"/>
          </a:xfrm>
          <a:prstGeom prst="rect">
            <a:avLst/>
          </a:prstGeom>
          <a:noFill/>
        </p:spPr>
        <p:txBody>
          <a:bodyPr wrap="square" rtlCol="0">
            <a:spAutoFit/>
          </a:bodyPr>
          <a:lstStyle/>
          <a:p>
            <a:r>
              <a:rPr lang="pl-PL" sz="2000" dirty="0">
                <a:solidFill>
                  <a:schemeClr val="bg1"/>
                </a:solidFill>
                <a:latin typeface="Source Sans Pro Light" panose="020B0403030403020204" pitchFamily="34" charset="0"/>
              </a:rPr>
              <a:t>Obrona przed atakami DDoS — przegląd stanu wiedzy</a:t>
            </a:r>
          </a:p>
        </p:txBody>
      </p:sp>
      <p:pic>
        <p:nvPicPr>
          <p:cNvPr id="9" name="Obraz 8" descr="Obraz zawierający linia, design, sztuka, czarne i białe&#10;&#10;Opis wygenerowany automatycznie">
            <a:extLst>
              <a:ext uri="{FF2B5EF4-FFF2-40B4-BE49-F238E27FC236}">
                <a16:creationId xmlns:a16="http://schemas.microsoft.com/office/drawing/2014/main" id="{FC666009-64C2-A2E8-8A64-21655C7DA72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2866" y="25052"/>
            <a:ext cx="739156" cy="745299"/>
          </a:xfrm>
          <a:prstGeom prst="rect">
            <a:avLst/>
          </a:prstGeom>
        </p:spPr>
      </p:pic>
      <p:sp>
        <p:nvSpPr>
          <p:cNvPr id="21" name="Tytuł 21"/>
          <p:cNvSpPr>
            <a:spLocks noGrp="1"/>
          </p:cNvSpPr>
          <p:nvPr>
            <p:ph type="title"/>
          </p:nvPr>
        </p:nvSpPr>
        <p:spPr>
          <a:xfrm>
            <a:off x="1097280" y="987552"/>
            <a:ext cx="9994392" cy="777240"/>
          </a:xfrm>
        </p:spPr>
        <p:txBody>
          <a:bodyPr vert="horz" wrap="square" lIns="91440" tIns="45720" rIns="91440" bIns="45720" anchor="t">
            <a:noAutofit/>
          </a:bodyPr>
          <a:lstStyle/>
          <a:p>
            <a:r>
              <a:rPr lang="pl-PL" sz="3600" dirty="0">
                <a:solidFill>
                  <a:schemeClr val="bg2">
                    <a:lumMod val="10000"/>
                  </a:schemeClr>
                </a:solidFill>
                <a:latin typeface="Source Sans Pro Light" panose="020B0403030403020204" pitchFamily="34" charset="0"/>
              </a:rPr>
              <a:t>Pułapki ewaluacji uczenia maszynowego</a:t>
            </a:r>
          </a:p>
        </p:txBody>
      </p:sp>
      <p:sp>
        <p:nvSpPr>
          <p:cNvPr id="22" name="TextBox 21"/>
          <p:cNvSpPr txBox="1"/>
          <p:nvPr/>
        </p:nvSpPr>
        <p:spPr>
          <a:xfrm>
            <a:off x="1325880" y="2057400"/>
            <a:ext cx="2651760" cy="411480"/>
          </a:xfrm>
          <a:prstGeom prst="rect">
            <a:avLst/>
          </a:prstGeom>
          <a:noFill/>
        </p:spPr>
        <p:txBody>
          <a:bodyPr wrap="square" anchor="t">
            <a:noAutofit/>
          </a:bodyPr>
          <a:lstStyle/>
          <a:p>
            <a:pPr algn="l">
              <a:spcBef>
                <a:spcPts val="0"/>
              </a:spcBef>
            </a:pPr>
            <a:r>
              <a:rPr sz="1800" b="0">
                <a:solidFill>
                  <a:schemeClr val="bg1"/>
                </a:solidFill>
              </a:rPr>
              <a:t>PUŁAPKI METODYCZNE</a:t>
            </a:r>
          </a:p>
        </p:txBody>
      </p:sp>
      <p:sp>
        <p:nvSpPr>
          <p:cNvPr id="23" name="TextBox 22"/>
          <p:cNvSpPr txBox="1"/>
          <p:nvPr/>
        </p:nvSpPr>
        <p:spPr>
          <a:xfrm>
            <a:off x="1325880" y="2487168"/>
            <a:ext cx="2651760" cy="731520"/>
          </a:xfrm>
          <a:prstGeom prst="rect">
            <a:avLst/>
          </a:prstGeom>
          <a:noFill/>
        </p:spPr>
        <p:txBody>
          <a:bodyPr wrap="square" anchor="t">
            <a:noAutofit/>
          </a:bodyPr>
          <a:lstStyle/>
          <a:p>
            <a:pPr algn="l">
              <a:spcBef>
                <a:spcPts val="0"/>
              </a:spcBef>
            </a:pPr>
            <a:r>
              <a:rPr sz="3600" b="0">
                <a:solidFill>
                  <a:schemeClr val="bg1"/>
                </a:solidFill>
                <a:latin typeface="Source Sans Pro Light"/>
              </a:rPr>
              <a:t>90% / 73%</a:t>
            </a:r>
          </a:p>
        </p:txBody>
      </p:sp>
      <p:sp>
        <p:nvSpPr>
          <p:cNvPr id="24" name="TextBox 23"/>
          <p:cNvSpPr txBox="1"/>
          <p:nvPr/>
        </p:nvSpPr>
        <p:spPr>
          <a:xfrm>
            <a:off x="1325880" y="3246120"/>
            <a:ext cx="2651760" cy="1554480"/>
          </a:xfrm>
          <a:prstGeom prst="rect">
            <a:avLst/>
          </a:prstGeom>
          <a:noFill/>
        </p:spPr>
        <p:txBody>
          <a:bodyPr wrap="square" anchor="t">
            <a:noAutofit/>
          </a:bodyPr>
          <a:lstStyle/>
          <a:p>
            <a:pPr algn="l">
              <a:spcBef>
                <a:spcPts val="0"/>
              </a:spcBef>
            </a:pPr>
            <a:r>
              <a:rPr sz="1600" b="0">
                <a:solidFill>
                  <a:schemeClr val="bg1"/>
                </a:solidFill>
              </a:rPr>
              <a:t>prac ze stronniczością próby / z podglądaniem danych testowych; prosty detektor: czułość 0,996 vs 0,882 (Kitsune).</a:t>
            </a:r>
          </a:p>
        </p:txBody>
      </p:sp>
      <p:sp>
        <p:nvSpPr>
          <p:cNvPr id="25" name="TextBox 24"/>
          <p:cNvSpPr txBox="1"/>
          <p:nvPr/>
        </p:nvSpPr>
        <p:spPr>
          <a:xfrm>
            <a:off x="4768596" y="2057400"/>
            <a:ext cx="2651760" cy="411480"/>
          </a:xfrm>
          <a:prstGeom prst="rect">
            <a:avLst/>
          </a:prstGeom>
          <a:noFill/>
        </p:spPr>
        <p:txBody>
          <a:bodyPr wrap="square" anchor="t">
            <a:noAutofit/>
          </a:bodyPr>
          <a:lstStyle/>
          <a:p>
            <a:pPr algn="l">
              <a:spcBef>
                <a:spcPts val="0"/>
              </a:spcBef>
            </a:pPr>
            <a:r>
              <a:rPr sz="1800" b="0">
                <a:solidFill>
                  <a:schemeClr val="bg1"/>
                </a:solidFill>
              </a:rPr>
              <a:t>UOGÓLNIANIE</a:t>
            </a:r>
          </a:p>
        </p:txBody>
      </p:sp>
      <p:sp>
        <p:nvSpPr>
          <p:cNvPr id="26" name="TextBox 25"/>
          <p:cNvSpPr txBox="1"/>
          <p:nvPr/>
        </p:nvSpPr>
        <p:spPr>
          <a:xfrm>
            <a:off x="4768596" y="2487168"/>
            <a:ext cx="2651760" cy="731520"/>
          </a:xfrm>
          <a:prstGeom prst="rect">
            <a:avLst/>
          </a:prstGeom>
          <a:noFill/>
        </p:spPr>
        <p:txBody>
          <a:bodyPr wrap="square" anchor="t">
            <a:noAutofit/>
          </a:bodyPr>
          <a:lstStyle/>
          <a:p>
            <a:pPr algn="l">
              <a:spcBef>
                <a:spcPts val="0"/>
              </a:spcBef>
            </a:pPr>
            <a:r>
              <a:rPr sz="3600" b="0">
                <a:solidFill>
                  <a:schemeClr val="bg1"/>
                </a:solidFill>
                <a:latin typeface="Source Sans Pro Light"/>
              </a:rPr>
              <a:t>14,91%</a:t>
            </a:r>
          </a:p>
        </p:txBody>
      </p:sp>
      <p:sp>
        <p:nvSpPr>
          <p:cNvPr id="27" name="TextBox 26"/>
          <p:cNvSpPr txBox="1"/>
          <p:nvPr/>
        </p:nvSpPr>
        <p:spPr>
          <a:xfrm>
            <a:off x="4768596" y="3246120"/>
            <a:ext cx="2651760" cy="1554480"/>
          </a:xfrm>
          <a:prstGeom prst="rect">
            <a:avLst/>
          </a:prstGeom>
          <a:noFill/>
        </p:spPr>
        <p:txBody>
          <a:bodyPr wrap="square" anchor="t">
            <a:noAutofit/>
          </a:bodyPr>
          <a:lstStyle/>
          <a:p>
            <a:pPr algn="l">
              <a:spcBef>
                <a:spcPts val="0"/>
              </a:spcBef>
            </a:pPr>
            <a:r>
              <a:rPr sz="1600" b="0">
                <a:solidFill>
                  <a:schemeClr val="bg1"/>
                </a:solidFill>
              </a:rPr>
              <a:t>MCC po przeniesieniu modelu na inny zbiór danych (83,86% w obrębie zbioru).</a:t>
            </a:r>
          </a:p>
        </p:txBody>
      </p:sp>
      <p:sp>
        <p:nvSpPr>
          <p:cNvPr id="28" name="TextBox 27"/>
          <p:cNvSpPr txBox="1"/>
          <p:nvPr/>
        </p:nvSpPr>
        <p:spPr>
          <a:xfrm>
            <a:off x="8211311" y="2057400"/>
            <a:ext cx="2651760" cy="411480"/>
          </a:xfrm>
          <a:prstGeom prst="rect">
            <a:avLst/>
          </a:prstGeom>
          <a:noFill/>
        </p:spPr>
        <p:txBody>
          <a:bodyPr wrap="square" anchor="t">
            <a:noAutofit/>
          </a:bodyPr>
          <a:lstStyle/>
          <a:p>
            <a:pPr algn="l">
              <a:spcBef>
                <a:spcPts val="0"/>
              </a:spcBef>
            </a:pPr>
            <a:r>
              <a:rPr sz="1800" b="0">
                <a:solidFill>
                  <a:schemeClr val="bg2">
                    <a:lumMod val="10000"/>
                  </a:schemeClr>
                </a:solidFill>
              </a:rPr>
              <a:t>ZBIORY DANYCH</a:t>
            </a:r>
          </a:p>
        </p:txBody>
      </p:sp>
      <p:sp>
        <p:nvSpPr>
          <p:cNvPr id="29" name="TextBox 28"/>
          <p:cNvSpPr txBox="1"/>
          <p:nvPr/>
        </p:nvSpPr>
        <p:spPr>
          <a:xfrm>
            <a:off x="8211311" y="2487168"/>
            <a:ext cx="2651760" cy="731520"/>
          </a:xfrm>
          <a:prstGeom prst="rect">
            <a:avLst/>
          </a:prstGeom>
          <a:noFill/>
        </p:spPr>
        <p:txBody>
          <a:bodyPr wrap="square" anchor="t">
            <a:noAutofit/>
          </a:bodyPr>
          <a:lstStyle/>
          <a:p>
            <a:pPr algn="l">
              <a:spcBef>
                <a:spcPts val="0"/>
              </a:spcBef>
            </a:pPr>
            <a:r>
              <a:rPr sz="3600" b="0">
                <a:solidFill>
                  <a:schemeClr val="bg2">
                    <a:lumMod val="10000"/>
                  </a:schemeClr>
                </a:solidFill>
                <a:latin typeface="Source Sans Pro Light"/>
              </a:rPr>
              <a:t>29%</a:t>
            </a:r>
          </a:p>
        </p:txBody>
      </p:sp>
      <p:sp>
        <p:nvSpPr>
          <p:cNvPr id="30" name="TextBox 29"/>
          <p:cNvSpPr txBox="1"/>
          <p:nvPr/>
        </p:nvSpPr>
        <p:spPr>
          <a:xfrm>
            <a:off x="8211311" y="3246120"/>
            <a:ext cx="2651760" cy="1554480"/>
          </a:xfrm>
          <a:prstGeom prst="rect">
            <a:avLst/>
          </a:prstGeom>
          <a:noFill/>
        </p:spPr>
        <p:txBody>
          <a:bodyPr wrap="square" anchor="t">
            <a:noAutofit/>
          </a:bodyPr>
          <a:lstStyle/>
          <a:p>
            <a:pPr algn="l">
              <a:spcBef>
                <a:spcPts val="0"/>
              </a:spcBef>
            </a:pPr>
            <a:r>
              <a:rPr sz="1600" b="0">
                <a:solidFill>
                  <a:schemeClr val="bg2">
                    <a:lumMod val="10000"/>
                  </a:schemeClr>
                </a:solidFill>
              </a:rPr>
              <a:t>prac używa CIC-IDS2017; łączenie zbiorów jest błędne z założenia; tylko 1 na 5 ma ruch rzeczywisty.</a:t>
            </a:r>
          </a:p>
        </p:txBody>
      </p:sp>
      <p:sp>
        <p:nvSpPr>
          <p:cNvPr id="31" name="TextBox 30"/>
          <p:cNvSpPr txBox="1"/>
          <p:nvPr/>
        </p:nvSpPr>
        <p:spPr>
          <a:xfrm>
            <a:off x="1097280" y="5120640"/>
            <a:ext cx="9994392" cy="777240"/>
          </a:xfrm>
          <a:prstGeom prst="rect">
            <a:avLst/>
          </a:prstGeom>
          <a:noFill/>
        </p:spPr>
        <p:txBody>
          <a:bodyPr wrap="square" anchor="t">
            <a:noAutofit/>
          </a:bodyPr>
          <a:lstStyle/>
          <a:p>
            <a:pPr algn="l">
              <a:spcBef>
                <a:spcPts val="0"/>
              </a:spcBef>
            </a:pPr>
            <a:r>
              <a:rPr sz="1600" b="1">
                <a:solidFill>
                  <a:schemeClr val="bg2">
                    <a:lumMod val="10000"/>
                  </a:schemeClr>
                </a:solidFill>
              </a:rPr>
              <a:t>Zalecenia: </a:t>
            </a:r>
            <a:r>
              <a:rPr sz="1600" b="0">
                <a:solidFill>
                  <a:schemeClr val="bg2">
                    <a:lumMod val="10000"/>
                  </a:schemeClr>
                </a:solidFill>
              </a:rPr>
              <a:t>prosty punkt odniesienia, czułość przy niskim FPR, podział danych zgodny z czasem, wiele powtórzeń i testy istotności.</a:t>
            </a:r>
          </a:p>
        </p:txBody>
      </p:sp>
      <p:sp>
        <p:nvSpPr>
          <p:cNvPr id="32" name="Źródła"/>
          <p:cNvSpPr txBox="1"/>
          <p:nvPr/>
        </p:nvSpPr>
        <p:spPr>
          <a:xfrm>
            <a:off x="1097280" y="6272784"/>
            <a:ext cx="9994392" cy="329184"/>
          </a:xfrm>
          <a:prstGeom prst="rect">
            <a:avLst/>
          </a:prstGeom>
          <a:noFill/>
        </p:spPr>
        <p:txBody>
          <a:bodyPr wrap="square" anchor="t">
            <a:noAutofit/>
          </a:bodyPr>
          <a:lstStyle/>
          <a:p>
            <a:pPr algn="l">
              <a:spcBef>
                <a:spcPts val="0"/>
              </a:spcBef>
            </a:pPr>
            <a:r>
              <a:rPr sz="1100" b="0">
                <a:solidFill>
                  <a:schemeClr val="bg2">
                    <a:lumMod val="50000"/>
                  </a:schemeClr>
                </a:solidFill>
              </a:rPr>
              <a:t>Źródła (numeracja jak w pracy): [44], [45], [51]</a:t>
            </a:r>
          </a:p>
        </p:txBody>
      </p:sp>
    </p:spTree>
    <p:extLst>
      <p:ext uri="{BB962C8B-B14F-4D97-AF65-F5344CB8AC3E}">
        <p14:creationId xmlns:p14="http://schemas.microsoft.com/office/powerpoint/2010/main" val="16721264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rostokąt 4">
            <a:extLst>
              <a:ext uri="{FF2B5EF4-FFF2-40B4-BE49-F238E27FC236}">
                <a16:creationId xmlns:a16="http://schemas.microsoft.com/office/drawing/2014/main" id="{7CA99EC4-3C2E-53F3-55A5-01E21A2FCB45}"/>
              </a:ext>
            </a:extLst>
          </p:cNvPr>
          <p:cNvSpPr>
            <a:spLocks noGrp="1" noRot="1" noMove="1" noResize="1" noEditPoints="1" noAdjustHandles="1" noChangeArrowheads="1" noChangeShapeType="1"/>
          </p:cNvSpPr>
          <p:nvPr/>
        </p:nvSpPr>
        <p:spPr>
          <a:xfrm>
            <a:off x="0" y="0"/>
            <a:ext cx="12192000" cy="804672"/>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0" name="pole tekstowe 19">
            <a:extLst>
              <a:ext uri="{FF2B5EF4-FFF2-40B4-BE49-F238E27FC236}">
                <a16:creationId xmlns:a16="http://schemas.microsoft.com/office/drawing/2014/main" id="{DA7C4B59-9B8D-C16D-1201-5FC12125EDF7}"/>
              </a:ext>
            </a:extLst>
          </p:cNvPr>
          <p:cNvSpPr txBox="1">
            <a:spLocks noGrp="1" noRot="1" noMove="1" noResize="1" noEditPoints="1" noAdjustHandles="1" noChangeArrowheads="1" noChangeShapeType="1"/>
          </p:cNvSpPr>
          <p:nvPr/>
        </p:nvSpPr>
        <p:spPr>
          <a:xfrm>
            <a:off x="2629588" y="160326"/>
            <a:ext cx="8229600" cy="400110"/>
          </a:xfrm>
          <a:prstGeom prst="rect">
            <a:avLst/>
          </a:prstGeom>
          <a:noFill/>
        </p:spPr>
        <p:txBody>
          <a:bodyPr wrap="square" rtlCol="0">
            <a:spAutoFit/>
          </a:bodyPr>
          <a:lstStyle/>
          <a:p>
            <a:r>
              <a:rPr lang="pl-PL" sz="2000" dirty="0">
                <a:solidFill>
                  <a:schemeClr val="bg1"/>
                </a:solidFill>
                <a:latin typeface="Source Sans Pro Light" panose="020B0403030403020204" pitchFamily="34" charset="0"/>
              </a:rPr>
              <a:t>Obrona przed atakami DDoS — przegląd stanu wiedzy</a:t>
            </a:r>
          </a:p>
        </p:txBody>
      </p:sp>
      <p:pic>
        <p:nvPicPr>
          <p:cNvPr id="4" name="Obraz 3" descr="Obraz zawierający linia, design, sztuka, czarne i białe&#10;&#10;Opis wygenerowany automatycznie">
            <a:extLst>
              <a:ext uri="{FF2B5EF4-FFF2-40B4-BE49-F238E27FC236}">
                <a16:creationId xmlns:a16="http://schemas.microsoft.com/office/drawing/2014/main" id="{FB556C9B-EF3C-CE33-30D5-4FF03A12E4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2866" y="25052"/>
            <a:ext cx="739156" cy="745299"/>
          </a:xfrm>
          <a:prstGeom prst="rect">
            <a:avLst/>
          </a:prstGeom>
        </p:spPr>
      </p:pic>
      <p:sp>
        <p:nvSpPr>
          <p:cNvPr id="21" name="Tytuł 21"/>
          <p:cNvSpPr>
            <a:spLocks noGrp="1"/>
          </p:cNvSpPr>
          <p:nvPr>
            <p:ph type="title"/>
          </p:nvPr>
        </p:nvSpPr>
        <p:spPr>
          <a:xfrm>
            <a:off x="1097280" y="2103120"/>
            <a:ext cx="4937760" cy="1417320"/>
          </a:xfrm>
        </p:spPr>
        <p:txBody>
          <a:bodyPr vert="horz" wrap="square" lIns="91440" tIns="45720" rIns="91440" bIns="45720" anchor="t">
            <a:noAutofit/>
          </a:bodyPr>
          <a:lstStyle/>
          <a:p>
            <a:r>
              <a:rPr lang="pl-PL" sz="4000" dirty="0">
                <a:solidFill>
                  <a:schemeClr val="bg2">
                    <a:lumMod val="10000"/>
                  </a:schemeClr>
                </a:solidFill>
                <a:latin typeface="Source Sans Pro Light" panose="020B0403030403020204" pitchFamily="34" charset="0"/>
              </a:rPr>
              <a:t>Środowiska testowe</a:t>
            </a:r>
          </a:p>
          <a:p>
            <a:r>
              <a:rPr lang="pl-PL" sz="4000" dirty="0">
                <a:solidFill>
                  <a:schemeClr val="bg2">
                    <a:lumMod val="10000"/>
                  </a:schemeClr>
                </a:solidFill>
                <a:latin typeface="Source Sans Pro Light" panose="020B0403030403020204" pitchFamily="34" charset="0"/>
              </a:rPr>
              <a:t>i walidacja</a:t>
            </a:r>
          </a:p>
        </p:txBody>
      </p:sp>
      <p:sp>
        <p:nvSpPr>
          <p:cNvPr id="22" name="TextBox 21"/>
          <p:cNvSpPr txBox="1"/>
          <p:nvPr/>
        </p:nvSpPr>
        <p:spPr>
          <a:xfrm>
            <a:off x="1097280" y="3611880"/>
            <a:ext cx="4937760" cy="777240"/>
          </a:xfrm>
          <a:prstGeom prst="rect">
            <a:avLst/>
          </a:prstGeom>
          <a:noFill/>
        </p:spPr>
        <p:txBody>
          <a:bodyPr wrap="square" anchor="t">
            <a:noAutofit/>
          </a:bodyPr>
          <a:lstStyle/>
          <a:p>
            <a:pPr algn="l">
              <a:spcBef>
                <a:spcPts val="0"/>
              </a:spcBef>
            </a:pPr>
            <a:r>
              <a:rPr sz="2000" b="0">
                <a:solidFill>
                  <a:schemeClr val="bg2">
                    <a:lumMod val="10000"/>
                  </a:schemeClr>
                </a:solidFill>
              </a:rPr>
              <a:t>OD LABORATORIUM DO RUCHU RZECZYWISTEGO</a:t>
            </a:r>
          </a:p>
        </p:txBody>
      </p:sp>
      <p:sp>
        <p:nvSpPr>
          <p:cNvPr id="23" name="TextBox 22"/>
          <p:cNvSpPr txBox="1"/>
          <p:nvPr/>
        </p:nvSpPr>
        <p:spPr>
          <a:xfrm>
            <a:off x="6446520" y="1481328"/>
            <a:ext cx="548640" cy="731520"/>
          </a:xfrm>
          <a:prstGeom prst="rect">
            <a:avLst/>
          </a:prstGeom>
          <a:noFill/>
        </p:spPr>
        <p:txBody>
          <a:bodyPr wrap="square" anchor="t">
            <a:noAutofit/>
          </a:bodyPr>
          <a:lstStyle/>
          <a:p>
            <a:pPr algn="l">
              <a:spcBef>
                <a:spcPts val="0"/>
              </a:spcBef>
            </a:pPr>
            <a:r>
              <a:rPr sz="4000" b="0">
                <a:solidFill>
                  <a:schemeClr val="tx2"/>
                </a:solidFill>
                <a:latin typeface="Source Sans Pro Light"/>
              </a:rPr>
              <a:t>1</a:t>
            </a:r>
          </a:p>
        </p:txBody>
      </p:sp>
      <p:sp>
        <p:nvSpPr>
          <p:cNvPr id="24" name="TextBox 23"/>
          <p:cNvSpPr txBox="1"/>
          <p:nvPr/>
        </p:nvSpPr>
        <p:spPr>
          <a:xfrm>
            <a:off x="6967728" y="1554480"/>
            <a:ext cx="4206240" cy="411480"/>
          </a:xfrm>
          <a:prstGeom prst="rect">
            <a:avLst/>
          </a:prstGeom>
          <a:noFill/>
        </p:spPr>
        <p:txBody>
          <a:bodyPr wrap="square" anchor="t">
            <a:noAutofit/>
          </a:bodyPr>
          <a:lstStyle/>
          <a:p>
            <a:pPr algn="l">
              <a:spcBef>
                <a:spcPts val="0"/>
              </a:spcBef>
            </a:pPr>
            <a:r>
              <a:rPr sz="2000" b="0">
                <a:solidFill>
                  <a:schemeClr val="bg2">
                    <a:lumMod val="10000"/>
                  </a:schemeClr>
                </a:solidFill>
              </a:rPr>
              <a:t>TESTBED DOMINUJE</a:t>
            </a:r>
          </a:p>
        </p:txBody>
      </p:sp>
      <p:sp>
        <p:nvSpPr>
          <p:cNvPr id="25" name="TextBox 24"/>
          <p:cNvSpPr txBox="1"/>
          <p:nvPr/>
        </p:nvSpPr>
        <p:spPr>
          <a:xfrm>
            <a:off x="6967728" y="1947672"/>
            <a:ext cx="4206240" cy="868680"/>
          </a:xfrm>
          <a:prstGeom prst="rect">
            <a:avLst/>
          </a:prstGeom>
          <a:noFill/>
        </p:spPr>
        <p:txBody>
          <a:bodyPr wrap="square" anchor="t">
            <a:noAutofit/>
          </a:bodyPr>
          <a:lstStyle/>
          <a:p>
            <a:pPr algn="l">
              <a:spcBef>
                <a:spcPts val="0"/>
              </a:spcBef>
            </a:pPr>
            <a:r>
              <a:rPr sz="1600" b="0">
                <a:solidFill>
                  <a:schemeClr val="bg2">
                    <a:lumMod val="10000"/>
                  </a:schemeClr>
                </a:solidFill>
              </a:rPr>
              <a:t>81,4–87% prac o eBPF w bezpieczeństwie ewaluowano wyłącznie w środowisku testowym.</a:t>
            </a:r>
          </a:p>
        </p:txBody>
      </p:sp>
      <p:sp>
        <p:nvSpPr>
          <p:cNvPr id="26" name="TextBox 25"/>
          <p:cNvSpPr txBox="1"/>
          <p:nvPr/>
        </p:nvSpPr>
        <p:spPr>
          <a:xfrm>
            <a:off x="6446520" y="2962656"/>
            <a:ext cx="548640" cy="731520"/>
          </a:xfrm>
          <a:prstGeom prst="rect">
            <a:avLst/>
          </a:prstGeom>
          <a:noFill/>
        </p:spPr>
        <p:txBody>
          <a:bodyPr wrap="square" anchor="t">
            <a:noAutofit/>
          </a:bodyPr>
          <a:lstStyle/>
          <a:p>
            <a:pPr algn="l">
              <a:spcBef>
                <a:spcPts val="0"/>
              </a:spcBef>
            </a:pPr>
            <a:r>
              <a:rPr sz="4000" b="0">
                <a:solidFill>
                  <a:schemeClr val="tx2"/>
                </a:solidFill>
                <a:latin typeface="Source Sans Pro Light"/>
              </a:rPr>
              <a:t>2</a:t>
            </a:r>
          </a:p>
        </p:txBody>
      </p:sp>
      <p:sp>
        <p:nvSpPr>
          <p:cNvPr id="27" name="TextBox 26"/>
          <p:cNvSpPr txBox="1"/>
          <p:nvPr/>
        </p:nvSpPr>
        <p:spPr>
          <a:xfrm>
            <a:off x="6967728" y="3035808"/>
            <a:ext cx="4206240" cy="411480"/>
          </a:xfrm>
          <a:prstGeom prst="rect">
            <a:avLst/>
          </a:prstGeom>
          <a:noFill/>
        </p:spPr>
        <p:txBody>
          <a:bodyPr wrap="square" anchor="t">
            <a:noAutofit/>
          </a:bodyPr>
          <a:lstStyle/>
          <a:p>
            <a:pPr algn="l">
              <a:spcBef>
                <a:spcPts val="0"/>
              </a:spcBef>
            </a:pPr>
            <a:r>
              <a:rPr sz="2000" b="0">
                <a:solidFill>
                  <a:schemeClr val="bg2">
                    <a:lumMod val="10000"/>
                  </a:schemeClr>
                </a:solidFill>
              </a:rPr>
              <a:t>WALIDACJA NA ŻYWYM SERWERZE</a:t>
            </a:r>
          </a:p>
        </p:txBody>
      </p:sp>
      <p:sp>
        <p:nvSpPr>
          <p:cNvPr id="28" name="TextBox 27"/>
          <p:cNvSpPr txBox="1"/>
          <p:nvPr/>
        </p:nvSpPr>
        <p:spPr>
          <a:xfrm>
            <a:off x="6967728" y="3429000"/>
            <a:ext cx="4206240" cy="868680"/>
          </a:xfrm>
          <a:prstGeom prst="rect">
            <a:avLst/>
          </a:prstGeom>
          <a:noFill/>
        </p:spPr>
        <p:txBody>
          <a:bodyPr wrap="square" anchor="t">
            <a:noAutofit/>
          </a:bodyPr>
          <a:lstStyle/>
          <a:p>
            <a:pPr algn="l">
              <a:spcBef>
                <a:spcPts val="0"/>
              </a:spcBef>
            </a:pPr>
            <a:r>
              <a:rPr sz="1600" b="0">
                <a:solidFill>
                  <a:schemeClr val="bg2">
                    <a:lumMod val="10000"/>
                  </a:schemeClr>
                </a:solidFill>
              </a:rPr>
              <a:t>Tripathi: ruch studentów; SlowTrack: 48 h z atakującym w chmurze.</a:t>
            </a:r>
          </a:p>
        </p:txBody>
      </p:sp>
      <p:sp>
        <p:nvSpPr>
          <p:cNvPr id="29" name="TextBox 28"/>
          <p:cNvSpPr txBox="1"/>
          <p:nvPr/>
        </p:nvSpPr>
        <p:spPr>
          <a:xfrm>
            <a:off x="6446520" y="4443984"/>
            <a:ext cx="548640" cy="731520"/>
          </a:xfrm>
          <a:prstGeom prst="rect">
            <a:avLst/>
          </a:prstGeom>
          <a:noFill/>
        </p:spPr>
        <p:txBody>
          <a:bodyPr wrap="square" anchor="t">
            <a:noAutofit/>
          </a:bodyPr>
          <a:lstStyle/>
          <a:p>
            <a:pPr algn="l">
              <a:spcBef>
                <a:spcPts val="0"/>
              </a:spcBef>
            </a:pPr>
            <a:r>
              <a:rPr sz="4000" b="0">
                <a:solidFill>
                  <a:schemeClr val="tx2"/>
                </a:solidFill>
                <a:latin typeface="Source Sans Pro Light"/>
              </a:rPr>
              <a:t>3</a:t>
            </a:r>
          </a:p>
        </p:txBody>
      </p:sp>
      <p:sp>
        <p:nvSpPr>
          <p:cNvPr id="30" name="TextBox 29"/>
          <p:cNvSpPr txBox="1"/>
          <p:nvPr/>
        </p:nvSpPr>
        <p:spPr>
          <a:xfrm>
            <a:off x="6967728" y="4517136"/>
            <a:ext cx="4206240" cy="411480"/>
          </a:xfrm>
          <a:prstGeom prst="rect">
            <a:avLst/>
          </a:prstGeom>
          <a:noFill/>
        </p:spPr>
        <p:txBody>
          <a:bodyPr wrap="square" anchor="t">
            <a:noAutofit/>
          </a:bodyPr>
          <a:lstStyle/>
          <a:p>
            <a:pPr algn="l">
              <a:spcBef>
                <a:spcPts val="0"/>
              </a:spcBef>
            </a:pPr>
            <a:r>
              <a:rPr sz="2000" b="0">
                <a:solidFill>
                  <a:schemeClr val="bg2">
                    <a:lumMod val="10000"/>
                  </a:schemeClr>
                </a:solidFill>
              </a:rPr>
              <a:t>GENERATORY RUCHU</a:t>
            </a:r>
          </a:p>
        </p:txBody>
      </p:sp>
      <p:sp>
        <p:nvSpPr>
          <p:cNvPr id="31" name="TextBox 30"/>
          <p:cNvSpPr txBox="1"/>
          <p:nvPr/>
        </p:nvSpPr>
        <p:spPr>
          <a:xfrm>
            <a:off x="6967728" y="4910328"/>
            <a:ext cx="4206240" cy="868680"/>
          </a:xfrm>
          <a:prstGeom prst="rect">
            <a:avLst/>
          </a:prstGeom>
          <a:noFill/>
        </p:spPr>
        <p:txBody>
          <a:bodyPr wrap="square" anchor="t">
            <a:noAutofit/>
          </a:bodyPr>
          <a:lstStyle/>
          <a:p>
            <a:pPr algn="l">
              <a:spcBef>
                <a:spcPts val="0"/>
              </a:spcBef>
            </a:pPr>
            <a:r>
              <a:rPr sz="1600" b="0">
                <a:solidFill>
                  <a:schemeClr val="bg2">
                    <a:lumMod val="10000"/>
                  </a:schemeClr>
                </a:solidFill>
              </a:rPr>
              <a:t>Generator 11 powolnych ataków; MoonGen: 14,88 mln pakietów/s na rdzeń.</a:t>
            </a:r>
          </a:p>
        </p:txBody>
      </p:sp>
      <p:sp>
        <p:nvSpPr>
          <p:cNvPr id="32" name="Źródła"/>
          <p:cNvSpPr txBox="1"/>
          <p:nvPr/>
        </p:nvSpPr>
        <p:spPr>
          <a:xfrm>
            <a:off x="1097280" y="6272784"/>
            <a:ext cx="9994392" cy="329184"/>
          </a:xfrm>
          <a:prstGeom prst="rect">
            <a:avLst/>
          </a:prstGeom>
          <a:noFill/>
        </p:spPr>
        <p:txBody>
          <a:bodyPr wrap="square" anchor="t">
            <a:noAutofit/>
          </a:bodyPr>
          <a:lstStyle/>
          <a:p>
            <a:pPr algn="l">
              <a:spcBef>
                <a:spcPts val="0"/>
              </a:spcBef>
            </a:pPr>
            <a:r>
              <a:rPr sz="1100" b="0">
                <a:solidFill>
                  <a:schemeClr val="bg2">
                    <a:lumMod val="50000"/>
                  </a:schemeClr>
                </a:solidFill>
              </a:rPr>
              <a:t>Źródła (numeracja jak w pracy): [8], [9], [10], [40], [52]</a:t>
            </a:r>
          </a:p>
        </p:txBody>
      </p:sp>
    </p:spTree>
    <p:extLst>
      <p:ext uri="{BB962C8B-B14F-4D97-AF65-F5344CB8AC3E}">
        <p14:creationId xmlns:p14="http://schemas.microsoft.com/office/powerpoint/2010/main" val="29785648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rostokąt 4">
            <a:extLst>
              <a:ext uri="{FF2B5EF4-FFF2-40B4-BE49-F238E27FC236}">
                <a16:creationId xmlns:a16="http://schemas.microsoft.com/office/drawing/2014/main" id="{7CA99EC4-3C2E-53F3-55A5-01E21A2FCB45}"/>
              </a:ext>
            </a:extLst>
          </p:cNvPr>
          <p:cNvSpPr>
            <a:spLocks noGrp="1" noRot="1" noMove="1" noResize="1" noEditPoints="1" noAdjustHandles="1" noChangeArrowheads="1" noChangeShapeType="1"/>
          </p:cNvSpPr>
          <p:nvPr/>
        </p:nvSpPr>
        <p:spPr>
          <a:xfrm>
            <a:off x="0" y="0"/>
            <a:ext cx="12192000" cy="804672"/>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0" name="pole tekstowe 19">
            <a:extLst>
              <a:ext uri="{FF2B5EF4-FFF2-40B4-BE49-F238E27FC236}">
                <a16:creationId xmlns:a16="http://schemas.microsoft.com/office/drawing/2014/main" id="{DA7C4B59-9B8D-C16D-1201-5FC12125EDF7}"/>
              </a:ext>
            </a:extLst>
          </p:cNvPr>
          <p:cNvSpPr txBox="1">
            <a:spLocks noGrp="1" noRot="1" noMove="1" noResize="1" noEditPoints="1" noAdjustHandles="1" noChangeArrowheads="1" noChangeShapeType="1"/>
          </p:cNvSpPr>
          <p:nvPr/>
        </p:nvSpPr>
        <p:spPr>
          <a:xfrm>
            <a:off x="2629588" y="160326"/>
            <a:ext cx="8229600" cy="400110"/>
          </a:xfrm>
          <a:prstGeom prst="rect">
            <a:avLst/>
          </a:prstGeom>
          <a:noFill/>
        </p:spPr>
        <p:txBody>
          <a:bodyPr wrap="square" rtlCol="0">
            <a:spAutoFit/>
          </a:bodyPr>
          <a:lstStyle/>
          <a:p>
            <a:r>
              <a:rPr lang="pl-PL" sz="2000" dirty="0">
                <a:solidFill>
                  <a:schemeClr val="bg1"/>
                </a:solidFill>
                <a:latin typeface="Source Sans Pro Light" panose="020B0403030403020204" pitchFamily="34" charset="0"/>
              </a:rPr>
              <a:t>Obrona przed atakami DDoS — przegląd stanu wiedzy</a:t>
            </a:r>
          </a:p>
        </p:txBody>
      </p:sp>
      <p:pic>
        <p:nvPicPr>
          <p:cNvPr id="4" name="Obraz 3" descr="Obraz zawierający linia, design, sztuka, czarne i białe&#10;&#10;Opis wygenerowany automatycznie">
            <a:extLst>
              <a:ext uri="{FF2B5EF4-FFF2-40B4-BE49-F238E27FC236}">
                <a16:creationId xmlns:a16="http://schemas.microsoft.com/office/drawing/2014/main" id="{FB556C9B-EF3C-CE33-30D5-4FF03A12E4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2866" y="25052"/>
            <a:ext cx="739156" cy="745299"/>
          </a:xfrm>
          <a:prstGeom prst="rect">
            <a:avLst/>
          </a:prstGeom>
        </p:spPr>
      </p:pic>
      <p:sp>
        <p:nvSpPr>
          <p:cNvPr id="21" name="Tytuł 21"/>
          <p:cNvSpPr>
            <a:spLocks noGrp="1"/>
          </p:cNvSpPr>
          <p:nvPr>
            <p:ph type="title"/>
          </p:nvPr>
        </p:nvSpPr>
        <p:spPr>
          <a:xfrm>
            <a:off x="1097280" y="987552"/>
            <a:ext cx="9994392" cy="777240"/>
          </a:xfrm>
        </p:spPr>
        <p:txBody>
          <a:bodyPr vert="horz" wrap="square" lIns="91440" tIns="45720" rIns="91440" bIns="45720" anchor="t">
            <a:noAutofit/>
          </a:bodyPr>
          <a:lstStyle/>
          <a:p>
            <a:r>
              <a:rPr lang="pl-PL" sz="3600" dirty="0">
                <a:solidFill>
                  <a:schemeClr val="bg2">
                    <a:lumMod val="10000"/>
                  </a:schemeClr>
                </a:solidFill>
                <a:latin typeface="Source Sans Pro Light" panose="020B0403030403020204" pitchFamily="34" charset="0"/>
              </a:rPr>
              <a:t>Wnioski z przeglądu</a:t>
            </a:r>
          </a:p>
        </p:txBody>
      </p:sp>
      <p:sp>
        <p:nvSpPr>
          <p:cNvPr id="22" name="TextBox 21"/>
          <p:cNvSpPr txBox="1"/>
          <p:nvPr/>
        </p:nvSpPr>
        <p:spPr>
          <a:xfrm>
            <a:off x="1051560" y="1719072"/>
            <a:ext cx="548640" cy="731520"/>
          </a:xfrm>
          <a:prstGeom prst="rect">
            <a:avLst/>
          </a:prstGeom>
          <a:noFill/>
        </p:spPr>
        <p:txBody>
          <a:bodyPr wrap="square" anchor="t">
            <a:noAutofit/>
          </a:bodyPr>
          <a:lstStyle/>
          <a:p>
            <a:pPr algn="l">
              <a:spcBef>
                <a:spcPts val="0"/>
              </a:spcBef>
            </a:pPr>
            <a:r>
              <a:rPr sz="3600" b="0">
                <a:solidFill>
                  <a:schemeClr val="tx2"/>
                </a:solidFill>
                <a:latin typeface="Source Sans Pro Light"/>
              </a:rPr>
              <a:t>1</a:t>
            </a:r>
          </a:p>
        </p:txBody>
      </p:sp>
      <p:sp>
        <p:nvSpPr>
          <p:cNvPr id="23" name="TextBox 22"/>
          <p:cNvSpPr txBox="1"/>
          <p:nvPr/>
        </p:nvSpPr>
        <p:spPr>
          <a:xfrm>
            <a:off x="1645919" y="1828800"/>
            <a:ext cx="3108960" cy="457200"/>
          </a:xfrm>
          <a:prstGeom prst="rect">
            <a:avLst/>
          </a:prstGeom>
          <a:noFill/>
        </p:spPr>
        <p:txBody>
          <a:bodyPr wrap="square" anchor="t">
            <a:noAutofit/>
          </a:bodyPr>
          <a:lstStyle/>
          <a:p>
            <a:pPr algn="l">
              <a:spcBef>
                <a:spcPts val="0"/>
              </a:spcBef>
            </a:pPr>
            <a:r>
              <a:rPr sz="1800" b="0">
                <a:solidFill>
                  <a:schemeClr val="bg2">
                    <a:lumMod val="10000"/>
                  </a:schemeClr>
                </a:solidFill>
              </a:rPr>
              <a:t>XDP</a:t>
            </a:r>
          </a:p>
        </p:txBody>
      </p:sp>
      <p:sp>
        <p:nvSpPr>
          <p:cNvPr id="24" name="TextBox 23"/>
          <p:cNvSpPr txBox="1"/>
          <p:nvPr/>
        </p:nvSpPr>
        <p:spPr>
          <a:xfrm>
            <a:off x="4800600" y="1828800"/>
            <a:ext cx="6291072" cy="777240"/>
          </a:xfrm>
          <a:prstGeom prst="rect">
            <a:avLst/>
          </a:prstGeom>
          <a:noFill/>
        </p:spPr>
        <p:txBody>
          <a:bodyPr wrap="square" anchor="t">
            <a:noAutofit/>
          </a:bodyPr>
          <a:lstStyle/>
          <a:p>
            <a:pPr algn="l">
              <a:spcBef>
                <a:spcPts val="0"/>
              </a:spcBef>
            </a:pPr>
            <a:r>
              <a:rPr sz="1600" b="0">
                <a:solidFill>
                  <a:schemeClr val="bg2">
                    <a:lumMod val="10000"/>
                  </a:schemeClr>
                </a:solidFill>
              </a:rPr>
              <a:t>Dojrzała, zmierzona obrona na poziomie hosta; ograniczenia: ataki odbiciowe i wysycenie łącza.</a:t>
            </a:r>
          </a:p>
        </p:txBody>
      </p:sp>
      <p:sp>
        <p:nvSpPr>
          <p:cNvPr id="25" name="TextBox 24"/>
          <p:cNvSpPr txBox="1"/>
          <p:nvPr/>
        </p:nvSpPr>
        <p:spPr>
          <a:xfrm>
            <a:off x="1051560" y="2587752"/>
            <a:ext cx="548640" cy="731520"/>
          </a:xfrm>
          <a:prstGeom prst="rect">
            <a:avLst/>
          </a:prstGeom>
          <a:noFill/>
        </p:spPr>
        <p:txBody>
          <a:bodyPr wrap="square" anchor="t">
            <a:noAutofit/>
          </a:bodyPr>
          <a:lstStyle/>
          <a:p>
            <a:pPr algn="l">
              <a:spcBef>
                <a:spcPts val="0"/>
              </a:spcBef>
            </a:pPr>
            <a:r>
              <a:rPr sz="3600" b="0">
                <a:solidFill>
                  <a:schemeClr val="tx2"/>
                </a:solidFill>
                <a:latin typeface="Source Sans Pro Light"/>
              </a:rPr>
              <a:t>2</a:t>
            </a:r>
          </a:p>
        </p:txBody>
      </p:sp>
      <p:sp>
        <p:nvSpPr>
          <p:cNvPr id="26" name="TextBox 25"/>
          <p:cNvSpPr txBox="1"/>
          <p:nvPr/>
        </p:nvSpPr>
        <p:spPr>
          <a:xfrm>
            <a:off x="1645919" y="2697480"/>
            <a:ext cx="3108960" cy="457200"/>
          </a:xfrm>
          <a:prstGeom prst="rect">
            <a:avLst/>
          </a:prstGeom>
          <a:noFill/>
        </p:spPr>
        <p:txBody>
          <a:bodyPr wrap="square" anchor="t">
            <a:noAutofit/>
          </a:bodyPr>
          <a:lstStyle/>
          <a:p>
            <a:pPr algn="l">
              <a:spcBef>
                <a:spcPts val="0"/>
              </a:spcBef>
            </a:pPr>
            <a:r>
              <a:rPr sz="1800" b="0">
                <a:solidFill>
                  <a:schemeClr val="bg2">
                    <a:lumMod val="10000"/>
                  </a:schemeClr>
                </a:solidFill>
              </a:rPr>
              <a:t>LOW-AND-SLOW</a:t>
            </a:r>
          </a:p>
        </p:txBody>
      </p:sp>
      <p:sp>
        <p:nvSpPr>
          <p:cNvPr id="27" name="TextBox 26"/>
          <p:cNvSpPr txBox="1"/>
          <p:nvPr/>
        </p:nvSpPr>
        <p:spPr>
          <a:xfrm>
            <a:off x="4800600" y="2697480"/>
            <a:ext cx="6291072" cy="777240"/>
          </a:xfrm>
          <a:prstGeom prst="rect">
            <a:avLst/>
          </a:prstGeom>
          <a:noFill/>
        </p:spPr>
        <p:txBody>
          <a:bodyPr wrap="square" anchor="t">
            <a:noAutofit/>
          </a:bodyPr>
          <a:lstStyle/>
          <a:p>
            <a:pPr algn="l">
              <a:spcBef>
                <a:spcPts val="0"/>
              </a:spcBef>
            </a:pPr>
            <a:r>
              <a:rPr sz="1600" b="0">
                <a:solidFill>
                  <a:schemeClr val="bg2">
                    <a:lumMod val="10000"/>
                  </a:schemeClr>
                </a:solidFill>
              </a:rPr>
              <a:t>Wykrywanie opiera się na stanie połączeń i sekwencjach zdarzeń, a nie na wolumenie.</a:t>
            </a:r>
          </a:p>
        </p:txBody>
      </p:sp>
      <p:sp>
        <p:nvSpPr>
          <p:cNvPr id="28" name="TextBox 27"/>
          <p:cNvSpPr txBox="1"/>
          <p:nvPr/>
        </p:nvSpPr>
        <p:spPr>
          <a:xfrm>
            <a:off x="1051560" y="3456432"/>
            <a:ext cx="548640" cy="731520"/>
          </a:xfrm>
          <a:prstGeom prst="rect">
            <a:avLst/>
          </a:prstGeom>
          <a:noFill/>
        </p:spPr>
        <p:txBody>
          <a:bodyPr wrap="square" anchor="t">
            <a:noAutofit/>
          </a:bodyPr>
          <a:lstStyle/>
          <a:p>
            <a:pPr algn="l">
              <a:spcBef>
                <a:spcPts val="0"/>
              </a:spcBef>
            </a:pPr>
            <a:r>
              <a:rPr sz="3600" b="0">
                <a:solidFill>
                  <a:schemeClr val="tx2"/>
                </a:solidFill>
                <a:latin typeface="Source Sans Pro Light"/>
              </a:rPr>
              <a:t>3</a:t>
            </a:r>
          </a:p>
        </p:txBody>
      </p:sp>
      <p:sp>
        <p:nvSpPr>
          <p:cNvPr id="29" name="TextBox 28"/>
          <p:cNvSpPr txBox="1"/>
          <p:nvPr/>
        </p:nvSpPr>
        <p:spPr>
          <a:xfrm>
            <a:off x="1645919" y="3566160"/>
            <a:ext cx="3108960" cy="457200"/>
          </a:xfrm>
          <a:prstGeom prst="rect">
            <a:avLst/>
          </a:prstGeom>
          <a:noFill/>
        </p:spPr>
        <p:txBody>
          <a:bodyPr wrap="square" anchor="t">
            <a:noAutofit/>
          </a:bodyPr>
          <a:lstStyle/>
          <a:p>
            <a:pPr algn="l">
              <a:spcBef>
                <a:spcPts val="0"/>
              </a:spcBef>
            </a:pPr>
            <a:r>
              <a:rPr sz="1800" b="0">
                <a:solidFill>
                  <a:schemeClr val="bg2">
                    <a:lumMod val="10000"/>
                  </a:schemeClr>
                </a:solidFill>
              </a:rPr>
              <a:t>MODELE REKURENCYJNE</a:t>
            </a:r>
          </a:p>
        </p:txBody>
      </p:sp>
      <p:sp>
        <p:nvSpPr>
          <p:cNvPr id="30" name="TextBox 29"/>
          <p:cNvSpPr txBox="1"/>
          <p:nvPr/>
        </p:nvSpPr>
        <p:spPr>
          <a:xfrm>
            <a:off x="4800600" y="3566160"/>
            <a:ext cx="6291072" cy="777240"/>
          </a:xfrm>
          <a:prstGeom prst="rect">
            <a:avLst/>
          </a:prstGeom>
          <a:noFill/>
        </p:spPr>
        <p:txBody>
          <a:bodyPr wrap="square" anchor="t">
            <a:noAutofit/>
          </a:bodyPr>
          <a:lstStyle/>
          <a:p>
            <a:pPr algn="l">
              <a:spcBef>
                <a:spcPts val="0"/>
              </a:spcBef>
            </a:pPr>
            <a:r>
              <a:rPr sz="1600" b="0">
                <a:solidFill>
                  <a:schemeClr val="bg2">
                    <a:lumMod val="10000"/>
                  </a:schemeClr>
                </a:solidFill>
              </a:rPr>
              <a:t>Otwarte dowody ich przewagi w wykrywaniu powolnych ataków HTTP są nieliczne.</a:t>
            </a:r>
          </a:p>
        </p:txBody>
      </p:sp>
      <p:sp>
        <p:nvSpPr>
          <p:cNvPr id="31" name="TextBox 30"/>
          <p:cNvSpPr txBox="1"/>
          <p:nvPr/>
        </p:nvSpPr>
        <p:spPr>
          <a:xfrm>
            <a:off x="1051560" y="4325112"/>
            <a:ext cx="548640" cy="731520"/>
          </a:xfrm>
          <a:prstGeom prst="rect">
            <a:avLst/>
          </a:prstGeom>
          <a:noFill/>
        </p:spPr>
        <p:txBody>
          <a:bodyPr wrap="square" anchor="t">
            <a:noAutofit/>
          </a:bodyPr>
          <a:lstStyle/>
          <a:p>
            <a:pPr algn="l">
              <a:spcBef>
                <a:spcPts val="0"/>
              </a:spcBef>
            </a:pPr>
            <a:r>
              <a:rPr sz="3600" b="0">
                <a:solidFill>
                  <a:schemeClr val="tx2"/>
                </a:solidFill>
                <a:latin typeface="Source Sans Pro Light"/>
              </a:rPr>
              <a:t>4</a:t>
            </a:r>
          </a:p>
        </p:txBody>
      </p:sp>
      <p:sp>
        <p:nvSpPr>
          <p:cNvPr id="32" name="TextBox 31"/>
          <p:cNvSpPr txBox="1"/>
          <p:nvPr/>
        </p:nvSpPr>
        <p:spPr>
          <a:xfrm>
            <a:off x="1645919" y="4434840"/>
            <a:ext cx="3108960" cy="457200"/>
          </a:xfrm>
          <a:prstGeom prst="rect">
            <a:avLst/>
          </a:prstGeom>
          <a:noFill/>
        </p:spPr>
        <p:txBody>
          <a:bodyPr wrap="square" anchor="t">
            <a:noAutofit/>
          </a:bodyPr>
          <a:lstStyle/>
          <a:p>
            <a:pPr algn="l">
              <a:spcBef>
                <a:spcPts val="0"/>
              </a:spcBef>
            </a:pPr>
            <a:r>
              <a:rPr sz="1800" b="0">
                <a:solidFill>
                  <a:schemeClr val="bg2">
                    <a:lumMod val="10000"/>
                  </a:schemeClr>
                </a:solidFill>
              </a:rPr>
              <a:t>EWALUACJA</a:t>
            </a:r>
          </a:p>
        </p:txBody>
      </p:sp>
      <p:sp>
        <p:nvSpPr>
          <p:cNvPr id="33" name="TextBox 32"/>
          <p:cNvSpPr txBox="1"/>
          <p:nvPr/>
        </p:nvSpPr>
        <p:spPr>
          <a:xfrm>
            <a:off x="4800600" y="4434840"/>
            <a:ext cx="6291072" cy="777240"/>
          </a:xfrm>
          <a:prstGeom prst="rect">
            <a:avLst/>
          </a:prstGeom>
          <a:noFill/>
        </p:spPr>
        <p:txBody>
          <a:bodyPr wrap="square" anchor="t">
            <a:noAutofit/>
          </a:bodyPr>
          <a:lstStyle/>
          <a:p>
            <a:pPr algn="l">
              <a:spcBef>
                <a:spcPts val="0"/>
              </a:spcBef>
            </a:pPr>
            <a:r>
              <a:rPr sz="1600" b="0">
                <a:solidFill>
                  <a:schemeClr val="bg2">
                    <a:lumMod val="10000"/>
                  </a:schemeClr>
                </a:solidFill>
              </a:rPr>
              <a:t>Proste punkty odniesienia, kontrolowane dane, powtórzenia i testy istotności.</a:t>
            </a:r>
          </a:p>
        </p:txBody>
      </p:sp>
      <p:sp>
        <p:nvSpPr>
          <p:cNvPr id="34" name="TextBox 33"/>
          <p:cNvSpPr txBox="1"/>
          <p:nvPr/>
        </p:nvSpPr>
        <p:spPr>
          <a:xfrm>
            <a:off x="1051560" y="5193792"/>
            <a:ext cx="548640" cy="731520"/>
          </a:xfrm>
          <a:prstGeom prst="rect">
            <a:avLst/>
          </a:prstGeom>
          <a:noFill/>
        </p:spPr>
        <p:txBody>
          <a:bodyPr wrap="square" anchor="t">
            <a:noAutofit/>
          </a:bodyPr>
          <a:lstStyle/>
          <a:p>
            <a:pPr algn="l">
              <a:spcBef>
                <a:spcPts val="0"/>
              </a:spcBef>
            </a:pPr>
            <a:r>
              <a:rPr sz="3600" b="0">
                <a:solidFill>
                  <a:schemeClr val="tx2"/>
                </a:solidFill>
                <a:latin typeface="Source Sans Pro Light"/>
              </a:rPr>
              <a:t>5</a:t>
            </a:r>
          </a:p>
        </p:txBody>
      </p:sp>
      <p:sp>
        <p:nvSpPr>
          <p:cNvPr id="35" name="TextBox 34"/>
          <p:cNvSpPr txBox="1"/>
          <p:nvPr/>
        </p:nvSpPr>
        <p:spPr>
          <a:xfrm>
            <a:off x="1645919" y="5303520"/>
            <a:ext cx="3108960" cy="457200"/>
          </a:xfrm>
          <a:prstGeom prst="rect">
            <a:avLst/>
          </a:prstGeom>
          <a:noFill/>
        </p:spPr>
        <p:txBody>
          <a:bodyPr wrap="square" anchor="t">
            <a:noAutofit/>
          </a:bodyPr>
          <a:lstStyle/>
          <a:p>
            <a:pPr algn="l">
              <a:spcBef>
                <a:spcPts val="0"/>
              </a:spcBef>
            </a:pPr>
            <a:r>
              <a:rPr sz="1800" b="0">
                <a:solidFill>
                  <a:schemeClr val="bg2">
                    <a:lumMod val="10000"/>
                  </a:schemeClr>
                </a:solidFill>
              </a:rPr>
              <a:t>POZYCJONOWANIE PRACY</a:t>
            </a:r>
          </a:p>
        </p:txBody>
      </p:sp>
      <p:sp>
        <p:nvSpPr>
          <p:cNvPr id="36" name="TextBox 35"/>
          <p:cNvSpPr txBox="1"/>
          <p:nvPr/>
        </p:nvSpPr>
        <p:spPr>
          <a:xfrm>
            <a:off x="4800600" y="5303520"/>
            <a:ext cx="6291072" cy="777240"/>
          </a:xfrm>
          <a:prstGeom prst="rect">
            <a:avLst/>
          </a:prstGeom>
          <a:noFill/>
        </p:spPr>
        <p:txBody>
          <a:bodyPr wrap="square" anchor="t">
            <a:noAutofit/>
          </a:bodyPr>
          <a:lstStyle/>
          <a:p>
            <a:pPr algn="l">
              <a:spcBef>
                <a:spcPts val="0"/>
              </a:spcBef>
            </a:pPr>
            <a:r>
              <a:rPr sz="1600" b="0">
                <a:solidFill>
                  <a:schemeClr val="bg2">
                    <a:lumMod val="10000"/>
                  </a:schemeClr>
                </a:solidFill>
              </a:rPr>
              <a:t>XDP + deterministyczne heurystyki + eksperymentalny model GRU oceniany względem reguł.</a:t>
            </a:r>
          </a:p>
        </p:txBody>
      </p:sp>
      <p:sp>
        <p:nvSpPr>
          <p:cNvPr id="37" name="Źródła"/>
          <p:cNvSpPr txBox="1"/>
          <p:nvPr/>
        </p:nvSpPr>
        <p:spPr>
          <a:xfrm>
            <a:off x="1097280" y="6272784"/>
            <a:ext cx="9994392" cy="329184"/>
          </a:xfrm>
          <a:prstGeom prst="rect">
            <a:avLst/>
          </a:prstGeom>
          <a:noFill/>
        </p:spPr>
        <p:txBody>
          <a:bodyPr wrap="square" anchor="t">
            <a:noAutofit/>
          </a:bodyPr>
          <a:lstStyle/>
          <a:p>
            <a:pPr algn="l">
              <a:spcBef>
                <a:spcPts val="0"/>
              </a:spcBef>
            </a:pPr>
            <a:r>
              <a:rPr sz="1100" b="0">
                <a:solidFill>
                  <a:schemeClr val="bg2">
                    <a:lumMod val="50000"/>
                  </a:schemeClr>
                </a:solidFill>
              </a:rPr>
              <a:t>Źródło: rozdział 4 pracy (wnioski z przeglądu stanu wiedzy)</a:t>
            </a:r>
          </a:p>
        </p:txBody>
      </p:sp>
    </p:spTree>
    <p:extLst>
      <p:ext uri="{BB962C8B-B14F-4D97-AF65-F5344CB8AC3E}">
        <p14:creationId xmlns:p14="http://schemas.microsoft.com/office/powerpoint/2010/main" val="29785648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rostokąt 4">
            <a:extLst>
              <a:ext uri="{FF2B5EF4-FFF2-40B4-BE49-F238E27FC236}">
                <a16:creationId xmlns:a16="http://schemas.microsoft.com/office/drawing/2014/main" id="{7CA99EC4-3C2E-53F3-55A5-01E21A2FCB45}"/>
              </a:ext>
            </a:extLst>
          </p:cNvPr>
          <p:cNvSpPr>
            <a:spLocks noGrp="1" noRot="1" noMove="1" noResize="1" noEditPoints="1" noAdjustHandles="1" noChangeArrowheads="1" noChangeShapeType="1"/>
          </p:cNvSpPr>
          <p:nvPr/>
        </p:nvSpPr>
        <p:spPr>
          <a:xfrm>
            <a:off x="0" y="0"/>
            <a:ext cx="12192000" cy="804672"/>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0" name="pole tekstowe 19">
            <a:extLst>
              <a:ext uri="{FF2B5EF4-FFF2-40B4-BE49-F238E27FC236}">
                <a16:creationId xmlns:a16="http://schemas.microsoft.com/office/drawing/2014/main" id="{DA7C4B59-9B8D-C16D-1201-5FC12125EDF7}"/>
              </a:ext>
            </a:extLst>
          </p:cNvPr>
          <p:cNvSpPr txBox="1">
            <a:spLocks noGrp="1" noRot="1" noMove="1" noResize="1" noEditPoints="1" noAdjustHandles="1" noChangeArrowheads="1" noChangeShapeType="1"/>
          </p:cNvSpPr>
          <p:nvPr/>
        </p:nvSpPr>
        <p:spPr>
          <a:xfrm>
            <a:off x="2629588" y="160326"/>
            <a:ext cx="8229600" cy="400110"/>
          </a:xfrm>
          <a:prstGeom prst="rect">
            <a:avLst/>
          </a:prstGeom>
          <a:noFill/>
        </p:spPr>
        <p:txBody>
          <a:bodyPr wrap="square" rtlCol="0">
            <a:spAutoFit/>
          </a:bodyPr>
          <a:lstStyle/>
          <a:p>
            <a:r>
              <a:rPr lang="pl-PL" sz="2000" dirty="0">
                <a:solidFill>
                  <a:schemeClr val="bg1"/>
                </a:solidFill>
                <a:latin typeface="Source Sans Pro Light" panose="020B0403030403020204" pitchFamily="34" charset="0"/>
              </a:rPr>
              <a:t>Obrona przed atakami DDoS — przegląd stanu wiedzy</a:t>
            </a:r>
          </a:p>
        </p:txBody>
      </p:sp>
      <p:pic>
        <p:nvPicPr>
          <p:cNvPr id="4" name="Obraz 3" descr="Obraz zawierający linia, design, sztuka, czarne i białe&#10;&#10;Opis wygenerowany automatycznie">
            <a:extLst>
              <a:ext uri="{FF2B5EF4-FFF2-40B4-BE49-F238E27FC236}">
                <a16:creationId xmlns:a16="http://schemas.microsoft.com/office/drawing/2014/main" id="{FB556C9B-EF3C-CE33-30D5-4FF03A12E4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2866" y="25052"/>
            <a:ext cx="739156" cy="745299"/>
          </a:xfrm>
          <a:prstGeom prst="rect">
            <a:avLst/>
          </a:prstGeom>
        </p:spPr>
      </p:pic>
      <p:sp>
        <p:nvSpPr>
          <p:cNvPr id="21" name="Tytuł 21"/>
          <p:cNvSpPr>
            <a:spLocks noGrp="1"/>
          </p:cNvSpPr>
          <p:nvPr>
            <p:ph type="title"/>
          </p:nvPr>
        </p:nvSpPr>
        <p:spPr>
          <a:xfrm>
            <a:off x="1097280" y="987552"/>
            <a:ext cx="9994392" cy="777240"/>
          </a:xfrm>
        </p:spPr>
        <p:txBody>
          <a:bodyPr vert="horz" wrap="square" lIns="91440" tIns="45720" rIns="91440" bIns="45720" anchor="t">
            <a:noAutofit/>
          </a:bodyPr>
          <a:lstStyle/>
          <a:p>
            <a:r>
              <a:rPr lang="pl-PL" sz="3600" dirty="0">
                <a:solidFill>
                  <a:schemeClr val="bg2">
                    <a:lumMod val="10000"/>
                  </a:schemeClr>
                </a:solidFill>
                <a:latin typeface="Source Sans Pro Light" panose="020B0403030403020204" pitchFamily="34" charset="0"/>
              </a:rPr>
              <a:t>Literatura (wybór)</a:t>
            </a:r>
          </a:p>
        </p:txBody>
      </p:sp>
      <p:sp>
        <p:nvSpPr>
          <p:cNvPr id="22" name="TextBox 21"/>
          <p:cNvSpPr txBox="1"/>
          <p:nvPr/>
        </p:nvSpPr>
        <p:spPr>
          <a:xfrm>
            <a:off x="1097280" y="1828800"/>
            <a:ext cx="4892040" cy="4389120"/>
          </a:xfrm>
          <a:prstGeom prst="rect">
            <a:avLst/>
          </a:prstGeom>
          <a:noFill/>
        </p:spPr>
        <p:txBody>
          <a:bodyPr wrap="square" anchor="t">
            <a:noAutofit/>
          </a:bodyPr>
          <a:lstStyle/>
          <a:p>
            <a:pPr algn="l">
              <a:spcBef>
                <a:spcPts val="0"/>
              </a:spcBef>
            </a:pPr>
            <a:r>
              <a:rPr sz="1400" b="0">
                <a:solidFill>
                  <a:schemeClr val="bg2">
                    <a:lumMod val="10000"/>
                  </a:schemeClr>
                </a:solidFill>
              </a:rPr>
              <a:t>[1] R. Hiesgen i in., The Age of DDoScovery…, IMC 2024.</a:t>
            </a:r>
          </a:p>
          <a:p>
            <a:pPr algn="l">
              <a:spcBef>
                <a:spcPts val="600"/>
              </a:spcBef>
            </a:pPr>
            <a:r>
              <a:rPr sz="1400" b="0">
                <a:solidFill>
                  <a:schemeClr val="bg2">
                    <a:lumMod val="10000"/>
                  </a:schemeClr>
                </a:solidFill>
              </a:rPr>
              <a:t>[3] M. Nawrocki i in., The Far Side of DNS Amplification…, IMC 2021.</a:t>
            </a:r>
          </a:p>
          <a:p>
            <a:pPr algn="l">
              <a:spcBef>
                <a:spcPts val="600"/>
              </a:spcBef>
            </a:pPr>
            <a:r>
              <a:rPr sz="1400" b="0">
                <a:solidFill>
                  <a:schemeClr val="bg2">
                    <a:lumMod val="10000"/>
                  </a:schemeClr>
                </a:solidFill>
              </a:rPr>
              <a:t>[4] K. Bock i in., Weaponizing Middleboxes for TCP Reflected Amplification, USENIX Security 2021.</a:t>
            </a:r>
          </a:p>
          <a:p>
            <a:pPr algn="l">
              <a:spcBef>
                <a:spcPts val="600"/>
              </a:spcBef>
            </a:pPr>
            <a:r>
              <a:rPr sz="1400" b="0">
                <a:solidFill>
                  <a:schemeClr val="bg2">
                    <a:lumMod val="10000"/>
                  </a:schemeClr>
                </a:solidFill>
              </a:rPr>
              <a:t>[8] M. Sikora i in., Generator of Slow Denial-of-Service Cyber Attacks, Sensors, 2021.</a:t>
            </a:r>
          </a:p>
          <a:p>
            <a:pPr algn="l">
              <a:spcBef>
                <a:spcPts val="600"/>
              </a:spcBef>
            </a:pPr>
            <a:r>
              <a:rPr sz="1400" b="0">
                <a:solidFill>
                  <a:schemeClr val="bg2">
                    <a:lumMod val="10000"/>
                  </a:schemeClr>
                </a:solidFill>
              </a:rPr>
              <a:t>[9] S. Sood, N. Hubballi, SlowTrack…, J. Supercomputing, 2024.</a:t>
            </a:r>
          </a:p>
          <a:p>
            <a:pPr algn="l">
              <a:spcBef>
                <a:spcPts val="600"/>
              </a:spcBef>
            </a:pPr>
            <a:r>
              <a:rPr sz="1400" b="0">
                <a:solidFill>
                  <a:schemeClr val="bg2">
                    <a:lumMod val="10000"/>
                  </a:schemeClr>
                </a:solidFill>
              </a:rPr>
              <a:t>[10] N. Tripathi, Delays Have Dangerous Ends…, IEEE TDSC, 2024.</a:t>
            </a:r>
          </a:p>
          <a:p>
            <a:pPr algn="l">
              <a:spcBef>
                <a:spcPts val="600"/>
              </a:spcBef>
            </a:pPr>
            <a:r>
              <a:rPr sz="1400" b="0">
                <a:solidFill>
                  <a:schemeClr val="bg2">
                    <a:lumMod val="10000"/>
                  </a:schemeClr>
                </a:solidFill>
              </a:rPr>
              <a:t>[37] A. Feraudo i in., Mitigating IoT Botnet DDoS Attacks through MUD and eBPF…, ICDCN 2024.</a:t>
            </a:r>
          </a:p>
          <a:p>
            <a:pPr algn="l">
              <a:spcBef>
                <a:spcPts val="600"/>
              </a:spcBef>
            </a:pPr>
            <a:r>
              <a:rPr sz="1400" b="0">
                <a:solidFill>
                  <a:schemeClr val="bg2">
                    <a:lumMod val="10000"/>
                  </a:schemeClr>
                </a:solidFill>
              </a:rPr>
              <a:t>[39] D. Scholz i in., Performance Implications of Packet Filtering with Linux eBPF, ITC 30, 2018.</a:t>
            </a:r>
          </a:p>
        </p:txBody>
      </p:sp>
      <p:sp>
        <p:nvSpPr>
          <p:cNvPr id="23" name="TextBox 22"/>
          <p:cNvSpPr txBox="1"/>
          <p:nvPr/>
        </p:nvSpPr>
        <p:spPr>
          <a:xfrm>
            <a:off x="6199632" y="1828800"/>
            <a:ext cx="4892040" cy="4389120"/>
          </a:xfrm>
          <a:prstGeom prst="rect">
            <a:avLst/>
          </a:prstGeom>
          <a:noFill/>
        </p:spPr>
        <p:txBody>
          <a:bodyPr wrap="square" anchor="t">
            <a:noAutofit/>
          </a:bodyPr>
          <a:lstStyle/>
          <a:p>
            <a:pPr algn="l">
              <a:spcBef>
                <a:spcPts val="0"/>
              </a:spcBef>
            </a:pPr>
            <a:r>
              <a:rPr sz="1400" b="0">
                <a:solidFill>
                  <a:schemeClr val="bg2">
                    <a:lumMod val="10000"/>
                  </a:schemeClr>
                </a:solidFill>
              </a:rPr>
              <a:t>[40] S. Kostopoulos i in., eBPF-Based Cybersecurity Mechanisms: A Systematic Literature Review, IJIS, 2026.</a:t>
            </a:r>
          </a:p>
          <a:p>
            <a:pPr algn="l">
              <a:spcBef>
                <a:spcPts val="600"/>
              </a:spcBef>
            </a:pPr>
            <a:r>
              <a:rPr sz="1400" b="0">
                <a:solidFill>
                  <a:schemeClr val="bg2">
                    <a:lumMod val="10000"/>
                  </a:schemeClr>
                </a:solidFill>
              </a:rPr>
              <a:t>[43] O. Karrakchou i in., Collaborative P4-SDN DDoS Detection and Mitigation…, GLOBECOM 2025.</a:t>
            </a:r>
          </a:p>
          <a:p>
            <a:pPr algn="l">
              <a:spcBef>
                <a:spcPts val="600"/>
              </a:spcBef>
            </a:pPr>
            <a:r>
              <a:rPr sz="1400" b="0">
                <a:solidFill>
                  <a:schemeClr val="bg2">
                    <a:lumMod val="10000"/>
                  </a:schemeClr>
                </a:solidFill>
              </a:rPr>
              <a:t>[44] P. Goldschmidt, D. Chudá, Network Intrusion Datasets…, Computers &amp; Security, 2025.</a:t>
            </a:r>
          </a:p>
          <a:p>
            <a:pPr algn="l">
              <a:spcBef>
                <a:spcPts val="600"/>
              </a:spcBef>
            </a:pPr>
            <a:r>
              <a:rPr sz="1400" b="0">
                <a:solidFill>
                  <a:schemeClr val="bg2">
                    <a:lumMod val="10000"/>
                  </a:schemeClr>
                </a:solidFill>
              </a:rPr>
              <a:t>[45] M. Cantone i in., ML in Network Intrusion Detection: A Cross-Dataset Generalization Study, IEEE Access, 2024.</a:t>
            </a:r>
          </a:p>
          <a:p>
            <a:pPr algn="l">
              <a:spcBef>
                <a:spcPts val="600"/>
              </a:spcBef>
            </a:pPr>
            <a:r>
              <a:rPr sz="1400" b="0">
                <a:solidFill>
                  <a:schemeClr val="bg2">
                    <a:lumMod val="10000"/>
                  </a:schemeClr>
                </a:solidFill>
              </a:rPr>
              <a:t>[46] J. G. Almaraz-Rivera i in., Transport and Application Layer DDoS Attacks Detection…, Sensors, 2022.</a:t>
            </a:r>
          </a:p>
          <a:p>
            <a:pPr algn="l">
              <a:spcBef>
                <a:spcPts val="600"/>
              </a:spcBef>
            </a:pPr>
            <a:r>
              <a:rPr sz="1400" b="0">
                <a:solidFill>
                  <a:schemeClr val="bg2">
                    <a:lumMod val="10000"/>
                  </a:schemeClr>
                </a:solidFill>
              </a:rPr>
              <a:t>[50] R. Doriguzzi-Corin i in., LUCID…, IEEE TNSM, 2020.</a:t>
            </a:r>
          </a:p>
          <a:p>
            <a:pPr algn="l">
              <a:spcBef>
                <a:spcPts val="600"/>
              </a:spcBef>
            </a:pPr>
            <a:r>
              <a:rPr sz="1400" b="0">
                <a:solidFill>
                  <a:schemeClr val="bg2">
                    <a:lumMod val="10000"/>
                  </a:schemeClr>
                </a:solidFill>
              </a:rPr>
              <a:t>[51] D. Arp i in., Dos and Don'ts of Machine Learning in Computer Security, USENIX Security 2022.</a:t>
            </a:r>
          </a:p>
        </p:txBody>
      </p:sp>
      <p:sp>
        <p:nvSpPr>
          <p:cNvPr id="24" name="TextBox 23"/>
          <p:cNvSpPr txBox="1"/>
          <p:nvPr/>
        </p:nvSpPr>
        <p:spPr>
          <a:xfrm>
            <a:off x="1097280" y="6272784"/>
            <a:ext cx="9994392" cy="329184"/>
          </a:xfrm>
          <a:prstGeom prst="rect">
            <a:avLst/>
          </a:prstGeom>
          <a:noFill/>
        </p:spPr>
        <p:txBody>
          <a:bodyPr wrap="square" anchor="t">
            <a:noAutofit/>
          </a:bodyPr>
          <a:lstStyle/>
          <a:p>
            <a:pPr algn="l">
              <a:spcBef>
                <a:spcPts val="0"/>
              </a:spcBef>
            </a:pPr>
            <a:r>
              <a:rPr sz="1100" b="0">
                <a:solidFill>
                  <a:schemeClr val="bg2">
                    <a:lumMod val="50000"/>
                  </a:schemeClr>
                </a:solidFill>
              </a:rPr>
              <a:t>Pełna bibliografia (53 pozycje) w pracy; numeracja zgodna z pracą.</a:t>
            </a:r>
          </a:p>
        </p:txBody>
      </p:sp>
    </p:spTree>
    <p:extLst>
      <p:ext uri="{BB962C8B-B14F-4D97-AF65-F5344CB8AC3E}">
        <p14:creationId xmlns:p14="http://schemas.microsoft.com/office/powerpoint/2010/main" val="29785648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7" name="pole tekstowe 6">
            <a:extLst>
              <a:ext uri="{FF2B5EF4-FFF2-40B4-BE49-F238E27FC236}">
                <a16:creationId xmlns:a16="http://schemas.microsoft.com/office/drawing/2014/main" id="{0CBC331D-8069-B1C8-0B2C-BC64036C1009}"/>
              </a:ext>
            </a:extLst>
          </p:cNvPr>
          <p:cNvSpPr txBox="1"/>
          <p:nvPr/>
        </p:nvSpPr>
        <p:spPr>
          <a:xfrm>
            <a:off x="6195330" y="2083090"/>
            <a:ext cx="5699343" cy="1938992"/>
          </a:xfrm>
          <a:prstGeom prst="rect">
            <a:avLst/>
          </a:prstGeom>
          <a:noFill/>
        </p:spPr>
        <p:txBody>
          <a:bodyPr wrap="square" rtlCol="0">
            <a:spAutoFit/>
          </a:bodyPr>
          <a:lstStyle/>
          <a:p>
            <a:r>
              <a:rPr lang="pl-PL" sz="6000" dirty="0">
                <a:solidFill>
                  <a:schemeClr val="bg1"/>
                </a:solidFill>
                <a:latin typeface="Source Sans Pro Light" panose="020B0403030403020204" pitchFamily="34" charset="0"/>
              </a:rPr>
              <a:t>Dziękuję</a:t>
            </a:r>
          </a:p>
          <a:p>
            <a:r>
              <a:rPr lang="pl-PL" sz="6000" dirty="0">
                <a:solidFill>
                  <a:schemeClr val="bg1"/>
                </a:solidFill>
                <a:latin typeface="Source Sans Pro Light" panose="020B0403030403020204" pitchFamily="34" charset="0"/>
              </a:rPr>
              <a:t>za uwagę</a:t>
            </a:r>
          </a:p>
        </p:txBody>
      </p:sp>
      <p:sp>
        <p:nvSpPr>
          <p:cNvPr id="8" name="pole tekstowe 7">
            <a:extLst>
              <a:ext uri="{FF2B5EF4-FFF2-40B4-BE49-F238E27FC236}">
                <a16:creationId xmlns:a16="http://schemas.microsoft.com/office/drawing/2014/main" id="{B6F5D76B-1818-C235-38F9-3C9C21303C79}"/>
              </a:ext>
            </a:extLst>
          </p:cNvPr>
          <p:cNvSpPr txBox="1"/>
          <p:nvPr/>
        </p:nvSpPr>
        <p:spPr>
          <a:xfrm>
            <a:off x="6195330" y="4225230"/>
            <a:ext cx="5699343" cy="400110"/>
          </a:xfrm>
          <a:prstGeom prst="rect">
            <a:avLst/>
          </a:prstGeom>
          <a:noFill/>
        </p:spPr>
        <p:txBody>
          <a:bodyPr wrap="square" rtlCol="0">
            <a:spAutoFit/>
          </a:bodyPr>
          <a:lstStyle/>
          <a:p>
            <a:r>
              <a:rPr lang="pl-PL" sz="2000" dirty="0">
                <a:solidFill>
                  <a:schemeClr val="bg1"/>
                </a:solidFill>
                <a:latin typeface="Source Sans Pro Light" panose="020B0403030403020204" pitchFamily="34" charset="0"/>
              </a:rPr>
              <a:t>Pytania i dyskusja · Artur Brogowicz</a:t>
            </a:r>
          </a:p>
        </p:txBody>
      </p:sp>
      <p:pic>
        <p:nvPicPr>
          <p:cNvPr id="4" name="Obraz 3" descr="Obraz zawierający linia, design, sztuka, czarne i białe&#10;&#10;Opis wygenerowany automatycznie">
            <a:extLst>
              <a:ext uri="{FF2B5EF4-FFF2-40B4-BE49-F238E27FC236}">
                <a16:creationId xmlns:a16="http://schemas.microsoft.com/office/drawing/2014/main" id="{583295B8-9380-5D37-9FB1-07A1D24A2108}"/>
              </a:ext>
            </a:extLst>
          </p:cNvPr>
          <p:cNvPicPr>
            <a:picLocks noChangeAspect="1"/>
          </p:cNvPicPr>
          <p:nvPr/>
        </p:nvPicPr>
        <p:blipFill>
          <a:blip r:embed="rId2">
            <a:alphaModFix amt="50000"/>
            <a:extLst>
              <a:ext uri="{28A0092B-C50C-407E-A947-70E740481C1C}">
                <a14:useLocalDpi xmlns:a14="http://schemas.microsoft.com/office/drawing/2010/main" val="0"/>
              </a:ext>
            </a:extLst>
          </a:blip>
          <a:stretch>
            <a:fillRect/>
          </a:stretch>
        </p:blipFill>
        <p:spPr>
          <a:xfrm>
            <a:off x="-1125177" y="-645091"/>
            <a:ext cx="6801478" cy="6858000"/>
          </a:xfrm>
          <a:prstGeom prst="rect">
            <a:avLst/>
          </a:prstGeom>
        </p:spPr>
      </p:pic>
    </p:spTree>
    <p:extLst>
      <p:ext uri="{BB962C8B-B14F-4D97-AF65-F5344CB8AC3E}">
        <p14:creationId xmlns:p14="http://schemas.microsoft.com/office/powerpoint/2010/main" val="646872128"/>
      </p:ext>
    </p:extLst>
  </p:cSld>
  <p:clrMapOvr>
    <a:masterClrMapping/>
  </p:clrMapOvr>
</p:sld>
</file>

<file path=ppt/theme/theme1.xml><?xml version="1.0" encoding="utf-8"?>
<a:theme xmlns:a="http://schemas.openxmlformats.org/drawingml/2006/main" name="1_Motyw pakietu Office">
  <a:themeElements>
    <a:clrScheme name="Politechnika Warszawska">
      <a:dk1>
        <a:srgbClr val="006872"/>
      </a:dk1>
      <a:lt1>
        <a:sysClr val="window" lastClr="FFFFFF"/>
      </a:lt1>
      <a:dk2>
        <a:srgbClr val="004A6C"/>
      </a:dk2>
      <a:lt2>
        <a:srgbClr val="E7E6E6"/>
      </a:lt2>
      <a:accent1>
        <a:srgbClr val="3466AF"/>
      </a:accent1>
      <a:accent2>
        <a:srgbClr val="E7A217"/>
      </a:accent2>
      <a:accent3>
        <a:srgbClr val="C8C1B6"/>
      </a:accent3>
      <a:accent4>
        <a:srgbClr val="E63312"/>
      </a:accent4>
      <a:accent5>
        <a:srgbClr val="9A0F06"/>
      </a:accent5>
      <a:accent6>
        <a:srgbClr val="C0D1C8"/>
      </a:accent6>
      <a:hlink>
        <a:srgbClr val="007C91"/>
      </a:hlink>
      <a:folHlink>
        <a:srgbClr val="5E3156"/>
      </a:folHlink>
    </a:clrScheme>
    <a:fontScheme name="Source Sans Pro">
      <a:majorFont>
        <a:latin typeface="Source Sans Pro"/>
        <a:ea typeface=""/>
        <a:cs typeface=""/>
      </a:majorFont>
      <a:minorFont>
        <a:latin typeface="Source Sans Pro"/>
        <a:ea typeface=""/>
        <a:cs typeface=""/>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D433BC6C01777A4AB5EF237D0280CC5E" ma:contentTypeVersion="0" ma:contentTypeDescription="Utwórz nowy dokument." ma:contentTypeScope="" ma:versionID="c12dd950a81017cde412b19340f7c7e8">
  <xsd:schema xmlns:xsd="http://www.w3.org/2001/XMLSchema" xmlns:xs="http://www.w3.org/2001/XMLSchema" xmlns:p="http://schemas.microsoft.com/office/2006/metadata/properties" targetNamespace="http://schemas.microsoft.com/office/2006/metadata/properties" ma:root="true" ma:fieldsID="c599c7a2fdca1aa3d726ea022ee4c6c3">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zawartości"/>
        <xsd:element ref="dc:title" minOccurs="0" maxOccurs="1" ma:index="4" ma:displayName="Tytuł"/>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0BFD26B-195B-4D9D-83F8-EF9EF218BBFC}">
  <ds:schemaRefs>
    <ds:schemaRef ds:uri="http://schemas.microsoft.com/office/2006/metadata/properties"/>
    <ds:schemaRef ds:uri="http://schemas.microsoft.com/office/infopath/2007/PartnerControls"/>
    <ds:schemaRef ds:uri="d8301284-0e13-42aa-bfb2-849dd2e9fdd8"/>
    <ds:schemaRef ds:uri="fca3fa48-ee18-4258-80e9-c2e987ae0fe6"/>
  </ds:schemaRefs>
</ds:datastoreItem>
</file>

<file path=customXml/itemProps2.xml><?xml version="1.0" encoding="utf-8"?>
<ds:datastoreItem xmlns:ds="http://schemas.openxmlformats.org/officeDocument/2006/customXml" ds:itemID="{CBCBC8EA-63F3-4205-919F-16FCAE96D229}"/>
</file>

<file path=customXml/itemProps3.xml><?xml version="1.0" encoding="utf-8"?>
<ds:datastoreItem xmlns:ds="http://schemas.openxmlformats.org/officeDocument/2006/customXml" ds:itemID="{C7D30935-1AC9-4C6E-A060-D39FB7C4DD3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621</TotalTime>
  <Words>305</Words>
  <Application>Microsoft Office PowerPoint</Application>
  <PresentationFormat>Panoramiczny</PresentationFormat>
  <Paragraphs>35</Paragraphs>
  <Slides>6</Slides>
  <Notes>0</Notes>
  <HiddenSlides>0</HiddenSlides>
  <MMClips>0</MMClips>
  <ScaleCrop>false</ScaleCrop>
  <HeadingPairs>
    <vt:vector size="6" baseType="variant">
      <vt:variant>
        <vt:lpstr>Używane czcionki</vt:lpstr>
      </vt:variant>
      <vt:variant>
        <vt:i4>3</vt:i4>
      </vt:variant>
      <vt:variant>
        <vt:lpstr>Motyw</vt:lpstr>
      </vt:variant>
      <vt:variant>
        <vt:i4>1</vt:i4>
      </vt:variant>
      <vt:variant>
        <vt:lpstr>Tytuły slajdów</vt:lpstr>
      </vt:variant>
      <vt:variant>
        <vt:i4>6</vt:i4>
      </vt:variant>
    </vt:vector>
  </HeadingPairs>
  <TitlesOfParts>
    <vt:vector size="10" baseType="lpstr">
      <vt:lpstr>Arial</vt:lpstr>
      <vt:lpstr>Source Sans Pro</vt:lpstr>
      <vt:lpstr>Source Sans Pro Light</vt:lpstr>
      <vt:lpstr>1_Motyw pakietu Office</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Prezentacja programu PowerPoint</dc:title>
  <dc:creator>Majchrzyk Monika</dc:creator>
  <cp:lastModifiedBy>Majchrzyk Monika</cp:lastModifiedBy>
  <cp:revision>1</cp:revision>
  <dcterms:created xsi:type="dcterms:W3CDTF">2023-03-17T09:04:36Z</dcterms:created>
  <dcterms:modified xsi:type="dcterms:W3CDTF">2023-06-19T10:43:34Z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0x010100D433BC6C01777A4AB5EF237D0280CC5E</vt:lpwstr>
  </property>
  <property fmtid="{D5CDD505-2E9C-101B-9397-08002B2CF9AE}" pid="3" name="MediaServiceImageTags">
    <vt:lpwstr/>
  </property>
</Properties>
</file>